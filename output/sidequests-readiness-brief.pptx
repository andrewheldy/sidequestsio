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2662b77d3904b3e" /><Relationship Type="http://schemas.openxmlformats.org/officeDocument/2006/relationships/extended-properties" Target="/docProps/app.xml" Id="R3d490ba081b04352" /><Relationship Type="http://schemas.openxmlformats.org/officeDocument/2006/relationships/officeDocument" Target="/ppt/presentation.xml" Id="Rb101430ff9e041cd" /></Relationships>
</file>

<file path=ppt/presentation.xml><?xml version="1.0" encoding="utf-8"?>
<p:presentation xmlns:p="http://schemas.openxmlformats.org/presentationml/2006/main">
  <p:sldMasterIdLst>
    <p:sldMasterId xmlns:r="http://schemas.openxmlformats.org/officeDocument/2006/relationships" id="2147483648" r:id="Re985ccd92b7e4cfd"/>
  </p:sldMasterIdLst>
  <p:notesMasterIdLst>
    <p:notesMasterId xmlns:r="http://schemas.openxmlformats.org/officeDocument/2006/relationships" r:id="Rbfe78b54d7ff461b"/>
  </p:notesMasterIdLst>
  <p:sldIdLst>
    <p:sldId xmlns:r="http://schemas.openxmlformats.org/officeDocument/2006/relationships" id="256" r:id="R5d32261163b343e1"/>
    <p:sldId xmlns:r="http://schemas.openxmlformats.org/officeDocument/2006/relationships" id="257" r:id="R6110fc37d0224654"/>
    <p:sldId xmlns:r="http://schemas.openxmlformats.org/officeDocument/2006/relationships" id="258" r:id="Re43e778658d146a0"/>
    <p:sldId xmlns:r="http://schemas.openxmlformats.org/officeDocument/2006/relationships" id="259" r:id="Rf2ef53326b0b4efb"/>
    <p:sldId xmlns:r="http://schemas.openxmlformats.org/officeDocument/2006/relationships" id="260" r:id="R781e478d0b2f4b52"/>
    <p:sldId xmlns:r="http://schemas.openxmlformats.org/officeDocument/2006/relationships" id="261" r:id="R119828b4cc6946d1"/>
    <p:sldId xmlns:r="http://schemas.openxmlformats.org/officeDocument/2006/relationships" id="262" r:id="R45e102c4034f4838"/>
    <p:sldId xmlns:r="http://schemas.openxmlformats.org/officeDocument/2006/relationships" id="263" r:id="Raa3154e962504423"/>
    <p:sldId xmlns:r="http://schemas.openxmlformats.org/officeDocument/2006/relationships" id="264" r:id="R824dd3a8abcf455f"/>
    <p:sldId xmlns:r="http://schemas.openxmlformats.org/officeDocument/2006/relationships" id="265" r:id="R119608cbb4cb4875"/>
    <p:sldId xmlns:r="http://schemas.openxmlformats.org/officeDocument/2006/relationships" id="266" r:id="R59bba88e946943f7"/>
    <p:sldId xmlns:r="http://schemas.openxmlformats.org/officeDocument/2006/relationships" id="267" r:id="Raf832c7578b4410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f0bcc5e4ce84178" /><Relationship Type="http://schemas.openxmlformats.org/officeDocument/2006/relationships/slideMaster" Target="/ppt/slideMasters/slideMaster1.xml" Id="Re985ccd92b7e4cfd" /><Relationship Type="http://schemas.openxmlformats.org/officeDocument/2006/relationships/notesMaster" Target="/ppt/notesMasters/notesMaster1.xml" Id="Rbfe78b54d7ff461b" /><Relationship Type="http://schemas.openxmlformats.org/officeDocument/2006/relationships/presProps" Target="/ppt/presProps.xml" Id="R6f306f8c33a74fc8" /><Relationship Type="http://schemas.openxmlformats.org/officeDocument/2006/relationships/tableStyles" Target="/ppt/tableStyles.xml" Id="R5ce3f3cb65e14da5" /><Relationship Type="http://schemas.openxmlformats.org/officeDocument/2006/relationships/slide" Target="/ppt/slides/slide1.xml" Id="R5d32261163b343e1" /><Relationship Type="http://schemas.openxmlformats.org/officeDocument/2006/relationships/slide" Target="/ppt/slides/slide2.xml" Id="R6110fc37d0224654" /><Relationship Type="http://schemas.openxmlformats.org/officeDocument/2006/relationships/slide" Target="/ppt/slides/slide3.xml" Id="Re43e778658d146a0" /><Relationship Type="http://schemas.openxmlformats.org/officeDocument/2006/relationships/slide" Target="/ppt/slides/slide4.xml" Id="Rf2ef53326b0b4efb" /><Relationship Type="http://schemas.openxmlformats.org/officeDocument/2006/relationships/slide" Target="/ppt/slides/slide5.xml" Id="R781e478d0b2f4b52" /><Relationship Type="http://schemas.openxmlformats.org/officeDocument/2006/relationships/slide" Target="/ppt/slides/slide6.xml" Id="R119828b4cc6946d1" /><Relationship Type="http://schemas.openxmlformats.org/officeDocument/2006/relationships/slide" Target="/ppt/slides/slide7.xml" Id="R45e102c4034f4838" /><Relationship Type="http://schemas.openxmlformats.org/officeDocument/2006/relationships/slide" Target="/ppt/slides/slide8.xml" Id="Raa3154e962504423" /><Relationship Type="http://schemas.openxmlformats.org/officeDocument/2006/relationships/slide" Target="/ppt/slides/slide9.xml" Id="R824dd3a8abcf455f" /><Relationship Type="http://schemas.openxmlformats.org/officeDocument/2006/relationships/slide" Target="/ppt/slides/slide10.xml" Id="R119608cbb4cb4875" /><Relationship Type="http://schemas.openxmlformats.org/officeDocument/2006/relationships/slide" Target="/ppt/slides/slide11.xml" Id="R59bba88e946943f7" /><Relationship Type="http://schemas.openxmlformats.org/officeDocument/2006/relationships/slide" Target="/ppt/slides/slide12.xml" Id="Raf832c7578b4410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bb66e9284c1461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Sidequests Readiness">
      <a:dk1>
        <a:srgbClr val="0D1321"/>
      </a:dk1>
      <a:lt1>
        <a:srgbClr val="FFFFFF"/>
      </a:lt1>
      <a:dk2>
        <a:srgbClr val="101827"/>
      </a:dk2>
      <a:lt2>
        <a:srgbClr val="F2E8D5"/>
      </a:lt2>
      <a:accent1>
        <a:srgbClr val="2563EB"/>
      </a:accent1>
      <a:accent2>
        <a:srgbClr val="2E7D5A"/>
      </a:accent2>
      <a:accent3>
        <a:srgbClr val="F2B94B"/>
      </a:accent3>
      <a:accent4>
        <a:srgbClr val="FF6F61"/>
      </a:accent4>
      <a:accent5>
        <a:srgbClr val="7059D9"/>
      </a:accent5>
      <a:accent6>
        <a:srgbClr val="2B9B8E"/>
      </a:accent6>
      <a:hlink>
        <a:srgbClr val="2563EB"/>
      </a:hlink>
      <a:folHlink>
        <a:srgbClr val="7059D9"/>
      </a:folHlink>
    </a:clrScheme>
    <a:fontScheme name="Office">
      <a:majorFont>
        <a:latin typeface="Calibri Light"/>
        <a:ea typeface="Calibri Light"/>
        <a:cs typeface="Calibri Light"/>
      </a:majorFont>
      <a:minorFont>
        <a:latin typeface="Calibri"/>
        <a:ea typeface="Calibri"/>
        <a:cs typeface="Calibri"/>
      </a:minorFont>
    </a:fontScheme>
    <a:fmtScheme name="Sidequests Readines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f10ad3ab49f4bfb" /><Relationship Type="http://schemas.openxmlformats.org/officeDocument/2006/relationships/notesMaster" Target="/ppt/notesMasters/notesMaster1.xml" Id="Re1e35699b7af4e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92b02ea420944051" /><Relationship Type="http://schemas.openxmlformats.org/officeDocument/2006/relationships/notesMaster" Target="/ppt/notesMasters/notesMaster1.xml" Id="Rc1e207d796b647de" /></Relationships>
</file>

<file path=ppt/notesSlides/_rels/notesSlide3.xml.rels>&#65279;<?xml version="1.0" encoding="utf-8"?><Relationships xmlns="http://schemas.openxmlformats.org/package/2006/relationships"><Relationship Type="http://schemas.openxmlformats.org/officeDocument/2006/relationships/slide" Target="/ppt/slides/slide3.xml" Id="Re3220416fa184ab4" /><Relationship Type="http://schemas.openxmlformats.org/officeDocument/2006/relationships/notesMaster" Target="/ppt/notesMasters/notesMaster1.xml" Id="Raf576acdb848458d" /></Relationships>
</file>

<file path=ppt/notesSlides/_rels/notesSlide4.xml.rels>&#65279;<?xml version="1.0" encoding="utf-8"?><Relationships xmlns="http://schemas.openxmlformats.org/package/2006/relationships"><Relationship Type="http://schemas.openxmlformats.org/officeDocument/2006/relationships/slide" Target="/ppt/slides/slide4.xml" Id="R698eadb7a2df4165" /><Relationship Type="http://schemas.openxmlformats.org/officeDocument/2006/relationships/notesMaster" Target="/ppt/notesMasters/notesMaster1.xml" Id="R6cae850c06d94514" /></Relationships>
</file>

<file path=ppt/notesSlides/_rels/notesSlide5.xml.rels>&#65279;<?xml version="1.0" encoding="utf-8"?><Relationships xmlns="http://schemas.openxmlformats.org/package/2006/relationships"><Relationship Type="http://schemas.openxmlformats.org/officeDocument/2006/relationships/slide" Target="/ppt/slides/slide5.xml" Id="R58d924b47cfa4e30" /><Relationship Type="http://schemas.openxmlformats.org/officeDocument/2006/relationships/notesMaster" Target="/ppt/notesMasters/notesMaster1.xml" Id="R7564d0091a3648f9" /></Relationships>
</file>

<file path=ppt/notesSlides/_rels/notesSlide6.xml.rels>&#65279;<?xml version="1.0" encoding="utf-8"?><Relationships xmlns="http://schemas.openxmlformats.org/package/2006/relationships"><Relationship Type="http://schemas.openxmlformats.org/officeDocument/2006/relationships/slide" Target="/ppt/slides/slide6.xml" Id="R72389634b7fb491b" /><Relationship Type="http://schemas.openxmlformats.org/officeDocument/2006/relationships/notesMaster" Target="/ppt/notesMasters/notesMaster1.xml" Id="R6f437265fe2d4406" /></Relationships>
</file>

<file path=ppt/notesSlides/_rels/notesSlide7.xml.rels>&#65279;<?xml version="1.0" encoding="utf-8"?><Relationships xmlns="http://schemas.openxmlformats.org/package/2006/relationships"><Relationship Type="http://schemas.openxmlformats.org/officeDocument/2006/relationships/slide" Target="/ppt/slides/slide7.xml" Id="R84fa54d384e847a2" /><Relationship Type="http://schemas.openxmlformats.org/officeDocument/2006/relationships/notesMaster" Target="/ppt/notesMasters/notesMaster1.xml" Id="R65b60a28430b46e9" /></Relationships>
</file>

<file path=ppt/notesSlides/_rels/notesSlide8.xml.rels>&#65279;<?xml version="1.0" encoding="utf-8"?><Relationships xmlns="http://schemas.openxmlformats.org/package/2006/relationships"><Relationship Type="http://schemas.openxmlformats.org/officeDocument/2006/relationships/slide" Target="/ppt/slides/slide8.xml" Id="R38b5614030654d7b" /><Relationship Type="http://schemas.openxmlformats.org/officeDocument/2006/relationships/notesMaster" Target="/ppt/notesMasters/notesMaster1.xml" Id="R87a778b42ee340b4" /></Relationships>
</file>

<file path=ppt/notesSlides/_rels/notesSlide9.xml.rels>&#65279;<?xml version="1.0" encoding="utf-8"?><Relationships xmlns="http://schemas.openxmlformats.org/package/2006/relationships"><Relationship Type="http://schemas.openxmlformats.org/officeDocument/2006/relationships/slide" Target="/ppt/slides/slide9.xml" Id="R762691512c1742b4" /><Relationship Type="http://schemas.openxmlformats.org/officeDocument/2006/relationships/notesMaster" Target="/ppt/notesMasters/notesMaster1.xml" Id="Re4e81f2196d6413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61005ac424d4d3e" /><Relationship Type="http://schemas.openxmlformats.org/officeDocument/2006/relationships/notesMaster" Target="/ppt/notesMasters/notesMaster1.xml" Id="Rc3a0a8552402468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7ea1690e07a4063" /><Relationship Type="http://schemas.openxmlformats.org/officeDocument/2006/relationships/notesMaster" Target="/ppt/notesMasters/notesMaster1.xml" Id="R7c8515a430024dd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fc9c012404b4407" /><Relationship Type="http://schemas.openxmlformats.org/officeDocument/2006/relationships/notesMaster" Target="/ppt/notesMasters/notesMaster1.xml" Id="R000d772993a54e2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https://github.com/andrewheldy/sidequestsio</a:t>
            </a:r>
          </a:p>
          <a:p xmlns:a="http://schemas.openxmlformats.org/drawingml/2006/main">
            <a:r>
              <a:t>- https://openai.com/</a:t>
            </a:r>
          </a:p>
          <a:p xmlns:a="http://schemas.openxmlformats.org/drawingml/2006/main">
            <a:r>
              <a:t>- Assumption note: Cover uses the user-supplied brand direction and a bespoke generated social card.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https://vercel.com/andrewheldyai-7144s-projects/sidequestsio/9ubZSS4XBxZPb8pdMAq7imns5sgM</a:t>
            </a:r>
          </a:p>
          <a:p xmlns:a="http://schemas.openxmlformats.org/drawingml/2006/main">
            <a:r>
              <a:t>- https://supabase.com/dashboard/project/wvedvngtuzsttpavmgjw</a:t>
            </a:r>
          </a:p>
          <a:p xmlns:a="http://schemas.openxmlformats.org/drawingml/2006/main">
            <a:r>
              <a:t>- https://github.com/andrewheldy/sidequestsio/tree/92711219e5a226d20e620c85831dbd8d925b6847/src</a:t>
            </a:r>
          </a:p>
          <a:p xmlns:a="http://schemas.openxmlformats.org/drawingml/2006/main">
            <a:r>
              <a:t>- Assumption note: Maturity score is an evidence-based audit rubric.</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https://github.com/andrewheldy/sidequestsio/blob/92711219e5a226d20e620c85831dbd8d925b6847/src/App.tsx</a:t>
            </a:r>
          </a:p>
          <a:p xmlns:a="http://schemas.openxmlformats.org/drawingml/2006/main">
            <a:r>
              <a:t>- https://github.com/andrewheldy/sidequestsio/tree/92711219e5a226d20e620c85831dbd8d925b6847/src/lib/db</a:t>
            </a:r>
          </a:p>
          <a:p xmlns:a="http://schemas.openxmlformats.org/drawingml/2006/main">
            <a:r>
              <a:t>- https://github.com/andrewheldy/sidequestsio/tree/92711219e5a226d20e620c85831dbd8d925b6847/supabase/migrations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https://github.com/andrewheldy/sidequestsio/blob/92711219e5a226d20e620c85831dbd8d925b6847/src/App.tsx</a:t>
            </a:r>
          </a:p>
          <a:p xmlns:a="http://schemas.openxmlformats.org/drawingml/2006/main">
            <a:r>
              <a:t>- https://github.com/andrewheldy/sidequestsio/tree/92711219e5a226d20e620c85831dbd8d925b6847/src/pages</a:t>
            </a:r>
          </a:p>
          <a:p xmlns:a="http://schemas.openxmlformats.org/drawingml/2006/main">
            <a:r>
              <a:t>- https://github.com/andrewheldy/sidequestsio/tree/92711219e5a226d20e620c85831dbd8d925b6847/supabase/migrations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https://github.com/andrewheldy/sidequestsio/tree/92711219e5a226d20e620c85831dbd8d925b6847/supabase/migrations</a:t>
            </a:r>
          </a:p>
          <a:p xmlns:a="http://schemas.openxmlformats.org/drawingml/2006/main">
            <a:r>
              <a:t>- https://github.com/andrewheldy/sidequestsio/tree/92711219e5a226d20e620c85831dbd8d925b6847/src/lib/db</a:t>
            </a:r>
          </a:p>
          <a:p xmlns:a="http://schemas.openxmlformats.org/drawingml/2006/main">
            <a:r>
              <a:t>- https://github.com/andrewheldy/sidequestsio/tree/92711219e5a226d20e620c85831dbd8d925b6847/docs</a:t>
            </a:r>
          </a:p>
          <a:p xmlns:a="http://schemas.openxmlformats.org/drawingml/2006/main">
            <a:r>
              <a:t>- Assumption note: Hard quest XP is a product-spec target; current launch data primarily uses easy and medium rewards.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https://github.com/andrewheldy/sidequestsio/tree/92711219e5a226d20e620c85831dbd8d925b6847/src/pages/Onboarding</a:t>
            </a:r>
          </a:p>
          <a:p xmlns:a="http://schemas.openxmlformats.org/drawingml/2006/main">
            <a:r>
              <a:t>- https://github.com/andrewheldy/sidequestsio/blob/92711219e5a226d20e620c85831dbd8d925b6847/src/contexts/AuthContext.tsx</a:t>
            </a:r>
          </a:p>
          <a:p xmlns:a="http://schemas.openxmlformats.org/drawingml/2006/main">
            <a:r>
              <a:t>- https://github.com/andrewheldy/sidequestsio/tree/92711219e5a226d20e620c85831dbd8d925b6847/supabase/migrations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https://github.com/andrewheldy/sidequestsio/tree/92711219e5a226d20e620c85831dbd8d925b6847</a:t>
            </a:r>
          </a:p>
          <a:p xmlns:a="http://schemas.openxmlformats.org/drawingml/2006/main">
            <a:r>
              <a:t>- https://vercel.com/andrewheldyai-7144s-projects/sidequestsio/9ubZSS4XBxZPb8pdMAq7imns5sgM</a:t>
            </a:r>
          </a:p>
          <a:p xmlns:a="http://schemas.openxmlformats.org/drawingml/2006/main">
            <a:r>
              <a:t>- https://supabase.com/dashboard/project/wvedvngtuzsttpavmgjw</a:t>
            </a:r>
          </a:p>
          <a:p xmlns:a="http://schemas.openxmlformats.org/drawingml/2006/main">
            <a:r>
              <a:t>- Assumption note: All maturity scores are analyst rubric values, not product analytics.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https://github.com/andrewheldy/sidequestsio/tree/92711219e5a226d20e620c85831dbd8d925b6847/docs</a:t>
            </a:r>
          </a:p>
          <a:p xmlns:a="http://schemas.openxmlformats.org/drawingml/2006/main">
            <a:r>
              <a:t>- https://github.com/andrewheldy/sidequestsio/tree/92711219e5a226d20e620c85831dbd8d925b6847/data/miami</a:t>
            </a:r>
          </a:p>
          <a:p xmlns:a="http://schemas.openxmlformats.org/drawingml/2006/main">
            <a:r>
              <a:t>- Assumption note: Funnel counts and pilot cohort sizes are planning targets.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https://supabase.com/pricing</a:t>
            </a:r>
          </a:p>
          <a:p xmlns:a="http://schemas.openxmlformats.org/drawingml/2006/main">
            <a:r>
              <a:t>- https://vercel.com/pricing</a:t>
            </a:r>
          </a:p>
          <a:p xmlns:a="http://schemas.openxmlformats.org/drawingml/2006/main">
            <a:r>
              <a:t>- https://www.mapbox.com/pricing</a:t>
            </a:r>
          </a:p>
          <a:p xmlns:a="http://schemas.openxmlformats.org/drawingml/2006/main">
            <a:r>
              <a:t>- https://dos.fl.gov/sunbiz/forms/fees/</a:t>
            </a:r>
          </a:p>
          <a:p xmlns:a="http://schemas.openxmlformats.org/drawingml/2006/main">
            <a:r>
              <a:t>- https://www.irs.gov/businesses/small-businesses-self-employed/get-an-employer-identification-number</a:t>
            </a:r>
          </a:p>
          <a:p xmlns:a="http://schemas.openxmlformats.org/drawingml/2006/main">
            <a:r>
              <a:t>- https://www.uspto.gov/learning-and-resources/fees-and-payment/uspto-fee-schedule</a:t>
            </a:r>
          </a:p>
          <a:p xmlns:a="http://schemas.openxmlformats.org/drawingml/2006/main">
            <a:r>
              <a:t>- Assumption note: Scenario totals are planning ranges, not quotes, and exclude labor/opportunity cost.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https://dos.fl.gov/sunbiz/forms/fees/</a:t>
            </a:r>
          </a:p>
          <a:p xmlns:a="http://schemas.openxmlformats.org/drawingml/2006/main">
            <a:r>
              <a:t>- https://secure.miamidade.gov/internal/calltaker-faq.page?Mduid_faq=faq1619120988953642</a:t>
            </a:r>
          </a:p>
          <a:p xmlns:a="http://schemas.openxmlformats.org/drawingml/2006/main">
            <a:r>
              <a:t>- https://www.ftc.gov/business-guidance/privacy-security/childrens-privacy</a:t>
            </a:r>
          </a:p>
          <a:p xmlns:a="http://schemas.openxmlformats.org/drawingml/2006/main">
            <a:r>
              <a:t>- https://www.ada.gov/resources/web-guidance/</a:t>
            </a:r>
          </a:p>
          <a:p xmlns:a="http://schemas.openxmlformats.org/drawingml/2006/main">
            <a:r>
              <a:t>- https://www.copyright.gov/onlinesp/</a:t>
            </a:r>
          </a:p>
          <a:p xmlns:a="http://schemas.openxmlformats.org/drawingml/2006/main">
            <a:r>
              <a:t>- https://github.com/andrewheldy/sidequestsio/tree/92711219e5a226d20e620c85831dbd8d925b6847/docs/legal</a:t>
            </a:r>
          </a:p>
          <a:p xmlns:a="http://schemas.openxmlformats.org/drawingml/2006/main">
            <a:r>
              <a:t>- Assumption note: Entity recommendation requires confirmation with licensed legal and tax advisers.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https://github.com/andrewheldy/sidequestsio/tree/92711219e5a226d20e620c85831dbd8d925b6847/docs</a:t>
            </a:r>
          </a:p>
          <a:p xmlns:a="http://schemas.openxmlformats.org/drawingml/2006/main">
            <a:r>
              <a:t>- https://github.com/andrewheldy/sidequestsio/tree/92711219e5a226d20e620c85831dbd8d925b6847/scripts</a:t>
            </a:r>
          </a:p>
          <a:p xmlns:a="http://schemas.openxmlformats.org/drawingml/2006/main">
            <a:r>
              <a:t>- Assumption note: Sequence and durations are recommended planning assumptions.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https://github.com/andrewheldy/sidequestsio</a:t>
            </a:r>
          </a:p>
          <a:p xmlns:a="http://schemas.openxmlformats.org/drawingml/2006/main">
            <a:r>
              <a:t>- Assumption note: The decision gate synthesizes audit findings and proposed pilot success criteria.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84f4888202c49d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db196c2a83f4d26" /><Relationship Type="http://schemas.openxmlformats.org/officeDocument/2006/relationships/slideLayout" Target="/ppt/slideLayouts/slideLayout1.xml" Id="R1a90ea1fe9934fb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a90ea1fe9934fb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Sidequests Readiness">
      <a:dk1>
        <a:srgbClr val="0D1321"/>
      </a:dk1>
      <a:lt1>
        <a:srgbClr val="FFFFFF"/>
      </a:lt1>
      <a:dk2>
        <a:srgbClr val="101827"/>
      </a:dk2>
      <a:lt2>
        <a:srgbClr val="F2E8D5"/>
      </a:lt2>
      <a:accent1>
        <a:srgbClr val="2563EB"/>
      </a:accent1>
      <a:accent2>
        <a:srgbClr val="2E7D5A"/>
      </a:accent2>
      <a:accent3>
        <a:srgbClr val="F2B94B"/>
      </a:accent3>
      <a:accent4>
        <a:srgbClr val="FF6F61"/>
      </a:accent4>
      <a:accent5>
        <a:srgbClr val="7059D9"/>
      </a:accent5>
      <a:accent6>
        <a:srgbClr val="2B9B8E"/>
      </a:accent6>
      <a:hlink>
        <a:srgbClr val="2563EB"/>
      </a:hlink>
      <a:folHlink>
        <a:srgbClr val="7059D9"/>
      </a:folHlink>
    </a:clrScheme>
    <a:fontScheme name="Office">
      <a:majorFont>
        <a:latin typeface="Calibri Light"/>
        <a:ea typeface="Calibri Light"/>
        <a:cs typeface="Calibri Light"/>
      </a:majorFont>
      <a:minorFont>
        <a:latin typeface="Calibri"/>
        <a:ea typeface="Calibri"/>
        <a:cs typeface="Calibri"/>
      </a:minorFont>
    </a:fontScheme>
    <a:fmtScheme name="Sidequests Readines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db35f644da840ac" /><Relationship Type="http://schemas.openxmlformats.org/officeDocument/2006/relationships/image" Target="/ppt/media/image.png" Id="R5470e6b025b14516" /><Relationship Type="http://schemas.openxmlformats.org/officeDocument/2006/relationships/notesSlide" Target="/ppt/notesSlides/notesSlide1.xml" Id="Rd354e95156194f9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f32550345f940a5" /><Relationship Type="http://schemas.openxmlformats.org/officeDocument/2006/relationships/notesSlide" Target="/ppt/notesSlides/notesSlide2.xml" Id="Rff72f1e4841e419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d2dce6483c54fda" /><Relationship Type="http://schemas.openxmlformats.org/officeDocument/2006/relationships/notesSlide" Target="/ppt/notesSlides/notesSlide3.xml" Id="R3ae6dbd91396442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2abf4ca03df4fd6" /><Relationship Type="http://schemas.openxmlformats.org/officeDocument/2006/relationships/notesSlide" Target="/ppt/notesSlides/notesSlide4.xml" Id="R1d820cf60b344e3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f3f44f802ed465c" /><Relationship Type="http://schemas.openxmlformats.org/officeDocument/2006/relationships/chart" Target="/ppt/slides/charts/chart1.xml" Id="R44a58ac98bf14bb4" /><Relationship Type="http://schemas.openxmlformats.org/officeDocument/2006/relationships/notesSlide" Target="/ppt/notesSlides/notesSlide5.xml" Id="Re0df60e0b0dc4b4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60d96d8fd81428c" /><Relationship Type="http://schemas.openxmlformats.org/officeDocument/2006/relationships/notesSlide" Target="/ppt/notesSlides/notesSlide6.xml" Id="R4d85fa517fd143b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b17358828124d64" /><Relationship Type="http://schemas.openxmlformats.org/officeDocument/2006/relationships/notesSlide" Target="/ppt/notesSlides/notesSlide7.xml" Id="R831696903472498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1af35acd8044453" /><Relationship Type="http://schemas.openxmlformats.org/officeDocument/2006/relationships/notesSlide" Target="/ppt/notesSlides/notesSlide8.xml" Id="Rf333b454086d4b5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9e81c0086bc4d1f" /><Relationship Type="http://schemas.openxmlformats.org/officeDocument/2006/relationships/notesSlide" Target="/ppt/notesSlides/notesSlide9.xml" Id="R14a61cdf9c7b4a3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8977719537b431e" /><Relationship Type="http://schemas.openxmlformats.org/officeDocument/2006/relationships/notesSlide" Target="/ppt/notesSlides/notesSlide10.xml" Id="Rec2a70ba23c3408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fcf4b0e40874b3a" /><Relationship Type="http://schemas.openxmlformats.org/officeDocument/2006/relationships/notesSlide" Target="/ppt/notesSlides/notesSlide11.xml" Id="Rb2bab5041e41483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0a9ed2553a44a4b" /><Relationship Type="http://schemas.openxmlformats.org/officeDocument/2006/relationships/notesSlide" Target="/ppt/notesSlides/notesSlide12.xml" Id="R3ed1c59c97b54dde" /></Relationships>
</file>

<file path=ppt/slides/charts/chart1.xml><?xml version="1.0" encoding="utf-8"?>
<c:chartSpace xmlns:c="http://schemas.openxmlformats.org/drawingml/2006/chart">
  <c:lang val="en-US"/>
  <c:chart>
    <c:plotArea>
      <c:lineChart>
        <c:grouping val="standard"/>
        <c:ser>
          <c:idx val="0"/>
          <c:order val="0"/>
          <c:tx>
            <c:v>XP threshold</c:v>
          </c:tx>
          <c:spPr>
            <a:ln xmlns:a="http://schemas.openxmlformats.org/drawingml/2006/main" w="38100">
              <a:solidFill>
                <a:srgbClr val="2563EB"/>
              </a:solidFill>
              <a:prstDash val="solid"/>
            </a:ln>
          </c:spPr>
          <c:marker>
            <c:symbol val="circle"/>
            <c:size val="7"/>
            <c:spPr>
              <a:solidFill xmlns:a="http://schemas.openxmlformats.org/drawingml/2006/main">
                <a:srgbClr val="2563EB"/>
              </a:solidFill>
            </c:spPr>
          </c:marker>
          <c:cat>
            <c:strLit>
              <c:ptCount val="10"/>
              <c:pt idx="0">
                <c:v>L1</c:v>
              </c:pt>
              <c:pt idx="1">
                <c:v>L2</c:v>
              </c:pt>
              <c:pt idx="2">
                <c:v>L3</c:v>
              </c:pt>
              <c:pt idx="3">
                <c:v>L4</c:v>
              </c:pt>
              <c:pt idx="4">
                <c:v>L5</c:v>
              </c:pt>
              <c:pt idx="5">
                <c:v>L6</c:v>
              </c:pt>
              <c:pt idx="6">
                <c:v>L7</c:v>
              </c:pt>
              <c:pt idx="7">
                <c:v>L8</c:v>
              </c:pt>
              <c:pt idx="8">
                <c:v>L9</c:v>
              </c:pt>
              <c:pt idx="9">
                <c:v>L10</c:v>
              </c:pt>
            </c:strLit>
          </c:cat>
          <c:val>
            <c:numLit>
              <c:formatCode>#,##0</c:formatCode>
              <c:ptCount val="10"/>
              <c:pt idx="0">
                <c:v>0</c:v>
              </c:pt>
              <c:pt idx="1">
                <c:v>100</c:v>
              </c:pt>
              <c:pt idx="2">
                <c:v>300</c:v>
              </c:pt>
              <c:pt idx="3">
                <c:v>600</c:v>
              </c:pt>
              <c:pt idx="4">
                <c:v>1000</c:v>
              </c:pt>
              <c:pt idx="5">
                <c:v>1500</c:v>
              </c:pt>
              <c:pt idx="6">
                <c:v>2100</c:v>
              </c:pt>
              <c:pt idx="7">
                <c:v>2800</c:v>
              </c:pt>
              <c:pt idx="8">
                <c:v>3600</c:v>
              </c:pt>
              <c:pt idx="9">
                <c:v>4500</c:v>
              </c:pt>
            </c:numLit>
          </c:val>
        </c:ser>
        <c:axId val="48650112"/>
        <c:axId val="48672768"/>
      </c:lineChart>
      <c:catAx>
        <c:axId val="48650112"/>
        <c:scaling>
          <c:orientation val="minMax"/>
        </c:scaling>
        <c:delete val="0"/>
        <c:axPos val="b"/>
        <c:majorGridlines>
          <c:spPr>
            <a:ln xmlns:a="http://schemas.openxmlformats.org/drawingml/2006/main" w="0">
              <a:no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626A78"/>
                </a:solidFill>
              </a:defRPr>
            </a:pPr>
          </a:p>
        </c:txPr>
        <c:crossAx val="48672768"/>
      </c:catAx>
      <c:valAx>
        <c:axId val="48672768"/>
        <c:scaling>
          <c:orientation val="minMax"/>
          <c:max val="5000"/>
          <c:min val="0"/>
        </c:scaling>
        <c:delete val="0"/>
        <c:axPos val="l"/>
        <c:majorGridlines>
          <c:spPr>
            <a:ln xmlns:a="http://schemas.openxmlformats.org/drawingml/2006/main" w="9525">
              <a:solidFill>
                <a:srgbClr val="E7EAF0"/>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626A78"/>
                </a:solidFill>
              </a:defRPr>
            </a:pPr>
          </a:p>
        </c:txPr>
        <c:crossAx val="48650112"/>
        <c:crossBetween val="between"/>
        <c:majorUnit val="1000"/>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slide1.xml><?xml version="1.0" encoding="utf-8"?>
<p:sld xmlns:p="http://schemas.openxmlformats.org/presentationml/2006/main">
  <p:cSld>
    <p:bg>
      <p:bgPr>
        <a:solidFill xmlns:a="http://schemas.openxmlformats.org/drawingml/2006/main">
          <a:srgbClr val="0D1321"/>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5470e6b025b14516"/>
          <a:srcRect xmlns:a="http://schemas.openxmlformats.org/drawingml/2006/main" l="3322" t="0" r="3322"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4EFC945-E171-4D2F-BB16-0D09A4E6016B}"/>
              </a:ext>
            </a:extLst>
          </p:cNvPr>
          <p:cNvSpPr>
            <a:spLocks xmlns:a="http://schemas.openxmlformats.org/drawingml/2006/main" noGrp="1"/>
          </p:cNvSpPr>
          <p:nvPr/>
        </p:nvSpPr>
        <p:spPr>
          <a:xfrm xmlns:a="http://schemas.openxmlformats.org/drawingml/2006/main">
            <a:off x="476250" y="6267450"/>
            <a:ext cx="11239500" cy="9525"/>
          </a:xfrm>
          <a:prstGeom xmlns:a="http://schemas.openxmlformats.org/drawingml/2006/main" prst="rect">
            <a:avLst/>
          </a:prstGeom>
          <a:solidFill xmlns:a="http://schemas.openxmlformats.org/drawingml/2006/main">
            <a:srgbClr val="FFFFFF">
              <a:alpha val="20000"/>
            </a:srgbClr>
          </a:solidFill>
          <a:ln xmlns:a="http://schemas.openxmlformats.org/drawingml/2006/main" w="0">
            <a:solidFill>
              <a:srgbClr val="FFFFFF">
                <a:alpha val="20000"/>
              </a:srgbClr>
            </a:solidFill>
            <a:prstDash val="solid"/>
          </a:ln>
        </p:spPr>
      </p:sp>
      <p:sp>
        <p:nvSpPr>
          <p:cNvPr id="3" name="">
            <a:extLst xmlns:a="http://schemas.openxmlformats.org/drawingml/2006/main">
              <a:ext uri="{FF2B5EF4-FFF2-40B4-BE49-F238E27FC236}">
                <a16:creationId xmlns:a16="http://schemas.microsoft.com/office/drawing/2014/main" id="{9F8E7425-92A8-4C39-B529-A168417A77B1}"/>
              </a:ext>
            </a:extLst>
          </p:cNvPr>
          <p:cNvSpPr>
            <a:spLocks xmlns:a="http://schemas.openxmlformats.org/drawingml/2006/main" noGrp="1"/>
          </p:cNvSpPr>
          <p:nvPr/>
        </p:nvSpPr>
        <p:spPr>
          <a:xfrm xmlns:a="http://schemas.openxmlformats.org/drawingml/2006/main">
            <a:off x="533400" y="64008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1">
                <a:solidFill>
                  <a:srgbClr val="FFFFFF">
                    <a:alpha val="60000"/>
                  </a:srgbClr>
                </a:solidFill>
                <a:latin typeface="Aptos"/>
                <a:ea typeface="Aptos"/>
                <a:cs typeface="Aptos"/>
              </a:defRPr>
            </a:pPr>
            <a:r>
              <a:rPr sz="750" b="1">
                <a:solidFill>
                  <a:srgbClr val="FFFFFF">
                    <a:alpha val="60000"/>
                  </a:srgbClr>
                </a:solidFill>
                <a:latin typeface="Aptos"/>
                <a:ea typeface="Aptos"/>
                <a:cs typeface="Aptos"/>
              </a:rPr>
              <a:t>EVIDENCE-BACKED CODEBASE + MARKET AUDIT</a:t>
            </a:r>
          </a:p>
        </p:txBody>
      </p:sp>
      <p:sp>
        <p:nvSpPr>
          <p:cNvPr id="4" name="">
            <a:extLst xmlns:a="http://schemas.openxmlformats.org/drawingml/2006/main">
              <a:ext uri="{FF2B5EF4-FFF2-40B4-BE49-F238E27FC236}">
                <a16:creationId xmlns:a16="http://schemas.microsoft.com/office/drawing/2014/main" id="{3E371735-7056-4B00-873B-2C5F7DFA744D}"/>
              </a:ext>
            </a:extLst>
          </p:cNvPr>
          <p:cNvSpPr>
            <a:spLocks xmlns:a="http://schemas.openxmlformats.org/drawingml/2006/main" noGrp="1"/>
          </p:cNvSpPr>
          <p:nvPr/>
        </p:nvSpPr>
        <p:spPr>
          <a:xfrm xmlns:a="http://schemas.openxmlformats.org/drawingml/2006/main">
            <a:off x="9791700" y="6400800"/>
            <a:ext cx="1857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0">
                <a:solidFill>
                  <a:srgbClr val="FFFFFF">
                    <a:alpha val="60000"/>
                  </a:srgbClr>
                </a:solidFill>
                <a:latin typeface="Aptos"/>
                <a:ea typeface="Aptos"/>
                <a:cs typeface="Aptos"/>
              </a:defRPr>
            </a:pPr>
            <a:r>
              <a:rPr sz="750" b="0">
                <a:solidFill>
                  <a:srgbClr val="FFFFFF">
                    <a:alpha val="60000"/>
                  </a:srgbClr>
                </a:solidFill>
                <a:latin typeface="Aptos"/>
                <a:ea typeface="Aptos"/>
                <a:cs typeface="Aptos"/>
              </a:rPr>
              <a:t>Confidential planning brief</a:t>
            </a:r>
          </a:p>
        </p:txBody>
      </p:sp>
    </p:spTree>
    <p:extLst>
      <p:ext uri="{BB962C8B-B14F-4D97-AF65-F5344CB8AC3E}">
        <p14:creationId xmlns:p14="http://schemas.microsoft.com/office/powerpoint/2010/main" val="82019168"/>
      </p:ext>
    </p:extLst>
  </p:cSld>
</p:sld>
</file>

<file path=ppt/slides/slide2.xml><?xml version="1.0" encoding="utf-8"?>
<p:sld xmlns:p="http://schemas.openxmlformats.org/presentationml/2006/main">
  <p:cSld>
    <p:bg>
      <p:bgPr>
        <a:solidFill xmlns:a="http://schemas.openxmlformats.org/drawingml/2006/main">
          <a:srgbClr val="F2E8D5"/>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0D48693C-5956-4B04-BC99-02EDA2FB8BF9}"/>
              </a:ext>
            </a:extLst>
          </p:cNvPr>
          <p:cNvSpPr>
            <a:spLocks xmlns:a="http://schemas.openxmlformats.org/drawingml/2006/main" noGrp="1"/>
          </p:cNvSpPr>
          <p:nvPr/>
        </p:nvSpPr>
        <p:spPr>
          <a:xfrm xmlns:a="http://schemas.openxmlformats.org/drawingml/2006/main">
            <a:off x="552450" y="419100"/>
            <a:ext cx="514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a:solidFill>
                  <a:srgbClr val="2563EB"/>
                </a:solidFill>
                <a:latin typeface="Aptos"/>
                <a:ea typeface="Aptos"/>
                <a:cs typeface="Aptos"/>
              </a:defRPr>
            </a:pPr>
            <a:r>
              <a:rPr sz="900" b="1">
                <a:solidFill>
                  <a:srgbClr val="2563EB"/>
                </a:solidFill>
                <a:latin typeface="Aptos"/>
                <a:ea typeface="Aptos"/>
                <a:cs typeface="Aptos"/>
              </a:rPr>
              <a:t>02</a:t>
            </a:r>
          </a:p>
        </p:txBody>
      </p:sp>
      <p:sp>
        <p:nvSpPr>
          <p:cNvPr id="2" name="">
            <a:extLst xmlns:a="http://schemas.openxmlformats.org/drawingml/2006/main">
              <a:ext uri="{FF2B5EF4-FFF2-40B4-BE49-F238E27FC236}">
                <a16:creationId xmlns:a16="http://schemas.microsoft.com/office/drawing/2014/main" id="{1F223693-2D9D-4D0F-9DBE-152922569CBE}"/>
              </a:ext>
            </a:extLst>
          </p:cNvPr>
          <p:cNvSpPr>
            <a:spLocks xmlns:a="http://schemas.openxmlformats.org/drawingml/2006/main" noGrp="1"/>
          </p:cNvSpPr>
          <p:nvPr/>
        </p:nvSpPr>
        <p:spPr>
          <a:xfrm xmlns:a="http://schemas.openxmlformats.org/drawingml/2006/main">
            <a:off x="1104900" y="542925"/>
            <a:ext cx="476250" cy="0"/>
          </a:xfrm>
          <a:prstGeom xmlns:a="http://schemas.openxmlformats.org/drawingml/2006/main" prst="line">
            <a:avLst/>
          </a:prstGeom>
          <a:noFill xmlns:a="http://schemas.openxmlformats.org/drawingml/2006/main"/>
          <a:ln xmlns:a="http://schemas.openxmlformats.org/drawingml/2006/main" w="9525">
            <a:solidFill>
              <a:srgbClr val="CBD1DA"/>
            </a:solidFill>
            <a:prstDash val="solid"/>
          </a:ln>
        </p:spPr>
      </p:sp>
      <p:sp>
        <p:nvSpPr>
          <p:cNvPr id="3" name="">
            <a:extLst xmlns:a="http://schemas.openxmlformats.org/drawingml/2006/main">
              <a:ext uri="{FF2B5EF4-FFF2-40B4-BE49-F238E27FC236}">
                <a16:creationId xmlns:a16="http://schemas.microsoft.com/office/drawing/2014/main" id="{8ABCC4D1-4E96-4790-AFA7-D94EE725EE71}"/>
              </a:ext>
            </a:extLst>
          </p:cNvPr>
          <p:cNvSpPr>
            <a:spLocks xmlns:a="http://schemas.openxmlformats.org/drawingml/2006/main" noGrp="1"/>
          </p:cNvSpPr>
          <p:nvPr/>
        </p:nvSpPr>
        <p:spPr>
          <a:xfrm xmlns:a="http://schemas.openxmlformats.org/drawingml/2006/main">
            <a:off x="1733550" y="323850"/>
            <a:ext cx="704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375" b="1">
                <a:solidFill>
                  <a:srgbClr val="101827"/>
                </a:solidFill>
                <a:latin typeface="Aptos Display"/>
                <a:ea typeface="Aptos Display"/>
                <a:cs typeface="Aptos Display"/>
              </a:defRPr>
            </a:pPr>
            <a:r>
              <a:rPr sz="3375" b="1">
                <a:solidFill>
                  <a:srgbClr val="101827"/>
                </a:solidFill>
                <a:latin typeface="Aptos Display"/>
                <a:ea typeface="Aptos Display"/>
                <a:cs typeface="Aptos Display"/>
              </a:rPr>
              <a:t>Integrated alpha. Pre-pilot.</a:t>
            </a:r>
          </a:p>
        </p:txBody>
      </p:sp>
      <p:sp>
        <p:nvSpPr>
          <p:cNvPr id="4" name="">
            <a:extLst xmlns:a="http://schemas.openxmlformats.org/drawingml/2006/main">
              <a:ext uri="{FF2B5EF4-FFF2-40B4-BE49-F238E27FC236}">
                <a16:creationId xmlns:a16="http://schemas.microsoft.com/office/drawing/2014/main" id="{8FBF25AB-88E2-487A-A0C5-B67A8C2B7657}"/>
              </a:ext>
            </a:extLst>
          </p:cNvPr>
          <p:cNvSpPr>
            <a:spLocks xmlns:a="http://schemas.openxmlformats.org/drawingml/2006/main" noGrp="1"/>
          </p:cNvSpPr>
          <p:nvPr/>
        </p:nvSpPr>
        <p:spPr>
          <a:xfrm xmlns:a="http://schemas.openxmlformats.org/drawingml/2006/main">
            <a:off x="1752600" y="866775"/>
            <a:ext cx="7715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0">
                <a:solidFill>
                  <a:srgbClr val="626A78"/>
                </a:solidFill>
                <a:latin typeface="Aptos"/>
                <a:ea typeface="Aptos"/>
                <a:cs typeface="Aptos"/>
              </a:defRPr>
            </a:pPr>
            <a:r>
              <a:rPr sz="1350" b="0">
                <a:solidFill>
                  <a:srgbClr val="626A78"/>
                </a:solidFill>
                <a:latin typeface="Aptos"/>
                <a:ea typeface="Aptos"/>
                <a:cs typeface="Aptos"/>
              </a:rPr>
              <a:t>The app has real product surface area, but two systems make launch claims provisional.</a:t>
            </a:r>
          </a:p>
        </p:txBody>
      </p:sp>
      <p:sp>
        <p:nvSpPr>
          <p:cNvPr id="5" name="">
            <a:extLst xmlns:a="http://schemas.openxmlformats.org/drawingml/2006/main">
              <a:ext uri="{FF2B5EF4-FFF2-40B4-BE49-F238E27FC236}">
                <a16:creationId xmlns:a16="http://schemas.microsoft.com/office/drawing/2014/main" id="{8AAA5371-5EC0-428E-80C2-1BE8DB89C297}"/>
              </a:ext>
            </a:extLst>
          </p:cNvPr>
          <p:cNvSpPr>
            <a:spLocks xmlns:a="http://schemas.openxmlformats.org/drawingml/2006/main" noGrp="1"/>
          </p:cNvSpPr>
          <p:nvPr/>
        </p:nvSpPr>
        <p:spPr>
          <a:xfrm xmlns:a="http://schemas.openxmlformats.org/drawingml/2006/main">
            <a:off x="11210925" y="381000"/>
            <a:ext cx="275082" cy="325755"/>
          </a:xfrm>
          <a:prstGeom xmlns:a="http://schemas.openxmlformats.org/drawingml/2006/main" prst="roundRect">
            <a:avLst>
              <a:gd name="adj" fmla="val 47368"/>
            </a:avLst>
          </a:prstGeom>
          <a:noFill xmlns:a="http://schemas.openxmlformats.org/drawingml/2006/main"/>
          <a:ln xmlns:a="http://schemas.openxmlformats.org/drawingml/2006/main" w="28956">
            <a:solidFill>
              <a:srgbClr val="0D1321"/>
            </a:solidFill>
            <a:prstDash val="solid"/>
          </a:ln>
        </p:spPr>
      </p:sp>
      <p:sp>
        <p:nvSpPr>
          <p:cNvPr id="6" name="">
            <a:extLst xmlns:a="http://schemas.openxmlformats.org/drawingml/2006/main">
              <a:ext uri="{FF2B5EF4-FFF2-40B4-BE49-F238E27FC236}">
                <a16:creationId xmlns:a16="http://schemas.microsoft.com/office/drawing/2014/main" id="{09F51BA6-992B-4B9A-9D52-9F4619CC8C99}"/>
              </a:ext>
            </a:extLst>
          </p:cNvPr>
          <p:cNvSpPr>
            <a:spLocks xmlns:a="http://schemas.openxmlformats.org/drawingml/2006/main" noGrp="1"/>
          </p:cNvSpPr>
          <p:nvPr/>
        </p:nvSpPr>
        <p:spPr>
          <a:xfrm xmlns:a="http://schemas.openxmlformats.org/drawingml/2006/main">
            <a:off x="11247120" y="598170"/>
            <a:ext cx="202692" cy="130302"/>
          </a:xfrm>
          <a:prstGeom xmlns:a="http://schemas.openxmlformats.org/drawingml/2006/main" prst="triangle">
            <a:avLst/>
          </a:prstGeom>
          <a:solidFill xmlns:a="http://schemas.openxmlformats.org/drawingml/2006/main">
            <a:srgbClr val="0D1321"/>
          </a:solidFill>
          <a:ln xmlns:a="http://schemas.openxmlformats.org/drawingml/2006/main" w="0">
            <a:solidFill>
              <a:srgbClr val="0D1321"/>
            </a:solidFill>
            <a:prstDash val="solid"/>
          </a:ln>
        </p:spPr>
      </p:sp>
      <p:sp>
        <p:nvSpPr>
          <p:cNvPr id="7" name="">
            <a:extLst xmlns:a="http://schemas.openxmlformats.org/drawingml/2006/main">
              <a:ext uri="{FF2B5EF4-FFF2-40B4-BE49-F238E27FC236}">
                <a16:creationId xmlns:a16="http://schemas.microsoft.com/office/drawing/2014/main" id="{5BCAD421-3CA2-4F95-AD8F-8D812C3EE1C8}"/>
              </a:ext>
            </a:extLst>
          </p:cNvPr>
          <p:cNvSpPr>
            <a:spLocks xmlns:a="http://schemas.openxmlformats.org/drawingml/2006/main" noGrp="1"/>
          </p:cNvSpPr>
          <p:nvPr/>
        </p:nvSpPr>
        <p:spPr>
          <a:xfrm xmlns:a="http://schemas.openxmlformats.org/drawingml/2006/main">
            <a:off x="11290554" y="424434"/>
            <a:ext cx="115824" cy="1158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627" b="1">
                <a:solidFill>
                  <a:srgbClr val="0D1321"/>
                </a:solidFill>
                <a:latin typeface="Aptos"/>
                <a:ea typeface="Aptos"/>
                <a:cs typeface="Aptos"/>
              </a:defRPr>
            </a:pPr>
            <a:r>
              <a:rPr sz="627" b="1">
                <a:solidFill>
                  <a:srgbClr val="0D1321"/>
                </a:solidFill>
                <a:latin typeface="Aptos"/>
                <a:ea typeface="Aptos"/>
                <a:cs typeface="Aptos"/>
              </a:rPr>
              <a:t>✦</a:t>
            </a:r>
          </a:p>
        </p:txBody>
      </p:sp>
      <p:sp>
        <p:nvSpPr>
          <p:cNvPr id="8" name="">
            <a:extLst xmlns:a="http://schemas.openxmlformats.org/drawingml/2006/main">
              <a:ext uri="{FF2B5EF4-FFF2-40B4-BE49-F238E27FC236}">
                <a16:creationId xmlns:a16="http://schemas.microsoft.com/office/drawing/2014/main" id="{00B3B873-295A-4451-9732-D69B0EABAA1B}"/>
              </a:ext>
            </a:extLst>
          </p:cNvPr>
          <p:cNvSpPr>
            <a:spLocks xmlns:a="http://schemas.openxmlformats.org/drawingml/2006/main" noGrp="1"/>
          </p:cNvSpPr>
          <p:nvPr/>
        </p:nvSpPr>
        <p:spPr>
          <a:xfrm xmlns:a="http://schemas.openxmlformats.org/drawingml/2006/main">
            <a:off x="10144125" y="828675"/>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200" b="1">
                <a:solidFill>
                  <a:srgbClr val="0D1321"/>
                </a:solidFill>
                <a:latin typeface="Aptos"/>
                <a:ea typeface="Aptos"/>
                <a:cs typeface="Aptos"/>
              </a:defRPr>
            </a:pPr>
            <a:r>
              <a:rPr sz="1200" b="1">
                <a:solidFill>
                  <a:srgbClr val="0D1321"/>
                </a:solidFill>
                <a:latin typeface="Aptos"/>
                <a:ea typeface="Aptos"/>
                <a:cs typeface="Aptos"/>
              </a:rPr>
              <a:t>sidequests</a:t>
            </a:r>
          </a:p>
        </p:txBody>
      </p:sp>
      <p:sp>
        <p:nvSpPr>
          <p:cNvPr id="9" name="">
            <a:extLst xmlns:a="http://schemas.openxmlformats.org/drawingml/2006/main">
              <a:ext uri="{FF2B5EF4-FFF2-40B4-BE49-F238E27FC236}">
                <a16:creationId xmlns:a16="http://schemas.microsoft.com/office/drawing/2014/main" id="{9B219D54-F2F4-4A7C-A550-A461F6639AF4}"/>
              </a:ext>
            </a:extLst>
          </p:cNvPr>
          <p:cNvSpPr>
            <a:spLocks xmlns:a="http://schemas.openxmlformats.org/drawingml/2006/main" noGrp="1"/>
          </p:cNvSpPr>
          <p:nvPr/>
        </p:nvSpPr>
        <p:spPr>
          <a:xfrm xmlns:a="http://schemas.openxmlformats.org/drawingml/2006/main">
            <a:off x="552450" y="6543675"/>
            <a:ext cx="4000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675" b="0">
                <a:solidFill>
                  <a:srgbClr val="9AA1AD"/>
                </a:solidFill>
                <a:latin typeface="Aptos"/>
                <a:ea typeface="Aptos"/>
                <a:cs typeface="Aptos"/>
              </a:defRPr>
            </a:pPr>
            <a:r>
              <a:rPr sz="675" b="0">
                <a:solidFill>
                  <a:srgbClr val="9AA1AD"/>
                </a:solidFill>
                <a:latin typeface="Aptos"/>
                <a:ea typeface="Aptos"/>
                <a:cs typeface="Aptos"/>
              </a:rPr>
              <a:t>Development &amp; launch readiness · 12 Aug 2026</a:t>
            </a:r>
          </a:p>
        </p:txBody>
      </p:sp>
      <p:sp>
        <p:nvSpPr>
          <p:cNvPr id="10" name="">
            <a:extLst xmlns:a="http://schemas.openxmlformats.org/drawingml/2006/main">
              <a:ext uri="{FF2B5EF4-FFF2-40B4-BE49-F238E27FC236}">
                <a16:creationId xmlns:a16="http://schemas.microsoft.com/office/drawing/2014/main" id="{6459187D-D323-4BF1-82CA-AA75DE96997C}"/>
              </a:ext>
            </a:extLst>
          </p:cNvPr>
          <p:cNvSpPr>
            <a:spLocks xmlns:a="http://schemas.openxmlformats.org/drawingml/2006/main" noGrp="1"/>
          </p:cNvSpPr>
          <p:nvPr/>
        </p:nvSpPr>
        <p:spPr>
          <a:xfrm xmlns:a="http://schemas.openxmlformats.org/drawingml/2006/main">
            <a:off x="11239500" y="6543675"/>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675" b="0">
                <a:solidFill>
                  <a:srgbClr val="9AA1AD"/>
                </a:solidFill>
                <a:latin typeface="Aptos"/>
                <a:ea typeface="Aptos"/>
                <a:cs typeface="Aptos"/>
              </a:defRPr>
            </a:pPr>
            <a:r>
              <a:rPr sz="675" b="0">
                <a:solidFill>
                  <a:srgbClr val="9AA1AD"/>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33BAA3EE-1EA0-4AD1-BBB4-FC852C88DBCE}"/>
              </a:ext>
            </a:extLst>
          </p:cNvPr>
          <p:cNvSpPr>
            <a:spLocks xmlns:a="http://schemas.openxmlformats.org/drawingml/2006/main" noGrp="1"/>
          </p:cNvSpPr>
          <p:nvPr/>
        </p:nvSpPr>
        <p:spPr>
          <a:xfrm xmlns:a="http://schemas.openxmlformats.org/drawingml/2006/main">
            <a:off x="552450" y="1524000"/>
            <a:ext cx="2286000" cy="4495800"/>
          </a:xfrm>
          <a:prstGeom xmlns:a="http://schemas.openxmlformats.org/drawingml/2006/main" prst="roundRect">
            <a:avLst>
              <a:gd name="adj" fmla="val 10000"/>
            </a:avLst>
          </a:prstGeom>
          <a:solidFill xmlns:a="http://schemas.openxmlformats.org/drawingml/2006/main">
            <a:srgbClr val="0D1321"/>
          </a:solidFill>
          <a:ln xmlns:a="http://schemas.openxmlformats.org/drawingml/2006/main" w="0">
            <a:solidFill>
              <a:srgbClr val="0D1321"/>
            </a:solidFill>
            <a:prstDash val="solid"/>
          </a:ln>
        </p:spPr>
      </p:sp>
      <p:sp>
        <p:nvSpPr>
          <p:cNvPr id="12" name="">
            <a:extLst xmlns:a="http://schemas.openxmlformats.org/drawingml/2006/main">
              <a:ext uri="{FF2B5EF4-FFF2-40B4-BE49-F238E27FC236}">
                <a16:creationId xmlns:a16="http://schemas.microsoft.com/office/drawing/2014/main" id="{25BC139B-61A5-482D-B35E-5FB557C8DB79}"/>
              </a:ext>
            </a:extLst>
          </p:cNvPr>
          <p:cNvSpPr>
            <a:spLocks xmlns:a="http://schemas.openxmlformats.org/drawingml/2006/main" noGrp="1"/>
          </p:cNvSpPr>
          <p:nvPr/>
        </p:nvSpPr>
        <p:spPr>
          <a:xfrm xmlns:a="http://schemas.openxmlformats.org/drawingml/2006/main">
            <a:off x="819150" y="1876425"/>
            <a:ext cx="1428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6266"/>
          </a:bodyPr>
          <a:lstStyle xmlns:a="http://schemas.openxmlformats.org/drawingml/2006/main"/>
          <a:p xmlns:a="http://schemas.openxmlformats.org/drawingml/2006/main">
            <a:pPr algn="l">
              <a:lnSpc>
                <a:spcPct val="105000"/>
              </a:lnSpc>
              <a:buNone/>
              <a:defRPr sz="6900" b="1">
                <a:solidFill>
                  <a:srgbClr val="F2B94B"/>
                </a:solidFill>
                <a:latin typeface="Aptos Display"/>
                <a:ea typeface="Aptos Display"/>
                <a:cs typeface="Aptos Display"/>
              </a:defRPr>
            </a:pPr>
            <a:r>
              <a:rPr sz="6900" b="1">
                <a:solidFill>
                  <a:srgbClr val="F2B94B"/>
                </a:solidFill>
                <a:latin typeface="Aptos Display"/>
                <a:ea typeface="Aptos Display"/>
                <a:cs typeface="Aptos Display"/>
              </a:rPr>
              <a:t>46</a:t>
            </a:r>
          </a:p>
        </p:txBody>
      </p:sp>
      <p:sp>
        <p:nvSpPr>
          <p:cNvPr id="13" name="">
            <a:extLst xmlns:a="http://schemas.openxmlformats.org/drawingml/2006/main">
              <a:ext uri="{FF2B5EF4-FFF2-40B4-BE49-F238E27FC236}">
                <a16:creationId xmlns:a16="http://schemas.microsoft.com/office/drawing/2014/main" id="{82E641C0-4075-49CA-BBB1-165EC34A2EC5}"/>
              </a:ext>
            </a:extLst>
          </p:cNvPr>
          <p:cNvSpPr>
            <a:spLocks xmlns:a="http://schemas.openxmlformats.org/drawingml/2006/main" noGrp="1"/>
          </p:cNvSpPr>
          <p:nvPr/>
        </p:nvSpPr>
        <p:spPr>
          <a:xfrm xmlns:a="http://schemas.openxmlformats.org/drawingml/2006/main">
            <a:off x="1981200" y="2476500"/>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0">
                <a:solidFill>
                  <a:srgbClr val="9CA6B7"/>
                </a:solidFill>
                <a:latin typeface="Aptos"/>
                <a:ea typeface="Aptos"/>
                <a:cs typeface="Aptos"/>
              </a:defRPr>
            </a:pPr>
            <a:r>
              <a:rPr sz="1350" b="0">
                <a:solidFill>
                  <a:srgbClr val="9CA6B7"/>
                </a:solidFill>
                <a:latin typeface="Aptos"/>
                <a:ea typeface="Aptos"/>
                <a:cs typeface="Aptos"/>
              </a:rPr>
              <a:t>/ 100</a:t>
            </a:r>
          </a:p>
        </p:txBody>
      </p:sp>
      <p:sp>
        <p:nvSpPr>
          <p:cNvPr id="14" name="">
            <a:extLst xmlns:a="http://schemas.openxmlformats.org/drawingml/2006/main">
              <a:ext uri="{FF2B5EF4-FFF2-40B4-BE49-F238E27FC236}">
                <a16:creationId xmlns:a16="http://schemas.microsoft.com/office/drawing/2014/main" id="{A0E7D666-D052-4E91-ABFA-7E94A2A9D663}"/>
              </a:ext>
            </a:extLst>
          </p:cNvPr>
          <p:cNvSpPr>
            <a:spLocks xmlns:a="http://schemas.openxmlformats.org/drawingml/2006/main" noGrp="1"/>
          </p:cNvSpPr>
          <p:nvPr/>
        </p:nvSpPr>
        <p:spPr>
          <a:xfrm xmlns:a="http://schemas.openxmlformats.org/drawingml/2006/main">
            <a:off x="838200" y="29908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F2B94B"/>
                </a:solidFill>
                <a:latin typeface="Aptos"/>
                <a:ea typeface="Aptos"/>
                <a:cs typeface="Aptos"/>
              </a:defRPr>
            </a:pPr>
            <a:r>
              <a:rPr sz="825" b="1">
                <a:solidFill>
                  <a:srgbClr val="F2B94B"/>
                </a:solidFill>
                <a:latin typeface="Aptos"/>
                <a:ea typeface="Aptos"/>
                <a:cs typeface="Aptos"/>
              </a:rPr>
              <a:t>ANALYST MATURITY</a:t>
            </a:r>
          </a:p>
        </p:txBody>
      </p:sp>
      <p:sp>
        <p:nvSpPr>
          <p:cNvPr id="15" name="">
            <a:extLst xmlns:a="http://schemas.openxmlformats.org/drawingml/2006/main">
              <a:ext uri="{FF2B5EF4-FFF2-40B4-BE49-F238E27FC236}">
                <a16:creationId xmlns:a16="http://schemas.microsoft.com/office/drawing/2014/main" id="{11D060EC-DA6B-402D-8807-D32F8A26AF59}"/>
              </a:ext>
            </a:extLst>
          </p:cNvPr>
          <p:cNvSpPr>
            <a:spLocks xmlns:a="http://schemas.openxmlformats.org/drawingml/2006/main" noGrp="1"/>
          </p:cNvSpPr>
          <p:nvPr/>
        </p:nvSpPr>
        <p:spPr>
          <a:xfrm xmlns:a="http://schemas.openxmlformats.org/drawingml/2006/main">
            <a:off x="838200" y="3362325"/>
            <a:ext cx="1571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957"/>
          </a:bodyPr>
          <a:lstStyle xmlns:a="http://schemas.openxmlformats.org/drawingml/2006/main"/>
          <a:p xmlns:a="http://schemas.openxmlformats.org/drawingml/2006/main">
            <a:pPr algn="l">
              <a:lnSpc>
                <a:spcPct val="105000"/>
              </a:lnSpc>
              <a:buNone/>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A coherent system shape—not yet a trustworthy field operation.</a:t>
            </a:r>
          </a:p>
        </p:txBody>
      </p:sp>
      <p:sp>
        <p:nvSpPr>
          <p:cNvPr id="16" name="">
            <a:extLst xmlns:a="http://schemas.openxmlformats.org/drawingml/2006/main">
              <a:ext uri="{FF2B5EF4-FFF2-40B4-BE49-F238E27FC236}">
                <a16:creationId xmlns:a16="http://schemas.microsoft.com/office/drawing/2014/main" id="{A6333270-2BC6-4FF9-9937-906B4D835C15}"/>
              </a:ext>
            </a:extLst>
          </p:cNvPr>
          <p:cNvSpPr>
            <a:spLocks xmlns:a="http://schemas.openxmlformats.org/drawingml/2006/main" noGrp="1"/>
          </p:cNvSpPr>
          <p:nvPr/>
        </p:nvSpPr>
        <p:spPr>
          <a:xfrm xmlns:a="http://schemas.openxmlformats.org/drawingml/2006/main">
            <a:off x="838200" y="5295900"/>
            <a:ext cx="1571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0">
                <a:solidFill>
                  <a:srgbClr val="8E99AA"/>
                </a:solidFill>
                <a:latin typeface="Aptos"/>
                <a:ea typeface="Aptos"/>
                <a:cs typeface="Aptos"/>
              </a:defRPr>
            </a:pPr>
            <a:r>
              <a:rPr sz="900" b="0">
                <a:solidFill>
                  <a:srgbClr val="8E99AA"/>
                </a:solidFill>
                <a:latin typeface="Aptos"/>
                <a:ea typeface="Aptos"/>
                <a:cs typeface="Aptos"/>
              </a:rPr>
              <a:t>Audit score, not customer or usage data.</a:t>
            </a:r>
          </a:p>
        </p:txBody>
      </p:sp>
      <p:sp>
        <p:nvSpPr>
          <p:cNvPr id="17" name="">
            <a:extLst xmlns:a="http://schemas.openxmlformats.org/drawingml/2006/main">
              <a:ext uri="{FF2B5EF4-FFF2-40B4-BE49-F238E27FC236}">
                <a16:creationId xmlns:a16="http://schemas.microsoft.com/office/drawing/2014/main" id="{88BAD0F9-0FC1-4BA2-A671-38EE41972EF9}"/>
              </a:ext>
            </a:extLst>
          </p:cNvPr>
          <p:cNvSpPr>
            <a:spLocks xmlns:a="http://schemas.openxmlformats.org/drawingml/2006/main" noGrp="1"/>
          </p:cNvSpPr>
          <p:nvPr/>
        </p:nvSpPr>
        <p:spPr>
          <a:xfrm xmlns:a="http://schemas.openxmlformats.org/drawingml/2006/main">
            <a:off x="3067050" y="1524000"/>
            <a:ext cx="2638425" cy="2133600"/>
          </a:xfrm>
          <a:prstGeom xmlns:a="http://schemas.openxmlformats.org/drawingml/2006/main" prst="roundRect">
            <a:avLst>
              <a:gd name="adj" fmla="val 8929"/>
            </a:avLst>
          </a:prstGeom>
          <a:solidFill xmlns:a="http://schemas.openxmlformats.org/drawingml/2006/main">
            <a:srgbClr val="FFFFFF"/>
          </a:solidFill>
          <a:ln xmlns:a="http://schemas.openxmlformats.org/drawingml/2006/main" w="9525">
            <a:solidFill>
              <a:srgbClr val="E3E7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1CEC98D9-6F2E-476A-A8BA-7FEC20593D65}"/>
              </a:ext>
            </a:extLst>
          </p:cNvPr>
          <p:cNvSpPr>
            <a:spLocks xmlns:a="http://schemas.openxmlformats.org/drawingml/2006/main" noGrp="1"/>
          </p:cNvSpPr>
          <p:nvPr/>
        </p:nvSpPr>
        <p:spPr>
          <a:xfrm xmlns:a="http://schemas.openxmlformats.org/drawingml/2006/main">
            <a:off x="3067050" y="1524000"/>
            <a:ext cx="66675" cy="2133600"/>
          </a:xfrm>
          <a:prstGeom xmlns:a="http://schemas.openxmlformats.org/drawingml/2006/main" prst="roundRect">
            <a:avLst>
              <a:gd name="adj" fmla="val 0"/>
            </a:avLst>
          </a:prstGeom>
          <a:solidFill xmlns:a="http://schemas.openxmlformats.org/drawingml/2006/main">
            <a:srgbClr val="FF6F61"/>
          </a:solidFill>
          <a:ln xmlns:a="http://schemas.openxmlformats.org/drawingml/2006/main" w="0">
            <a:solidFill>
              <a:srgbClr val="FF6F61"/>
            </a:solidFill>
            <a:prstDash val="solid"/>
          </a:ln>
        </p:spPr>
      </p:sp>
      <p:sp>
        <p:nvSpPr>
          <p:cNvPr id="19" name="">
            <a:extLst xmlns:a="http://schemas.openxmlformats.org/drawingml/2006/main">
              <a:ext uri="{FF2B5EF4-FFF2-40B4-BE49-F238E27FC236}">
                <a16:creationId xmlns:a16="http://schemas.microsoft.com/office/drawing/2014/main" id="{65054963-FC89-43D5-8FB8-55C83FBAC626}"/>
              </a:ext>
            </a:extLst>
          </p:cNvPr>
          <p:cNvSpPr>
            <a:spLocks xmlns:a="http://schemas.openxmlformats.org/drawingml/2006/main" noGrp="1"/>
          </p:cNvSpPr>
          <p:nvPr/>
        </p:nvSpPr>
        <p:spPr>
          <a:xfrm xmlns:a="http://schemas.openxmlformats.org/drawingml/2006/main">
            <a:off x="4924425" y="1647825"/>
            <a:ext cx="571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618"/>
          </a:bodyPr>
          <a:lstStyle xmlns:a="http://schemas.openxmlformats.org/drawingml/2006/main"/>
          <a:p xmlns:a="http://schemas.openxmlformats.org/drawingml/2006/main">
            <a:pPr algn="r">
              <a:lnSpc>
                <a:spcPct val="105000"/>
              </a:lnSpc>
              <a:buNone/>
              <a:defRPr sz="3450" b="1">
                <a:solidFill>
                  <a:srgbClr val="EDF0F4"/>
                </a:solidFill>
                <a:latin typeface="Aptos"/>
                <a:ea typeface="Aptos"/>
                <a:cs typeface="Aptos"/>
              </a:defRPr>
            </a:pPr>
            <a:r>
              <a:rPr sz="3450" b="1">
                <a:solidFill>
                  <a:srgbClr val="EDF0F4"/>
                </a:solidFill>
                <a:latin typeface="Aptos"/>
                <a:ea typeface="Aptos"/>
                <a:cs typeface="Aptos"/>
              </a:rPr>
              <a:t>01</a:t>
            </a:r>
          </a:p>
        </p:txBody>
      </p:sp>
      <p:sp>
        <p:nvSpPr>
          <p:cNvPr id="20" name="">
            <a:extLst xmlns:a="http://schemas.openxmlformats.org/drawingml/2006/main">
              <a:ext uri="{FF2B5EF4-FFF2-40B4-BE49-F238E27FC236}">
                <a16:creationId xmlns:a16="http://schemas.microsoft.com/office/drawing/2014/main" id="{BE70EFA5-3F15-4162-BA35-D55DAB683C59}"/>
              </a:ext>
            </a:extLst>
          </p:cNvPr>
          <p:cNvSpPr>
            <a:spLocks xmlns:a="http://schemas.openxmlformats.org/drawingml/2006/main" noGrp="1"/>
          </p:cNvSpPr>
          <p:nvPr/>
        </p:nvSpPr>
        <p:spPr>
          <a:xfrm xmlns:a="http://schemas.openxmlformats.org/drawingml/2006/main">
            <a:off x="3295650" y="1752600"/>
            <a:ext cx="819150" cy="266700"/>
          </a:xfrm>
          <a:prstGeom xmlns:a="http://schemas.openxmlformats.org/drawingml/2006/main" prst="roundRect">
            <a:avLst>
              <a:gd name="adj" fmla="val 50000"/>
            </a:avLst>
          </a:prstGeom>
          <a:solidFill xmlns:a="http://schemas.openxmlformats.org/drawingml/2006/main">
            <a:srgbClr val="FF6F61">
              <a:alpha val="13333"/>
            </a:srgbClr>
          </a:solidFill>
          <a:ln xmlns:a="http://schemas.openxmlformats.org/drawingml/2006/main" w="0">
            <a:solidFill>
              <a:srgbClr val="FF6F61">
                <a:alpha val="13333"/>
              </a:srgbClr>
            </a:solidFill>
            <a:prstDash val="solid"/>
          </a:ln>
        </p:spPr>
      </p:sp>
      <p:sp>
        <p:nvSpPr>
          <p:cNvPr id="21" name="">
            <a:extLst xmlns:a="http://schemas.openxmlformats.org/drawingml/2006/main">
              <a:ext uri="{FF2B5EF4-FFF2-40B4-BE49-F238E27FC236}">
                <a16:creationId xmlns:a16="http://schemas.microsoft.com/office/drawing/2014/main" id="{998AF7CA-7698-4C84-AA6F-13A946830543}"/>
              </a:ext>
            </a:extLst>
          </p:cNvPr>
          <p:cNvSpPr>
            <a:spLocks xmlns:a="http://schemas.openxmlformats.org/drawingml/2006/main" noGrp="1"/>
          </p:cNvSpPr>
          <p:nvPr/>
        </p:nvSpPr>
        <p:spPr>
          <a:xfrm xmlns:a="http://schemas.openxmlformats.org/drawingml/2006/main">
            <a:off x="3390900" y="1809750"/>
            <a:ext cx="6286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825" b="1">
                <a:solidFill>
                  <a:srgbClr val="FF6F61"/>
                </a:solidFill>
                <a:latin typeface="Aptos"/>
                <a:ea typeface="Aptos"/>
                <a:cs typeface="Aptos"/>
              </a:defRPr>
            </a:pPr>
            <a:r>
              <a:rPr sz="825" b="1">
                <a:solidFill>
                  <a:srgbClr val="FF6F61"/>
                </a:solidFill>
                <a:latin typeface="Aptos"/>
                <a:ea typeface="Aptos"/>
                <a:cs typeface="Aptos"/>
              </a:rPr>
              <a:t>BLOCKER</a:t>
            </a:r>
          </a:p>
        </p:txBody>
      </p:sp>
      <p:sp>
        <p:nvSpPr>
          <p:cNvPr id="22" name="">
            <a:extLst xmlns:a="http://schemas.openxmlformats.org/drawingml/2006/main">
              <a:ext uri="{FF2B5EF4-FFF2-40B4-BE49-F238E27FC236}">
                <a16:creationId xmlns:a16="http://schemas.microsoft.com/office/drawing/2014/main" id="{32C3256E-3F8C-437E-A684-423E6BFDB033}"/>
              </a:ext>
            </a:extLst>
          </p:cNvPr>
          <p:cNvSpPr>
            <a:spLocks xmlns:a="http://schemas.openxmlformats.org/drawingml/2006/main" noGrp="1"/>
          </p:cNvSpPr>
          <p:nvPr/>
        </p:nvSpPr>
        <p:spPr>
          <a:xfrm xmlns:a="http://schemas.openxmlformats.org/drawingml/2006/main">
            <a:off x="3295650" y="2238375"/>
            <a:ext cx="21812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680"/>
          </a:bodyPr>
          <a:lstStyle xmlns:a="http://schemas.openxmlformats.org/drawingml/2006/main"/>
          <a:p xmlns:a="http://schemas.openxmlformats.org/drawingml/2006/main">
            <a:pPr algn="l">
              <a:lnSpc>
                <a:spcPct val="105000"/>
              </a:lnSpc>
              <a:buNone/>
              <a:defRPr sz="1950" b="1">
                <a:solidFill>
                  <a:srgbClr val="101827"/>
                </a:solidFill>
                <a:latin typeface="Aptos Display"/>
                <a:ea typeface="Aptos Display"/>
                <a:cs typeface="Aptos Display"/>
              </a:defRPr>
            </a:pPr>
            <a:r>
              <a:rPr sz="1950" b="1">
                <a:solidFill>
                  <a:srgbClr val="101827"/>
                </a:solidFill>
                <a:latin typeface="Aptos Display"/>
                <a:ea typeface="Aptos Display"/>
                <a:cs typeface="Aptos Display"/>
              </a:rPr>
              <a:t>Live Supabase is inactive</a:t>
            </a:r>
          </a:p>
        </p:txBody>
      </p:sp>
      <p:sp>
        <p:nvSpPr>
          <p:cNvPr id="23" name="">
            <a:extLst xmlns:a="http://schemas.openxmlformats.org/drawingml/2006/main">
              <a:ext uri="{FF2B5EF4-FFF2-40B4-BE49-F238E27FC236}">
                <a16:creationId xmlns:a16="http://schemas.microsoft.com/office/drawing/2014/main" id="{2A0925FB-5236-48D7-8C1C-08E06B95D365}"/>
              </a:ext>
            </a:extLst>
          </p:cNvPr>
          <p:cNvSpPr>
            <a:spLocks xmlns:a="http://schemas.openxmlformats.org/drawingml/2006/main" noGrp="1"/>
          </p:cNvSpPr>
          <p:nvPr/>
        </p:nvSpPr>
        <p:spPr>
          <a:xfrm xmlns:a="http://schemas.openxmlformats.org/drawingml/2006/main">
            <a:off x="3295650" y="2905125"/>
            <a:ext cx="21812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1699"/>
          </a:bodyPr>
          <a:lstStyle xmlns:a="http://schemas.openxmlformats.org/drawingml/2006/main"/>
          <a:p xmlns:a="http://schemas.openxmlformats.org/drawingml/2006/main">
            <a:pPr algn="l">
              <a:lnSpc>
                <a:spcPct val="108000"/>
              </a:lnSpc>
              <a:buNone/>
              <a:defRPr sz="1275" b="0">
                <a:solidFill>
                  <a:srgbClr val="626A78"/>
                </a:solidFill>
                <a:latin typeface="Aptos"/>
                <a:ea typeface="Aptos"/>
                <a:cs typeface="Aptos"/>
              </a:defRPr>
            </a:pPr>
            <a:r>
              <a:rPr sz="1275" b="0">
                <a:solidFill>
                  <a:srgbClr val="626A78"/>
                </a:solidFill>
                <a:latin typeface="Aptos"/>
                <a:ea typeface="Aptos"/>
                <a:cs typeface="Aptos"/>
              </a:rPr>
              <a:t>Production deploy is ready, but database rows and migrations cannot be verified.</a:t>
            </a:r>
          </a:p>
        </p:txBody>
      </p:sp>
      <p:sp>
        <p:nvSpPr>
          <p:cNvPr id="24" name="">
            <a:extLst xmlns:a="http://schemas.openxmlformats.org/drawingml/2006/main">
              <a:ext uri="{FF2B5EF4-FFF2-40B4-BE49-F238E27FC236}">
                <a16:creationId xmlns:a16="http://schemas.microsoft.com/office/drawing/2014/main" id="{5F0256A4-BA06-44D2-AC05-E4C18F148D84}"/>
              </a:ext>
            </a:extLst>
          </p:cNvPr>
          <p:cNvSpPr>
            <a:spLocks xmlns:a="http://schemas.openxmlformats.org/drawingml/2006/main" noGrp="1"/>
          </p:cNvSpPr>
          <p:nvPr/>
        </p:nvSpPr>
        <p:spPr>
          <a:xfrm xmlns:a="http://schemas.openxmlformats.org/drawingml/2006/main">
            <a:off x="5848350" y="1524000"/>
            <a:ext cx="2638425" cy="2133600"/>
          </a:xfrm>
          <a:prstGeom xmlns:a="http://schemas.openxmlformats.org/drawingml/2006/main" prst="roundRect">
            <a:avLst>
              <a:gd name="adj" fmla="val 8929"/>
            </a:avLst>
          </a:prstGeom>
          <a:solidFill xmlns:a="http://schemas.openxmlformats.org/drawingml/2006/main">
            <a:srgbClr val="FFFFFF"/>
          </a:solidFill>
          <a:ln xmlns:a="http://schemas.openxmlformats.org/drawingml/2006/main" w="9525">
            <a:solidFill>
              <a:srgbClr val="E3E7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5" name="">
            <a:extLst xmlns:a="http://schemas.openxmlformats.org/drawingml/2006/main">
              <a:ext uri="{FF2B5EF4-FFF2-40B4-BE49-F238E27FC236}">
                <a16:creationId xmlns:a16="http://schemas.microsoft.com/office/drawing/2014/main" id="{1B659781-0196-47A2-9EA9-22A2FC4E5306}"/>
              </a:ext>
            </a:extLst>
          </p:cNvPr>
          <p:cNvSpPr>
            <a:spLocks xmlns:a="http://schemas.openxmlformats.org/drawingml/2006/main" noGrp="1"/>
          </p:cNvSpPr>
          <p:nvPr/>
        </p:nvSpPr>
        <p:spPr>
          <a:xfrm xmlns:a="http://schemas.openxmlformats.org/drawingml/2006/main">
            <a:off x="5848350" y="1524000"/>
            <a:ext cx="66675" cy="2133600"/>
          </a:xfrm>
          <a:prstGeom xmlns:a="http://schemas.openxmlformats.org/drawingml/2006/main" prst="roundRect">
            <a:avLst>
              <a:gd name="adj" fmla="val 0"/>
            </a:avLst>
          </a:prstGeom>
          <a:solidFill xmlns:a="http://schemas.openxmlformats.org/drawingml/2006/main">
            <a:srgbClr val="FF6F61"/>
          </a:solidFill>
          <a:ln xmlns:a="http://schemas.openxmlformats.org/drawingml/2006/main" w="0">
            <a:solidFill>
              <a:srgbClr val="FF6F61"/>
            </a:solidFill>
            <a:prstDash val="solid"/>
          </a:ln>
        </p:spPr>
      </p:sp>
      <p:sp>
        <p:nvSpPr>
          <p:cNvPr id="26" name="">
            <a:extLst xmlns:a="http://schemas.openxmlformats.org/drawingml/2006/main">
              <a:ext uri="{FF2B5EF4-FFF2-40B4-BE49-F238E27FC236}">
                <a16:creationId xmlns:a16="http://schemas.microsoft.com/office/drawing/2014/main" id="{922ED218-C349-4E2F-8DC9-4FB9BC54F307}"/>
              </a:ext>
            </a:extLst>
          </p:cNvPr>
          <p:cNvSpPr>
            <a:spLocks xmlns:a="http://schemas.openxmlformats.org/drawingml/2006/main" noGrp="1"/>
          </p:cNvSpPr>
          <p:nvPr/>
        </p:nvSpPr>
        <p:spPr>
          <a:xfrm xmlns:a="http://schemas.openxmlformats.org/drawingml/2006/main">
            <a:off x="7705725" y="1647825"/>
            <a:ext cx="571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618"/>
          </a:bodyPr>
          <a:lstStyle xmlns:a="http://schemas.openxmlformats.org/drawingml/2006/main"/>
          <a:p xmlns:a="http://schemas.openxmlformats.org/drawingml/2006/main">
            <a:pPr algn="r">
              <a:lnSpc>
                <a:spcPct val="105000"/>
              </a:lnSpc>
              <a:buNone/>
              <a:defRPr sz="3450" b="1">
                <a:solidFill>
                  <a:srgbClr val="EDF0F4"/>
                </a:solidFill>
                <a:latin typeface="Aptos"/>
                <a:ea typeface="Aptos"/>
                <a:cs typeface="Aptos"/>
              </a:defRPr>
            </a:pPr>
            <a:r>
              <a:rPr sz="3450" b="1">
                <a:solidFill>
                  <a:srgbClr val="EDF0F4"/>
                </a:solidFill>
                <a:latin typeface="Aptos"/>
                <a:ea typeface="Aptos"/>
                <a:cs typeface="Aptos"/>
              </a:rPr>
              <a:t>02</a:t>
            </a:r>
          </a:p>
        </p:txBody>
      </p:sp>
      <p:sp>
        <p:nvSpPr>
          <p:cNvPr id="27" name="">
            <a:extLst xmlns:a="http://schemas.openxmlformats.org/drawingml/2006/main">
              <a:ext uri="{FF2B5EF4-FFF2-40B4-BE49-F238E27FC236}">
                <a16:creationId xmlns:a16="http://schemas.microsoft.com/office/drawing/2014/main" id="{5D67A988-F03D-4F10-8C1D-94B6019EB873}"/>
              </a:ext>
            </a:extLst>
          </p:cNvPr>
          <p:cNvSpPr>
            <a:spLocks xmlns:a="http://schemas.openxmlformats.org/drawingml/2006/main" noGrp="1"/>
          </p:cNvSpPr>
          <p:nvPr/>
        </p:nvSpPr>
        <p:spPr>
          <a:xfrm xmlns:a="http://schemas.openxmlformats.org/drawingml/2006/main">
            <a:off x="6076950" y="1752600"/>
            <a:ext cx="819150" cy="266700"/>
          </a:xfrm>
          <a:prstGeom xmlns:a="http://schemas.openxmlformats.org/drawingml/2006/main" prst="roundRect">
            <a:avLst>
              <a:gd name="adj" fmla="val 50000"/>
            </a:avLst>
          </a:prstGeom>
          <a:solidFill xmlns:a="http://schemas.openxmlformats.org/drawingml/2006/main">
            <a:srgbClr val="FF6F61">
              <a:alpha val="13333"/>
            </a:srgbClr>
          </a:solidFill>
          <a:ln xmlns:a="http://schemas.openxmlformats.org/drawingml/2006/main" w="0">
            <a:solidFill>
              <a:srgbClr val="FF6F61">
                <a:alpha val="13333"/>
              </a:srgbClr>
            </a:solidFill>
            <a:prstDash val="solid"/>
          </a:ln>
        </p:spPr>
      </p:sp>
      <p:sp>
        <p:nvSpPr>
          <p:cNvPr id="28" name="">
            <a:extLst xmlns:a="http://schemas.openxmlformats.org/drawingml/2006/main">
              <a:ext uri="{FF2B5EF4-FFF2-40B4-BE49-F238E27FC236}">
                <a16:creationId xmlns:a16="http://schemas.microsoft.com/office/drawing/2014/main" id="{86B39292-57E7-401B-8D6F-7C98D28F0EF7}"/>
              </a:ext>
            </a:extLst>
          </p:cNvPr>
          <p:cNvSpPr>
            <a:spLocks xmlns:a="http://schemas.openxmlformats.org/drawingml/2006/main" noGrp="1"/>
          </p:cNvSpPr>
          <p:nvPr/>
        </p:nvSpPr>
        <p:spPr>
          <a:xfrm xmlns:a="http://schemas.openxmlformats.org/drawingml/2006/main">
            <a:off x="6172200" y="1809750"/>
            <a:ext cx="6286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825" b="1">
                <a:solidFill>
                  <a:srgbClr val="FF6F61"/>
                </a:solidFill>
                <a:latin typeface="Aptos"/>
                <a:ea typeface="Aptos"/>
                <a:cs typeface="Aptos"/>
              </a:defRPr>
            </a:pPr>
            <a:r>
              <a:rPr sz="825" b="1">
                <a:solidFill>
                  <a:srgbClr val="FF6F61"/>
                </a:solidFill>
                <a:latin typeface="Aptos"/>
                <a:ea typeface="Aptos"/>
                <a:cs typeface="Aptos"/>
              </a:rPr>
              <a:t>BLOCKER</a:t>
            </a:r>
          </a:p>
        </p:txBody>
      </p:sp>
      <p:sp>
        <p:nvSpPr>
          <p:cNvPr id="29" name="">
            <a:extLst xmlns:a="http://schemas.openxmlformats.org/drawingml/2006/main">
              <a:ext uri="{FF2B5EF4-FFF2-40B4-BE49-F238E27FC236}">
                <a16:creationId xmlns:a16="http://schemas.microsoft.com/office/drawing/2014/main" id="{DDF389DF-C36C-45B3-A0CE-7D51482E7722}"/>
              </a:ext>
            </a:extLst>
          </p:cNvPr>
          <p:cNvSpPr>
            <a:spLocks xmlns:a="http://schemas.openxmlformats.org/drawingml/2006/main" noGrp="1"/>
          </p:cNvSpPr>
          <p:nvPr/>
        </p:nvSpPr>
        <p:spPr>
          <a:xfrm xmlns:a="http://schemas.openxmlformats.org/drawingml/2006/main">
            <a:off x="6076950" y="2238375"/>
            <a:ext cx="21812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879"/>
          </a:bodyPr>
          <a:lstStyle xmlns:a="http://schemas.openxmlformats.org/drawingml/2006/main"/>
          <a:p xmlns:a="http://schemas.openxmlformats.org/drawingml/2006/main">
            <a:pPr algn="l">
              <a:lnSpc>
                <a:spcPct val="105000"/>
              </a:lnSpc>
              <a:buNone/>
              <a:defRPr sz="1950" b="1">
                <a:solidFill>
                  <a:srgbClr val="101827"/>
                </a:solidFill>
                <a:latin typeface="Aptos Display"/>
                <a:ea typeface="Aptos Display"/>
                <a:cs typeface="Aptos Display"/>
              </a:defRPr>
            </a:pPr>
            <a:r>
              <a:rPr sz="1950" b="1">
                <a:solidFill>
                  <a:srgbClr val="101827"/>
                </a:solidFill>
                <a:latin typeface="Aptos Display"/>
                <a:ea typeface="Aptos Display"/>
                <a:cs typeface="Aptos Display"/>
              </a:rPr>
              <a:t>Player truth is split</a:t>
            </a:r>
          </a:p>
        </p:txBody>
      </p:sp>
      <p:sp>
        <p:nvSpPr>
          <p:cNvPr id="30" name="">
            <a:extLst xmlns:a="http://schemas.openxmlformats.org/drawingml/2006/main">
              <a:ext uri="{FF2B5EF4-FFF2-40B4-BE49-F238E27FC236}">
                <a16:creationId xmlns:a16="http://schemas.microsoft.com/office/drawing/2014/main" id="{B05E882B-277C-433A-B793-D0EB4E68824E}"/>
              </a:ext>
            </a:extLst>
          </p:cNvPr>
          <p:cNvSpPr>
            <a:spLocks xmlns:a="http://schemas.openxmlformats.org/drawingml/2006/main" noGrp="1"/>
          </p:cNvSpPr>
          <p:nvPr/>
        </p:nvSpPr>
        <p:spPr>
          <a:xfrm xmlns:a="http://schemas.openxmlformats.org/drawingml/2006/main">
            <a:off x="6076950" y="2905125"/>
            <a:ext cx="21812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997"/>
          </a:bodyPr>
          <a:lstStyle xmlns:a="http://schemas.openxmlformats.org/drawingml/2006/main"/>
          <a:p xmlns:a="http://schemas.openxmlformats.org/drawingml/2006/main">
            <a:pPr algn="l">
              <a:lnSpc>
                <a:spcPct val="108000"/>
              </a:lnSpc>
              <a:buNone/>
              <a:defRPr sz="1275" b="0">
                <a:solidFill>
                  <a:srgbClr val="626A78"/>
                </a:solidFill>
                <a:latin typeface="Aptos"/>
                <a:ea typeface="Aptos"/>
                <a:cs typeface="Aptos"/>
              </a:defRPr>
            </a:pPr>
            <a:r>
              <a:rPr sz="1275" b="0">
                <a:solidFill>
                  <a:srgbClr val="626A78"/>
                </a:solidFill>
                <a:latin typeface="Aptos"/>
                <a:ea typeface="Aptos"/>
                <a:cs typeface="Aptos"/>
              </a:rPr>
              <a:t>Quest RPCs write user_profiles while key UI reads profiles.</a:t>
            </a:r>
          </a:p>
        </p:txBody>
      </p:sp>
      <p:sp>
        <p:nvSpPr>
          <p:cNvPr id="31" name="">
            <a:extLst xmlns:a="http://schemas.openxmlformats.org/drawingml/2006/main">
              <a:ext uri="{FF2B5EF4-FFF2-40B4-BE49-F238E27FC236}">
                <a16:creationId xmlns:a16="http://schemas.microsoft.com/office/drawing/2014/main" id="{B51C59D8-3EB3-4C70-A4DA-0C816D7BA653}"/>
              </a:ext>
            </a:extLst>
          </p:cNvPr>
          <p:cNvSpPr>
            <a:spLocks xmlns:a="http://schemas.openxmlformats.org/drawingml/2006/main" noGrp="1"/>
          </p:cNvSpPr>
          <p:nvPr/>
        </p:nvSpPr>
        <p:spPr>
          <a:xfrm xmlns:a="http://schemas.openxmlformats.org/drawingml/2006/main">
            <a:off x="8629650" y="1524000"/>
            <a:ext cx="3009900" cy="2133600"/>
          </a:xfrm>
          <a:prstGeom xmlns:a="http://schemas.openxmlformats.org/drawingml/2006/main" prst="roundRect">
            <a:avLst>
              <a:gd name="adj" fmla="val 8929"/>
            </a:avLst>
          </a:prstGeom>
          <a:solidFill xmlns:a="http://schemas.openxmlformats.org/drawingml/2006/main">
            <a:srgbClr val="FFFFFF"/>
          </a:solidFill>
          <a:ln xmlns:a="http://schemas.openxmlformats.org/drawingml/2006/main" w="9525">
            <a:solidFill>
              <a:srgbClr val="E3E7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
            <a:extLst xmlns:a="http://schemas.openxmlformats.org/drawingml/2006/main">
              <a:ext uri="{FF2B5EF4-FFF2-40B4-BE49-F238E27FC236}">
                <a16:creationId xmlns:a16="http://schemas.microsoft.com/office/drawing/2014/main" id="{7054CE20-EA73-4AA1-95C4-C2FADD234F88}"/>
              </a:ext>
            </a:extLst>
          </p:cNvPr>
          <p:cNvSpPr>
            <a:spLocks xmlns:a="http://schemas.openxmlformats.org/drawingml/2006/main" noGrp="1"/>
          </p:cNvSpPr>
          <p:nvPr/>
        </p:nvSpPr>
        <p:spPr>
          <a:xfrm xmlns:a="http://schemas.openxmlformats.org/drawingml/2006/main">
            <a:off x="8629650" y="1524000"/>
            <a:ext cx="66675" cy="2133600"/>
          </a:xfrm>
          <a:prstGeom xmlns:a="http://schemas.openxmlformats.org/drawingml/2006/main" prst="roundRect">
            <a:avLst>
              <a:gd name="adj" fmla="val 0"/>
            </a:avLst>
          </a:prstGeom>
          <a:solidFill xmlns:a="http://schemas.openxmlformats.org/drawingml/2006/main">
            <a:srgbClr val="2563EB"/>
          </a:solidFill>
          <a:ln xmlns:a="http://schemas.openxmlformats.org/drawingml/2006/main" w="0">
            <a:solidFill>
              <a:srgbClr val="2563EB"/>
            </a:solidFill>
            <a:prstDash val="solid"/>
          </a:ln>
        </p:spPr>
      </p:sp>
      <p:sp>
        <p:nvSpPr>
          <p:cNvPr id="33" name="">
            <a:extLst xmlns:a="http://schemas.openxmlformats.org/drawingml/2006/main">
              <a:ext uri="{FF2B5EF4-FFF2-40B4-BE49-F238E27FC236}">
                <a16:creationId xmlns:a16="http://schemas.microsoft.com/office/drawing/2014/main" id="{A4353B60-FEB1-4DAE-AAC8-67436F130942}"/>
              </a:ext>
            </a:extLst>
          </p:cNvPr>
          <p:cNvSpPr>
            <a:spLocks xmlns:a="http://schemas.openxmlformats.org/drawingml/2006/main" noGrp="1"/>
          </p:cNvSpPr>
          <p:nvPr/>
        </p:nvSpPr>
        <p:spPr>
          <a:xfrm xmlns:a="http://schemas.openxmlformats.org/drawingml/2006/main">
            <a:off x="10858500" y="1647825"/>
            <a:ext cx="571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618"/>
          </a:bodyPr>
          <a:lstStyle xmlns:a="http://schemas.openxmlformats.org/drawingml/2006/main"/>
          <a:p xmlns:a="http://schemas.openxmlformats.org/drawingml/2006/main">
            <a:pPr algn="r">
              <a:lnSpc>
                <a:spcPct val="105000"/>
              </a:lnSpc>
              <a:buNone/>
              <a:defRPr sz="3450" b="1">
                <a:solidFill>
                  <a:srgbClr val="EDF0F4"/>
                </a:solidFill>
                <a:latin typeface="Aptos"/>
                <a:ea typeface="Aptos"/>
                <a:cs typeface="Aptos"/>
              </a:defRPr>
            </a:pPr>
            <a:r>
              <a:rPr sz="3450" b="1">
                <a:solidFill>
                  <a:srgbClr val="EDF0F4"/>
                </a:solidFill>
                <a:latin typeface="Aptos"/>
                <a:ea typeface="Aptos"/>
                <a:cs typeface="Aptos"/>
              </a:rPr>
              <a:t>03</a:t>
            </a:r>
          </a:p>
        </p:txBody>
      </p:sp>
      <p:sp>
        <p:nvSpPr>
          <p:cNvPr id="34" name="">
            <a:extLst xmlns:a="http://schemas.openxmlformats.org/drawingml/2006/main">
              <a:ext uri="{FF2B5EF4-FFF2-40B4-BE49-F238E27FC236}">
                <a16:creationId xmlns:a16="http://schemas.microsoft.com/office/drawing/2014/main" id="{BBD85287-4D0B-4170-8D9B-8F3E7E6AFB6F}"/>
              </a:ext>
            </a:extLst>
          </p:cNvPr>
          <p:cNvSpPr>
            <a:spLocks xmlns:a="http://schemas.openxmlformats.org/drawingml/2006/main" noGrp="1"/>
          </p:cNvSpPr>
          <p:nvPr/>
        </p:nvSpPr>
        <p:spPr>
          <a:xfrm xmlns:a="http://schemas.openxmlformats.org/drawingml/2006/main">
            <a:off x="8858250" y="1752600"/>
            <a:ext cx="819150" cy="266700"/>
          </a:xfrm>
          <a:prstGeom xmlns:a="http://schemas.openxmlformats.org/drawingml/2006/main" prst="roundRect">
            <a:avLst>
              <a:gd name="adj" fmla="val 50000"/>
            </a:avLst>
          </a:prstGeom>
          <a:solidFill xmlns:a="http://schemas.openxmlformats.org/drawingml/2006/main">
            <a:srgbClr val="2563EB">
              <a:alpha val="13333"/>
            </a:srgbClr>
          </a:solidFill>
          <a:ln xmlns:a="http://schemas.openxmlformats.org/drawingml/2006/main" w="0">
            <a:solidFill>
              <a:srgbClr val="2563EB">
                <a:alpha val="13333"/>
              </a:srgbClr>
            </a:solidFill>
            <a:prstDash val="solid"/>
          </a:ln>
        </p:spPr>
      </p:sp>
      <p:sp>
        <p:nvSpPr>
          <p:cNvPr id="35" name="">
            <a:extLst xmlns:a="http://schemas.openxmlformats.org/drawingml/2006/main">
              <a:ext uri="{FF2B5EF4-FFF2-40B4-BE49-F238E27FC236}">
                <a16:creationId xmlns:a16="http://schemas.microsoft.com/office/drawing/2014/main" id="{3BA623D9-F932-4DEC-A3A5-ED1EDE0DFAE3}"/>
              </a:ext>
            </a:extLst>
          </p:cNvPr>
          <p:cNvSpPr>
            <a:spLocks xmlns:a="http://schemas.openxmlformats.org/drawingml/2006/main" noGrp="1"/>
          </p:cNvSpPr>
          <p:nvPr/>
        </p:nvSpPr>
        <p:spPr>
          <a:xfrm xmlns:a="http://schemas.openxmlformats.org/drawingml/2006/main">
            <a:off x="8953500" y="1809750"/>
            <a:ext cx="6286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825" b="1">
                <a:solidFill>
                  <a:srgbClr val="2563EB"/>
                </a:solidFill>
                <a:latin typeface="Aptos"/>
                <a:ea typeface="Aptos"/>
                <a:cs typeface="Aptos"/>
              </a:defRPr>
            </a:pPr>
            <a:r>
              <a:rPr sz="825" b="1">
                <a:solidFill>
                  <a:srgbClr val="2563EB"/>
                </a:solidFill>
                <a:latin typeface="Aptos"/>
                <a:ea typeface="Aptos"/>
                <a:cs typeface="Aptos"/>
              </a:rPr>
              <a:t>GAP</a:t>
            </a:r>
          </a:p>
        </p:txBody>
      </p:sp>
      <p:sp>
        <p:nvSpPr>
          <p:cNvPr id="36" name="">
            <a:extLst xmlns:a="http://schemas.openxmlformats.org/drawingml/2006/main">
              <a:ext uri="{FF2B5EF4-FFF2-40B4-BE49-F238E27FC236}">
                <a16:creationId xmlns:a16="http://schemas.microsoft.com/office/drawing/2014/main" id="{2DD8CAF4-B46C-4F36-878C-598CDF6958E2}"/>
              </a:ext>
            </a:extLst>
          </p:cNvPr>
          <p:cNvSpPr>
            <a:spLocks xmlns:a="http://schemas.openxmlformats.org/drawingml/2006/main" noGrp="1"/>
          </p:cNvSpPr>
          <p:nvPr/>
        </p:nvSpPr>
        <p:spPr>
          <a:xfrm xmlns:a="http://schemas.openxmlformats.org/drawingml/2006/main">
            <a:off x="8858250" y="2238375"/>
            <a:ext cx="25527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680"/>
          </a:bodyPr>
          <a:lstStyle xmlns:a="http://schemas.openxmlformats.org/drawingml/2006/main"/>
          <a:p xmlns:a="http://schemas.openxmlformats.org/drawingml/2006/main">
            <a:pPr algn="l">
              <a:lnSpc>
                <a:spcPct val="105000"/>
              </a:lnSpc>
              <a:buNone/>
              <a:defRPr sz="1950" b="1">
                <a:solidFill>
                  <a:srgbClr val="101827"/>
                </a:solidFill>
                <a:latin typeface="Aptos Display"/>
                <a:ea typeface="Aptos Display"/>
                <a:cs typeface="Aptos Display"/>
              </a:defRPr>
            </a:pPr>
            <a:r>
              <a:rPr sz="1950" b="1">
                <a:solidFill>
                  <a:srgbClr val="101827"/>
                </a:solidFill>
                <a:latin typeface="Aptos Display"/>
                <a:ea typeface="Aptos Display"/>
                <a:cs typeface="Aptos Display"/>
              </a:rPr>
              <a:t>Growth is not observable</a:t>
            </a:r>
          </a:p>
        </p:txBody>
      </p:sp>
      <p:sp>
        <p:nvSpPr>
          <p:cNvPr id="37" name="">
            <a:extLst xmlns:a="http://schemas.openxmlformats.org/drawingml/2006/main">
              <a:ext uri="{FF2B5EF4-FFF2-40B4-BE49-F238E27FC236}">
                <a16:creationId xmlns:a16="http://schemas.microsoft.com/office/drawing/2014/main" id="{1C0F2550-B82A-40EB-B0A9-A186290C30A0}"/>
              </a:ext>
            </a:extLst>
          </p:cNvPr>
          <p:cNvSpPr>
            <a:spLocks xmlns:a="http://schemas.openxmlformats.org/drawingml/2006/main" noGrp="1"/>
          </p:cNvSpPr>
          <p:nvPr/>
        </p:nvSpPr>
        <p:spPr>
          <a:xfrm xmlns:a="http://schemas.openxmlformats.org/drawingml/2006/main">
            <a:off x="8858250" y="2905125"/>
            <a:ext cx="2552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0">
                <a:solidFill>
                  <a:srgbClr val="626A78"/>
                </a:solidFill>
                <a:latin typeface="Aptos"/>
                <a:ea typeface="Aptos"/>
                <a:cs typeface="Aptos"/>
              </a:defRPr>
            </a:pPr>
            <a:r>
              <a:rPr sz="1275" b="0">
                <a:solidFill>
                  <a:srgbClr val="626A78"/>
                </a:solidFill>
                <a:latin typeface="Aptos"/>
                <a:ea typeface="Aptos"/>
                <a:cs typeface="Aptos"/>
              </a:rPr>
              <a:t>Contact simulates success; analytics stay in local storage.</a:t>
            </a:r>
          </a:p>
        </p:txBody>
      </p:sp>
      <p:sp>
        <p:nvSpPr>
          <p:cNvPr id="38" name="">
            <a:extLst xmlns:a="http://schemas.openxmlformats.org/drawingml/2006/main">
              <a:ext uri="{FF2B5EF4-FFF2-40B4-BE49-F238E27FC236}">
                <a16:creationId xmlns:a16="http://schemas.microsoft.com/office/drawing/2014/main" id="{2586B053-4177-405C-9BC8-E5F397AFAFFE}"/>
              </a:ext>
            </a:extLst>
          </p:cNvPr>
          <p:cNvSpPr>
            <a:spLocks xmlns:a="http://schemas.openxmlformats.org/drawingml/2006/main" noGrp="1"/>
          </p:cNvSpPr>
          <p:nvPr/>
        </p:nvSpPr>
        <p:spPr>
          <a:xfrm xmlns:a="http://schemas.openxmlformats.org/drawingml/2006/main">
            <a:off x="3067050" y="3829050"/>
            <a:ext cx="8572500" cy="219075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FE3E9"/>
            </a:solidFill>
            <a:prstDash val="solid"/>
          </a:ln>
        </p:spPr>
      </p:sp>
      <p:sp>
        <p:nvSpPr>
          <p:cNvPr id="39" name="">
            <a:extLst xmlns:a="http://schemas.openxmlformats.org/drawingml/2006/main">
              <a:ext uri="{FF2B5EF4-FFF2-40B4-BE49-F238E27FC236}">
                <a16:creationId xmlns:a16="http://schemas.microsoft.com/office/drawing/2014/main" id="{5A9771DF-0CAD-421E-9DF5-D0DE61DE56FA}"/>
              </a:ext>
            </a:extLst>
          </p:cNvPr>
          <p:cNvSpPr>
            <a:spLocks xmlns:a="http://schemas.openxmlformats.org/drawingml/2006/main" noGrp="1"/>
          </p:cNvSpPr>
          <p:nvPr/>
        </p:nvSpPr>
        <p:spPr>
          <a:xfrm xmlns:a="http://schemas.openxmlformats.org/drawingml/2006/main">
            <a:off x="3333750" y="409575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2563EB"/>
                </a:solidFill>
                <a:latin typeface="Aptos"/>
                <a:ea typeface="Aptos"/>
                <a:cs typeface="Aptos"/>
              </a:defRPr>
            </a:pPr>
            <a:r>
              <a:rPr sz="825" b="1">
                <a:solidFill>
                  <a:srgbClr val="2563EB"/>
                </a:solidFill>
                <a:latin typeface="Aptos"/>
                <a:ea typeface="Aptos"/>
                <a:cs typeface="Aptos"/>
              </a:rPr>
              <a:t>THE RECOMMENDATION</a:t>
            </a:r>
          </a:p>
        </p:txBody>
      </p:sp>
      <p:sp>
        <p:nvSpPr>
          <p:cNvPr id="40" name="">
            <a:extLst xmlns:a="http://schemas.openxmlformats.org/drawingml/2006/main">
              <a:ext uri="{FF2B5EF4-FFF2-40B4-BE49-F238E27FC236}">
                <a16:creationId xmlns:a16="http://schemas.microsoft.com/office/drawing/2014/main" id="{28439202-2C34-4F69-B45D-A9D073575148}"/>
              </a:ext>
            </a:extLst>
          </p:cNvPr>
          <p:cNvSpPr>
            <a:spLocks xmlns:a="http://schemas.openxmlformats.org/drawingml/2006/main" noGrp="1"/>
          </p:cNvSpPr>
          <p:nvPr/>
        </p:nvSpPr>
        <p:spPr>
          <a:xfrm xmlns:a="http://schemas.openxmlformats.org/drawingml/2006/main">
            <a:off x="3333750" y="4476750"/>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850" b="1">
                <a:solidFill>
                  <a:srgbClr val="101827"/>
                </a:solidFill>
                <a:latin typeface="Aptos Display"/>
                <a:ea typeface="Aptos Display"/>
                <a:cs typeface="Aptos Display"/>
              </a:defRPr>
            </a:pPr>
            <a:r>
              <a:rPr sz="2850" b="1">
                <a:solidFill>
                  <a:srgbClr val="101827"/>
                </a:solidFill>
                <a:latin typeface="Aptos Display"/>
                <a:ea typeface="Aptos Display"/>
                <a:cs typeface="Aptos Display"/>
              </a:rPr>
              <a:t>Do not add feature scope.</a:t>
            </a:r>
          </a:p>
        </p:txBody>
      </p:sp>
      <p:sp>
        <p:nvSpPr>
          <p:cNvPr id="41" name="">
            <a:extLst xmlns:a="http://schemas.openxmlformats.org/drawingml/2006/main">
              <a:ext uri="{FF2B5EF4-FFF2-40B4-BE49-F238E27FC236}">
                <a16:creationId xmlns:a16="http://schemas.microsoft.com/office/drawing/2014/main" id="{9AC22597-9629-49FB-9C06-C94307CE9887}"/>
              </a:ext>
            </a:extLst>
          </p:cNvPr>
          <p:cNvSpPr>
            <a:spLocks xmlns:a="http://schemas.openxmlformats.org/drawingml/2006/main" noGrp="1"/>
          </p:cNvSpPr>
          <p:nvPr/>
        </p:nvSpPr>
        <p:spPr>
          <a:xfrm xmlns:a="http://schemas.openxmlformats.org/drawingml/2006/main">
            <a:off x="3333750" y="5067300"/>
            <a:ext cx="77152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0">
                <a:solidFill>
                  <a:srgbClr val="626A78"/>
                </a:solidFill>
                <a:latin typeface="Aptos"/>
                <a:ea typeface="Aptos"/>
                <a:cs typeface="Aptos"/>
              </a:defRPr>
            </a:pPr>
            <a:r>
              <a:rPr sz="1350" b="0">
                <a:solidFill>
                  <a:srgbClr val="626A78"/>
                </a:solidFill>
                <a:latin typeface="Aptos"/>
                <a:ea typeface="Aptos"/>
                <a:cs typeface="Aptos"/>
              </a:rPr>
              <a:t>Run a stabilization sprint: restore the backend, consolidate progression, complete one measured real-world loop, then prove repeat behavior with a dense closed pilot.</a:t>
            </a:r>
          </a:p>
        </p:txBody>
      </p:sp>
    </p:spTree>
    <p:extLst>
      <p:ext uri="{BB962C8B-B14F-4D97-AF65-F5344CB8AC3E}">
        <p14:creationId xmlns:p14="http://schemas.microsoft.com/office/powerpoint/2010/main" val="1777839648"/>
      </p:ext>
    </p:extLst>
  </p:cSld>
</p:sld>
</file>

<file path=ppt/slides/slide3.xml><?xml version="1.0" encoding="utf-8"?>
<p:sld xmlns:p="http://schemas.openxmlformats.org/presentationml/2006/main">
  <p:cSld>
    <p:bg>
      <p:bgPr>
        <a:solidFill xmlns:a="http://schemas.openxmlformats.org/drawingml/2006/main">
          <a:srgbClr val="0D1321"/>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7CF86C90-24B7-4CC2-9D70-357CD55F7518}"/>
              </a:ext>
            </a:extLst>
          </p:cNvPr>
          <p:cNvSpPr>
            <a:spLocks xmlns:a="http://schemas.openxmlformats.org/drawingml/2006/main" noGrp="1"/>
          </p:cNvSpPr>
          <p:nvPr/>
        </p:nvSpPr>
        <p:spPr>
          <a:xfrm xmlns:a="http://schemas.openxmlformats.org/drawingml/2006/main">
            <a:off x="552450" y="419100"/>
            <a:ext cx="514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a:solidFill>
                  <a:srgbClr val="F2B94B"/>
                </a:solidFill>
                <a:latin typeface="Aptos"/>
                <a:ea typeface="Aptos"/>
                <a:cs typeface="Aptos"/>
              </a:defRPr>
            </a:pPr>
            <a:r>
              <a:rPr sz="900" b="1">
                <a:solidFill>
                  <a:srgbClr val="F2B94B"/>
                </a:solidFill>
                <a:latin typeface="Aptos"/>
                <a:ea typeface="Aptos"/>
                <a:cs typeface="Aptos"/>
              </a:rPr>
              <a:t>03</a:t>
            </a:r>
          </a:p>
        </p:txBody>
      </p:sp>
      <p:sp>
        <p:nvSpPr>
          <p:cNvPr id="2" name="">
            <a:extLst xmlns:a="http://schemas.openxmlformats.org/drawingml/2006/main">
              <a:ext uri="{FF2B5EF4-FFF2-40B4-BE49-F238E27FC236}">
                <a16:creationId xmlns:a16="http://schemas.microsoft.com/office/drawing/2014/main" id="{730E7577-49FE-4A0D-962C-8CB48F40A5BC}"/>
              </a:ext>
            </a:extLst>
          </p:cNvPr>
          <p:cNvSpPr>
            <a:spLocks xmlns:a="http://schemas.openxmlformats.org/drawingml/2006/main" noGrp="1"/>
          </p:cNvSpPr>
          <p:nvPr/>
        </p:nvSpPr>
        <p:spPr>
          <a:xfrm xmlns:a="http://schemas.openxmlformats.org/drawingml/2006/main">
            <a:off x="1104900" y="542925"/>
            <a:ext cx="476250" cy="0"/>
          </a:xfrm>
          <a:prstGeom xmlns:a="http://schemas.openxmlformats.org/drawingml/2006/main" prst="line">
            <a:avLst/>
          </a:prstGeom>
          <a:noFill xmlns:a="http://schemas.openxmlformats.org/drawingml/2006/main"/>
          <a:ln xmlns:a="http://schemas.openxmlformats.org/drawingml/2006/main" w="9525">
            <a:solidFill>
              <a:srgbClr val="425066"/>
            </a:solidFill>
            <a:prstDash val="solid"/>
          </a:ln>
        </p:spPr>
      </p:sp>
      <p:sp>
        <p:nvSpPr>
          <p:cNvPr id="3" name="">
            <a:extLst xmlns:a="http://schemas.openxmlformats.org/drawingml/2006/main">
              <a:ext uri="{FF2B5EF4-FFF2-40B4-BE49-F238E27FC236}">
                <a16:creationId xmlns:a16="http://schemas.microsoft.com/office/drawing/2014/main" id="{9D3A6CDE-992A-492C-8147-3A5B19694F5D}"/>
              </a:ext>
            </a:extLst>
          </p:cNvPr>
          <p:cNvSpPr>
            <a:spLocks xmlns:a="http://schemas.openxmlformats.org/drawingml/2006/main" noGrp="1"/>
          </p:cNvSpPr>
          <p:nvPr/>
        </p:nvSpPr>
        <p:spPr>
          <a:xfrm xmlns:a="http://schemas.openxmlformats.org/drawingml/2006/main">
            <a:off x="1733550" y="323850"/>
            <a:ext cx="704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375" b="1">
                <a:solidFill>
                  <a:srgbClr val="FFFFFF"/>
                </a:solidFill>
                <a:latin typeface="Aptos Display"/>
                <a:ea typeface="Aptos Display"/>
                <a:cs typeface="Aptos Display"/>
              </a:defRPr>
            </a:pPr>
            <a:r>
              <a:rPr sz="3375" b="1">
                <a:solidFill>
                  <a:srgbClr val="FFFFFF"/>
                </a:solidFill>
                <a:latin typeface="Aptos Display"/>
                <a:ea typeface="Aptos Display"/>
                <a:cs typeface="Aptos Display"/>
              </a:rPr>
              <a:t>Architecture today</a:t>
            </a:r>
          </a:p>
        </p:txBody>
      </p:sp>
      <p:sp>
        <p:nvSpPr>
          <p:cNvPr id="4" name="">
            <a:extLst xmlns:a="http://schemas.openxmlformats.org/drawingml/2006/main">
              <a:ext uri="{FF2B5EF4-FFF2-40B4-BE49-F238E27FC236}">
                <a16:creationId xmlns:a16="http://schemas.microsoft.com/office/drawing/2014/main" id="{A4298923-B657-4204-A647-CAE9E8E184BB}"/>
              </a:ext>
            </a:extLst>
          </p:cNvPr>
          <p:cNvSpPr>
            <a:spLocks xmlns:a="http://schemas.openxmlformats.org/drawingml/2006/main" noGrp="1"/>
          </p:cNvSpPr>
          <p:nvPr/>
        </p:nvSpPr>
        <p:spPr>
          <a:xfrm xmlns:a="http://schemas.openxmlformats.org/drawingml/2006/main">
            <a:off x="1752600" y="866775"/>
            <a:ext cx="7715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0">
                <a:solidFill>
                  <a:srgbClr val="AEB7C6"/>
                </a:solidFill>
                <a:latin typeface="Aptos"/>
                <a:ea typeface="Aptos"/>
                <a:cs typeface="Aptos"/>
              </a:defRPr>
            </a:pPr>
            <a:r>
              <a:rPr sz="1350" b="0">
                <a:solidFill>
                  <a:srgbClr val="AEB7C6"/>
                </a:solidFill>
                <a:latin typeface="Aptos"/>
                <a:ea typeface="Aptos"/>
                <a:cs typeface="Aptos"/>
              </a:rPr>
              <a:t>A clean MVP stack with a repository boundary—and one dangerous data seam.</a:t>
            </a:r>
          </a:p>
        </p:txBody>
      </p:sp>
      <p:sp>
        <p:nvSpPr>
          <p:cNvPr id="5" name="">
            <a:extLst xmlns:a="http://schemas.openxmlformats.org/drawingml/2006/main">
              <a:ext uri="{FF2B5EF4-FFF2-40B4-BE49-F238E27FC236}">
                <a16:creationId xmlns:a16="http://schemas.microsoft.com/office/drawing/2014/main" id="{3EFCE037-CD6F-4DBD-B190-5AF970B7897D}"/>
              </a:ext>
            </a:extLst>
          </p:cNvPr>
          <p:cNvSpPr>
            <a:spLocks xmlns:a="http://schemas.openxmlformats.org/drawingml/2006/main" noGrp="1"/>
          </p:cNvSpPr>
          <p:nvPr/>
        </p:nvSpPr>
        <p:spPr>
          <a:xfrm xmlns:a="http://schemas.openxmlformats.org/drawingml/2006/main">
            <a:off x="11210925" y="381000"/>
            <a:ext cx="275082" cy="325755"/>
          </a:xfrm>
          <a:prstGeom xmlns:a="http://schemas.openxmlformats.org/drawingml/2006/main" prst="roundRect">
            <a:avLst>
              <a:gd name="adj" fmla="val 47368"/>
            </a:avLst>
          </a:prstGeom>
          <a:noFill xmlns:a="http://schemas.openxmlformats.org/drawingml/2006/main"/>
          <a:ln xmlns:a="http://schemas.openxmlformats.org/drawingml/2006/main" w="28956">
            <a:solidFill>
              <a:srgbClr val="FFFFFF"/>
            </a:solidFill>
            <a:prstDash val="solid"/>
          </a:ln>
        </p:spPr>
      </p:sp>
      <p:sp>
        <p:nvSpPr>
          <p:cNvPr id="6" name="">
            <a:extLst xmlns:a="http://schemas.openxmlformats.org/drawingml/2006/main">
              <a:ext uri="{FF2B5EF4-FFF2-40B4-BE49-F238E27FC236}">
                <a16:creationId xmlns:a16="http://schemas.microsoft.com/office/drawing/2014/main" id="{61430B8B-4A0B-4B36-B714-B0DECC33EB36}"/>
              </a:ext>
            </a:extLst>
          </p:cNvPr>
          <p:cNvSpPr>
            <a:spLocks xmlns:a="http://schemas.openxmlformats.org/drawingml/2006/main" noGrp="1"/>
          </p:cNvSpPr>
          <p:nvPr/>
        </p:nvSpPr>
        <p:spPr>
          <a:xfrm xmlns:a="http://schemas.openxmlformats.org/drawingml/2006/main">
            <a:off x="11247120" y="598170"/>
            <a:ext cx="202692" cy="130302"/>
          </a:xfrm>
          <a:prstGeom xmlns:a="http://schemas.openxmlformats.org/drawingml/2006/main" prst="triangle">
            <a:avLst/>
          </a:prstGeom>
          <a:solidFill xmlns:a="http://schemas.openxmlformats.org/drawingml/2006/main">
            <a:srgbClr val="FFFFFF"/>
          </a:solidFill>
          <a:ln xmlns:a="http://schemas.openxmlformats.org/drawingml/2006/main" w="0">
            <a:solidFill>
              <a:srgbClr val="FFFFFF"/>
            </a:solidFill>
            <a:prstDash val="solid"/>
          </a:ln>
        </p:spPr>
      </p:sp>
      <p:sp>
        <p:nvSpPr>
          <p:cNvPr id="7" name="">
            <a:extLst xmlns:a="http://schemas.openxmlformats.org/drawingml/2006/main">
              <a:ext uri="{FF2B5EF4-FFF2-40B4-BE49-F238E27FC236}">
                <a16:creationId xmlns:a16="http://schemas.microsoft.com/office/drawing/2014/main" id="{D0DB7B56-78C8-4AE4-BB46-BCB8D7FADF41}"/>
              </a:ext>
            </a:extLst>
          </p:cNvPr>
          <p:cNvSpPr>
            <a:spLocks xmlns:a="http://schemas.openxmlformats.org/drawingml/2006/main" noGrp="1"/>
          </p:cNvSpPr>
          <p:nvPr/>
        </p:nvSpPr>
        <p:spPr>
          <a:xfrm xmlns:a="http://schemas.openxmlformats.org/drawingml/2006/main">
            <a:off x="11290554" y="424434"/>
            <a:ext cx="115824" cy="1158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627" b="1">
                <a:solidFill>
                  <a:srgbClr val="FFFFFF"/>
                </a:solidFill>
                <a:latin typeface="Aptos"/>
                <a:ea typeface="Aptos"/>
                <a:cs typeface="Aptos"/>
              </a:defRPr>
            </a:pPr>
            <a:r>
              <a:rPr sz="627" b="1">
                <a:solidFill>
                  <a:srgbClr val="FFFFFF"/>
                </a:solidFill>
                <a:latin typeface="Aptos"/>
                <a:ea typeface="Aptos"/>
                <a:cs typeface="Aptos"/>
              </a:rPr>
              <a:t>✦</a:t>
            </a:r>
          </a:p>
        </p:txBody>
      </p:sp>
      <p:sp>
        <p:nvSpPr>
          <p:cNvPr id="8" name="">
            <a:extLst xmlns:a="http://schemas.openxmlformats.org/drawingml/2006/main">
              <a:ext uri="{FF2B5EF4-FFF2-40B4-BE49-F238E27FC236}">
                <a16:creationId xmlns:a16="http://schemas.microsoft.com/office/drawing/2014/main" id="{50A74685-3A9B-4266-84B0-DFDB04C747F0}"/>
              </a:ext>
            </a:extLst>
          </p:cNvPr>
          <p:cNvSpPr>
            <a:spLocks xmlns:a="http://schemas.openxmlformats.org/drawingml/2006/main" noGrp="1"/>
          </p:cNvSpPr>
          <p:nvPr/>
        </p:nvSpPr>
        <p:spPr>
          <a:xfrm xmlns:a="http://schemas.openxmlformats.org/drawingml/2006/main">
            <a:off x="10144125" y="828675"/>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200" b="1">
                <a:solidFill>
                  <a:srgbClr val="FFFFFF"/>
                </a:solidFill>
                <a:latin typeface="Aptos"/>
                <a:ea typeface="Aptos"/>
                <a:cs typeface="Aptos"/>
              </a:defRPr>
            </a:pPr>
            <a:r>
              <a:rPr sz="1200" b="1">
                <a:solidFill>
                  <a:srgbClr val="FFFFFF"/>
                </a:solidFill>
                <a:latin typeface="Aptos"/>
                <a:ea typeface="Aptos"/>
                <a:cs typeface="Aptos"/>
              </a:rPr>
              <a:t>sidequests</a:t>
            </a:r>
          </a:p>
        </p:txBody>
      </p:sp>
      <p:sp>
        <p:nvSpPr>
          <p:cNvPr id="9" name="">
            <a:extLst xmlns:a="http://schemas.openxmlformats.org/drawingml/2006/main">
              <a:ext uri="{FF2B5EF4-FFF2-40B4-BE49-F238E27FC236}">
                <a16:creationId xmlns:a16="http://schemas.microsoft.com/office/drawing/2014/main" id="{9EEDDFB5-ADB5-442B-8FE0-721097446FC7}"/>
              </a:ext>
            </a:extLst>
          </p:cNvPr>
          <p:cNvSpPr>
            <a:spLocks xmlns:a="http://schemas.openxmlformats.org/drawingml/2006/main" noGrp="1"/>
          </p:cNvSpPr>
          <p:nvPr/>
        </p:nvSpPr>
        <p:spPr>
          <a:xfrm xmlns:a="http://schemas.openxmlformats.org/drawingml/2006/main">
            <a:off x="552450" y="6543675"/>
            <a:ext cx="4000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675" b="0">
                <a:solidFill>
                  <a:srgbClr val="647083"/>
                </a:solidFill>
                <a:latin typeface="Aptos"/>
                <a:ea typeface="Aptos"/>
                <a:cs typeface="Aptos"/>
              </a:defRPr>
            </a:pPr>
            <a:r>
              <a:rPr sz="675" b="0">
                <a:solidFill>
                  <a:srgbClr val="647083"/>
                </a:solidFill>
                <a:latin typeface="Aptos"/>
                <a:ea typeface="Aptos"/>
                <a:cs typeface="Aptos"/>
              </a:rPr>
              <a:t>Development &amp; launch readiness · 12 Aug 2026</a:t>
            </a:r>
          </a:p>
        </p:txBody>
      </p:sp>
      <p:sp>
        <p:nvSpPr>
          <p:cNvPr id="10" name="">
            <a:extLst xmlns:a="http://schemas.openxmlformats.org/drawingml/2006/main">
              <a:ext uri="{FF2B5EF4-FFF2-40B4-BE49-F238E27FC236}">
                <a16:creationId xmlns:a16="http://schemas.microsoft.com/office/drawing/2014/main" id="{2FC884D1-8CE8-4EE5-8304-9E5109A0C32C}"/>
              </a:ext>
            </a:extLst>
          </p:cNvPr>
          <p:cNvSpPr>
            <a:spLocks xmlns:a="http://schemas.openxmlformats.org/drawingml/2006/main" noGrp="1"/>
          </p:cNvSpPr>
          <p:nvPr/>
        </p:nvSpPr>
        <p:spPr>
          <a:xfrm xmlns:a="http://schemas.openxmlformats.org/drawingml/2006/main">
            <a:off x="11239500" y="6543675"/>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675" b="0">
                <a:solidFill>
                  <a:srgbClr val="647083"/>
                </a:solidFill>
                <a:latin typeface="Aptos"/>
                <a:ea typeface="Aptos"/>
                <a:cs typeface="Aptos"/>
              </a:defRPr>
            </a:pPr>
            <a:r>
              <a:rPr sz="675" b="0">
                <a:solidFill>
                  <a:srgbClr val="647083"/>
                </a:solidFill>
                <a:latin typeface="Aptos"/>
                <a:ea typeface="Aptos"/>
                <a:cs typeface="Aptos"/>
              </a:rPr>
              <a:t>3</a:t>
            </a:r>
          </a:p>
        </p:txBody>
      </p:sp>
      <p:sp>
        <p:nvSpPr>
          <p:cNvPr id="11" name="">
            <a:extLst xmlns:a="http://schemas.openxmlformats.org/drawingml/2006/main">
              <a:ext uri="{FF2B5EF4-FFF2-40B4-BE49-F238E27FC236}">
                <a16:creationId xmlns:a16="http://schemas.microsoft.com/office/drawing/2014/main" id="{D14A318C-4197-4BDB-A9E7-8B3CA7D5B01A}"/>
              </a:ext>
            </a:extLst>
          </p:cNvPr>
          <p:cNvSpPr>
            <a:spLocks xmlns:a="http://schemas.openxmlformats.org/drawingml/2006/main" noGrp="1"/>
          </p:cNvSpPr>
          <p:nvPr/>
        </p:nvSpPr>
        <p:spPr>
          <a:xfrm xmlns:a="http://schemas.openxmlformats.org/drawingml/2006/main">
            <a:off x="666750" y="156210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2563EB"/>
                </a:solidFill>
                <a:latin typeface="Aptos"/>
                <a:ea typeface="Aptos"/>
                <a:cs typeface="Aptos"/>
              </a:defRPr>
            </a:pPr>
            <a:r>
              <a:rPr sz="825" b="1">
                <a:solidFill>
                  <a:srgbClr val="2563EB"/>
                </a:solidFill>
                <a:latin typeface="Aptos"/>
                <a:ea typeface="Aptos"/>
                <a:cs typeface="Aptos"/>
              </a:rPr>
              <a:t>EXPERIENCE</a:t>
            </a:r>
          </a:p>
        </p:txBody>
      </p:sp>
      <p:sp>
        <p:nvSpPr>
          <p:cNvPr id="12" name="">
            <a:extLst xmlns:a="http://schemas.openxmlformats.org/drawingml/2006/main">
              <a:ext uri="{FF2B5EF4-FFF2-40B4-BE49-F238E27FC236}">
                <a16:creationId xmlns:a16="http://schemas.microsoft.com/office/drawing/2014/main" id="{485C3315-ECD9-4480-AFAF-2A189FCDA0CF}"/>
              </a:ext>
            </a:extLst>
          </p:cNvPr>
          <p:cNvSpPr>
            <a:spLocks xmlns:a="http://schemas.openxmlformats.org/drawingml/2006/main" noGrp="1"/>
          </p:cNvSpPr>
          <p:nvPr/>
        </p:nvSpPr>
        <p:spPr>
          <a:xfrm xmlns:a="http://schemas.openxmlformats.org/drawingml/2006/main">
            <a:off x="666750" y="1895475"/>
            <a:ext cx="2857500" cy="971550"/>
          </a:xfrm>
          <a:prstGeom xmlns:a="http://schemas.openxmlformats.org/drawingml/2006/main" prst="roundRect">
            <a:avLst>
              <a:gd name="adj" fmla="val 15686"/>
            </a:avLst>
          </a:prstGeom>
          <a:solidFill xmlns:a="http://schemas.openxmlformats.org/drawingml/2006/main">
            <a:srgbClr val="182234"/>
          </a:solidFill>
          <a:ln xmlns:a="http://schemas.openxmlformats.org/drawingml/2006/main" w="9525">
            <a:solidFill>
              <a:srgbClr val="2A374A"/>
            </a:solidFill>
            <a:prstDash val="solid"/>
          </a:ln>
        </p:spPr>
      </p:sp>
      <p:sp>
        <p:nvSpPr>
          <p:cNvPr id="13" name="">
            <a:extLst xmlns:a="http://schemas.openxmlformats.org/drawingml/2006/main">
              <a:ext uri="{FF2B5EF4-FFF2-40B4-BE49-F238E27FC236}">
                <a16:creationId xmlns:a16="http://schemas.microsoft.com/office/drawing/2014/main" id="{D4CF9768-1025-49A3-A919-1FC2219A57A8}"/>
              </a:ext>
            </a:extLst>
          </p:cNvPr>
          <p:cNvSpPr>
            <a:spLocks xmlns:a="http://schemas.openxmlformats.org/drawingml/2006/main" noGrp="1"/>
          </p:cNvSpPr>
          <p:nvPr/>
        </p:nvSpPr>
        <p:spPr>
          <a:xfrm xmlns:a="http://schemas.openxmlformats.org/drawingml/2006/main">
            <a:off x="838200" y="2085975"/>
            <a:ext cx="85725" cy="5905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4" name="">
            <a:extLst xmlns:a="http://schemas.openxmlformats.org/drawingml/2006/main">
              <a:ext uri="{FF2B5EF4-FFF2-40B4-BE49-F238E27FC236}">
                <a16:creationId xmlns:a16="http://schemas.microsoft.com/office/drawing/2014/main" id="{810A3037-5AAC-465C-8C95-41DA04DF74EC}"/>
              </a:ext>
            </a:extLst>
          </p:cNvPr>
          <p:cNvSpPr>
            <a:spLocks xmlns:a="http://schemas.openxmlformats.org/drawingml/2006/main" noGrp="1"/>
          </p:cNvSpPr>
          <p:nvPr/>
        </p:nvSpPr>
        <p:spPr>
          <a:xfrm xmlns:a="http://schemas.openxmlformats.org/drawingml/2006/main">
            <a:off x="1095375" y="2057400"/>
            <a:ext cx="2152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FFFFFF"/>
                </a:solidFill>
                <a:latin typeface="Aptos Display"/>
                <a:ea typeface="Aptos Display"/>
                <a:cs typeface="Aptos Display"/>
              </a:defRPr>
            </a:pPr>
            <a:r>
              <a:rPr sz="1500" b="1">
                <a:solidFill>
                  <a:srgbClr val="FFFFFF"/>
                </a:solidFill>
                <a:latin typeface="Aptos Display"/>
                <a:ea typeface="Aptos Display"/>
                <a:cs typeface="Aptos Display"/>
              </a:rPr>
              <a:t>Vite + React SPA</a:t>
            </a:r>
          </a:p>
        </p:txBody>
      </p:sp>
      <p:sp>
        <p:nvSpPr>
          <p:cNvPr id="15" name="">
            <a:extLst xmlns:a="http://schemas.openxmlformats.org/drawingml/2006/main">
              <a:ext uri="{FF2B5EF4-FFF2-40B4-BE49-F238E27FC236}">
                <a16:creationId xmlns:a16="http://schemas.microsoft.com/office/drawing/2014/main" id="{C69183BA-FA4F-4033-A71A-65E8AEF282EE}"/>
              </a:ext>
            </a:extLst>
          </p:cNvPr>
          <p:cNvSpPr>
            <a:spLocks xmlns:a="http://schemas.openxmlformats.org/drawingml/2006/main" noGrp="1"/>
          </p:cNvSpPr>
          <p:nvPr/>
        </p:nvSpPr>
        <p:spPr>
          <a:xfrm xmlns:a="http://schemas.openxmlformats.org/drawingml/2006/main">
            <a:off x="1095375" y="2390775"/>
            <a:ext cx="2190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l">
              <a:lnSpc>
                <a:spcPct val="105000"/>
              </a:lnSpc>
              <a:buNone/>
              <a:defRPr sz="1050" b="0">
                <a:solidFill>
                  <a:srgbClr val="9DA8B8"/>
                </a:solidFill>
                <a:latin typeface="Aptos"/>
                <a:ea typeface="Aptos"/>
                <a:cs typeface="Aptos"/>
              </a:defRPr>
            </a:pPr>
            <a:r>
              <a:rPr sz="1050" b="0">
                <a:solidFill>
                  <a:srgbClr val="9DA8B8"/>
                </a:solidFill>
                <a:latin typeface="Aptos"/>
                <a:ea typeface="Aptos"/>
                <a:cs typeface="Aptos"/>
              </a:rPr>
              <a:t>Marketing, onboarding and app routes</a:t>
            </a:r>
          </a:p>
        </p:txBody>
      </p:sp>
      <p:sp>
        <p:nvSpPr>
          <p:cNvPr id="16" name="">
            <a:extLst xmlns:a="http://schemas.openxmlformats.org/drawingml/2006/main">
              <a:ext uri="{FF2B5EF4-FFF2-40B4-BE49-F238E27FC236}">
                <a16:creationId xmlns:a16="http://schemas.microsoft.com/office/drawing/2014/main" id="{9437566F-6C56-4143-A6DE-20B6D743D689}"/>
              </a:ext>
            </a:extLst>
          </p:cNvPr>
          <p:cNvSpPr>
            <a:spLocks xmlns:a="http://schemas.openxmlformats.org/drawingml/2006/main" noGrp="1"/>
          </p:cNvSpPr>
          <p:nvPr/>
        </p:nvSpPr>
        <p:spPr>
          <a:xfrm xmlns:a="http://schemas.openxmlformats.org/drawingml/2006/main">
            <a:off x="666750" y="3076575"/>
            <a:ext cx="2857500" cy="971550"/>
          </a:xfrm>
          <a:prstGeom xmlns:a="http://schemas.openxmlformats.org/drawingml/2006/main" prst="roundRect">
            <a:avLst>
              <a:gd name="adj" fmla="val 15686"/>
            </a:avLst>
          </a:prstGeom>
          <a:solidFill xmlns:a="http://schemas.openxmlformats.org/drawingml/2006/main">
            <a:srgbClr val="182234"/>
          </a:solidFill>
          <a:ln xmlns:a="http://schemas.openxmlformats.org/drawingml/2006/main" w="9525">
            <a:solidFill>
              <a:srgbClr val="2A374A"/>
            </a:solidFill>
            <a:prstDash val="solid"/>
          </a:ln>
        </p:spPr>
      </p:sp>
      <p:sp>
        <p:nvSpPr>
          <p:cNvPr id="17" name="">
            <a:extLst xmlns:a="http://schemas.openxmlformats.org/drawingml/2006/main">
              <a:ext uri="{FF2B5EF4-FFF2-40B4-BE49-F238E27FC236}">
                <a16:creationId xmlns:a16="http://schemas.microsoft.com/office/drawing/2014/main" id="{7DC23E30-22D3-428A-BCF8-E4F5AD442AFF}"/>
              </a:ext>
            </a:extLst>
          </p:cNvPr>
          <p:cNvSpPr>
            <a:spLocks xmlns:a="http://schemas.openxmlformats.org/drawingml/2006/main" noGrp="1"/>
          </p:cNvSpPr>
          <p:nvPr/>
        </p:nvSpPr>
        <p:spPr>
          <a:xfrm xmlns:a="http://schemas.openxmlformats.org/drawingml/2006/main">
            <a:off x="838200" y="3267075"/>
            <a:ext cx="85725" cy="5905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8" name="">
            <a:extLst xmlns:a="http://schemas.openxmlformats.org/drawingml/2006/main">
              <a:ext uri="{FF2B5EF4-FFF2-40B4-BE49-F238E27FC236}">
                <a16:creationId xmlns:a16="http://schemas.microsoft.com/office/drawing/2014/main" id="{C030639D-CE9E-4A2D-AC14-028DAECE449B}"/>
              </a:ext>
            </a:extLst>
          </p:cNvPr>
          <p:cNvSpPr>
            <a:spLocks xmlns:a="http://schemas.openxmlformats.org/drawingml/2006/main" noGrp="1"/>
          </p:cNvSpPr>
          <p:nvPr/>
        </p:nvSpPr>
        <p:spPr>
          <a:xfrm xmlns:a="http://schemas.openxmlformats.org/drawingml/2006/main">
            <a:off x="1095375" y="3238500"/>
            <a:ext cx="2152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FFFFFF"/>
                </a:solidFill>
                <a:latin typeface="Aptos Display"/>
                <a:ea typeface="Aptos Display"/>
                <a:cs typeface="Aptos Display"/>
              </a:defRPr>
            </a:pPr>
            <a:r>
              <a:rPr sz="1500" b="1">
                <a:solidFill>
                  <a:srgbClr val="FFFFFF"/>
                </a:solidFill>
                <a:latin typeface="Aptos Display"/>
                <a:ea typeface="Aptos Display"/>
                <a:cs typeface="Aptos Display"/>
              </a:rPr>
              <a:t>Mapbox</a:t>
            </a:r>
          </a:p>
        </p:txBody>
      </p:sp>
      <p:sp>
        <p:nvSpPr>
          <p:cNvPr id="19" name="">
            <a:extLst xmlns:a="http://schemas.openxmlformats.org/drawingml/2006/main">
              <a:ext uri="{FF2B5EF4-FFF2-40B4-BE49-F238E27FC236}">
                <a16:creationId xmlns:a16="http://schemas.microsoft.com/office/drawing/2014/main" id="{4521EFF9-69A4-46AA-BE8B-02CF7A2AEF31}"/>
              </a:ext>
            </a:extLst>
          </p:cNvPr>
          <p:cNvSpPr>
            <a:spLocks xmlns:a="http://schemas.openxmlformats.org/drawingml/2006/main" noGrp="1"/>
          </p:cNvSpPr>
          <p:nvPr/>
        </p:nvSpPr>
        <p:spPr>
          <a:xfrm xmlns:a="http://schemas.openxmlformats.org/drawingml/2006/main">
            <a:off x="1095375" y="3571875"/>
            <a:ext cx="2190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0">
                <a:solidFill>
                  <a:srgbClr val="9DA8B8"/>
                </a:solidFill>
                <a:latin typeface="Aptos"/>
                <a:ea typeface="Aptos"/>
                <a:cs typeface="Aptos"/>
              </a:defRPr>
            </a:pPr>
            <a:r>
              <a:rPr sz="1050" b="0">
                <a:solidFill>
                  <a:srgbClr val="9DA8B8"/>
                </a:solidFill>
                <a:latin typeface="Aptos"/>
                <a:ea typeface="Aptos"/>
                <a:cs typeface="Aptos"/>
              </a:rPr>
              <a:t>Quest discovery and navigation</a:t>
            </a:r>
          </a:p>
        </p:txBody>
      </p:sp>
      <p:sp>
        <p:nvSpPr>
          <p:cNvPr id="20" name="">
            <a:extLst xmlns:a="http://schemas.openxmlformats.org/drawingml/2006/main">
              <a:ext uri="{FF2B5EF4-FFF2-40B4-BE49-F238E27FC236}">
                <a16:creationId xmlns:a16="http://schemas.microsoft.com/office/drawing/2014/main" id="{B5835D48-95B5-4B3B-BBCF-5E6B61D25CB4}"/>
              </a:ext>
            </a:extLst>
          </p:cNvPr>
          <p:cNvSpPr>
            <a:spLocks xmlns:a="http://schemas.openxmlformats.org/drawingml/2006/main" noGrp="1"/>
          </p:cNvSpPr>
          <p:nvPr/>
        </p:nvSpPr>
        <p:spPr>
          <a:xfrm xmlns:a="http://schemas.openxmlformats.org/drawingml/2006/main">
            <a:off x="4095750" y="156210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F2B94B"/>
                </a:solidFill>
                <a:latin typeface="Aptos"/>
                <a:ea typeface="Aptos"/>
                <a:cs typeface="Aptos"/>
              </a:defRPr>
            </a:pPr>
            <a:r>
              <a:rPr sz="825" b="1">
                <a:solidFill>
                  <a:srgbClr val="F2B94B"/>
                </a:solidFill>
                <a:latin typeface="Aptos"/>
                <a:ea typeface="Aptos"/>
                <a:cs typeface="Aptos"/>
              </a:rPr>
              <a:t>DOMAIN BOUNDARY</a:t>
            </a:r>
          </a:p>
        </p:txBody>
      </p:sp>
      <p:sp>
        <p:nvSpPr>
          <p:cNvPr id="21" name="">
            <a:extLst xmlns:a="http://schemas.openxmlformats.org/drawingml/2006/main">
              <a:ext uri="{FF2B5EF4-FFF2-40B4-BE49-F238E27FC236}">
                <a16:creationId xmlns:a16="http://schemas.microsoft.com/office/drawing/2014/main" id="{C722EC40-0FA1-4CEE-BC56-738F6AE6A5E5}"/>
              </a:ext>
            </a:extLst>
          </p:cNvPr>
          <p:cNvSpPr>
            <a:spLocks xmlns:a="http://schemas.openxmlformats.org/drawingml/2006/main" noGrp="1"/>
          </p:cNvSpPr>
          <p:nvPr/>
        </p:nvSpPr>
        <p:spPr>
          <a:xfrm xmlns:a="http://schemas.openxmlformats.org/drawingml/2006/main">
            <a:off x="4095750" y="1895475"/>
            <a:ext cx="2857500" cy="971550"/>
          </a:xfrm>
          <a:prstGeom xmlns:a="http://schemas.openxmlformats.org/drawingml/2006/main" prst="roundRect">
            <a:avLst>
              <a:gd name="adj" fmla="val 15686"/>
            </a:avLst>
          </a:prstGeom>
          <a:solidFill xmlns:a="http://schemas.openxmlformats.org/drawingml/2006/main">
            <a:srgbClr val="182234"/>
          </a:solidFill>
          <a:ln xmlns:a="http://schemas.openxmlformats.org/drawingml/2006/main" w="9525">
            <a:solidFill>
              <a:srgbClr val="2A374A"/>
            </a:solidFill>
            <a:prstDash val="solid"/>
          </a:ln>
        </p:spPr>
      </p:sp>
      <p:sp>
        <p:nvSpPr>
          <p:cNvPr id="22" name="">
            <a:extLst xmlns:a="http://schemas.openxmlformats.org/drawingml/2006/main">
              <a:ext uri="{FF2B5EF4-FFF2-40B4-BE49-F238E27FC236}">
                <a16:creationId xmlns:a16="http://schemas.microsoft.com/office/drawing/2014/main" id="{0FFADC69-C8F3-44CA-8884-8256172815EB}"/>
              </a:ext>
            </a:extLst>
          </p:cNvPr>
          <p:cNvSpPr>
            <a:spLocks xmlns:a="http://schemas.openxmlformats.org/drawingml/2006/main" noGrp="1"/>
          </p:cNvSpPr>
          <p:nvPr/>
        </p:nvSpPr>
        <p:spPr>
          <a:xfrm xmlns:a="http://schemas.openxmlformats.org/drawingml/2006/main">
            <a:off x="4267200" y="2085975"/>
            <a:ext cx="85725" cy="590550"/>
          </a:xfrm>
          <a:prstGeom xmlns:a="http://schemas.openxmlformats.org/drawingml/2006/main" prst="roundRect">
            <a:avLst>
              <a:gd name="adj" fmla="val 50000"/>
            </a:avLst>
          </a:prstGeom>
          <a:solidFill xmlns:a="http://schemas.openxmlformats.org/drawingml/2006/main">
            <a:srgbClr val="F2B94B"/>
          </a:solidFill>
          <a:ln xmlns:a="http://schemas.openxmlformats.org/drawingml/2006/main" w="0">
            <a:solidFill>
              <a:srgbClr val="F2B94B"/>
            </a:solidFill>
            <a:prstDash val="solid"/>
          </a:ln>
        </p:spPr>
      </p:sp>
      <p:sp>
        <p:nvSpPr>
          <p:cNvPr id="23" name="">
            <a:extLst xmlns:a="http://schemas.openxmlformats.org/drawingml/2006/main">
              <a:ext uri="{FF2B5EF4-FFF2-40B4-BE49-F238E27FC236}">
                <a16:creationId xmlns:a16="http://schemas.microsoft.com/office/drawing/2014/main" id="{AD6D6C0C-480A-4E16-A875-6533D78EF2A9}"/>
              </a:ext>
            </a:extLst>
          </p:cNvPr>
          <p:cNvSpPr>
            <a:spLocks xmlns:a="http://schemas.openxmlformats.org/drawingml/2006/main" noGrp="1"/>
          </p:cNvSpPr>
          <p:nvPr/>
        </p:nvSpPr>
        <p:spPr>
          <a:xfrm xmlns:a="http://schemas.openxmlformats.org/drawingml/2006/main">
            <a:off x="4524375" y="2057400"/>
            <a:ext cx="2152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FFFFFF"/>
                </a:solidFill>
                <a:latin typeface="Aptos Display"/>
                <a:ea typeface="Aptos Display"/>
                <a:cs typeface="Aptos Display"/>
              </a:defRPr>
            </a:pPr>
            <a:r>
              <a:rPr sz="1500" b="1">
                <a:solidFill>
                  <a:srgbClr val="FFFFFF"/>
                </a:solidFill>
                <a:latin typeface="Aptos Display"/>
                <a:ea typeface="Aptos Display"/>
                <a:cs typeface="Aptos Display"/>
              </a:rPr>
              <a:t>Repository interface</a:t>
            </a:r>
          </a:p>
        </p:txBody>
      </p:sp>
      <p:sp>
        <p:nvSpPr>
          <p:cNvPr id="24" name="">
            <a:extLst xmlns:a="http://schemas.openxmlformats.org/drawingml/2006/main">
              <a:ext uri="{FF2B5EF4-FFF2-40B4-BE49-F238E27FC236}">
                <a16:creationId xmlns:a16="http://schemas.microsoft.com/office/drawing/2014/main" id="{827E1E3C-B389-405A-8B9F-D48B00581468}"/>
              </a:ext>
            </a:extLst>
          </p:cNvPr>
          <p:cNvSpPr>
            <a:spLocks xmlns:a="http://schemas.openxmlformats.org/drawingml/2006/main" noGrp="1"/>
          </p:cNvSpPr>
          <p:nvPr/>
        </p:nvSpPr>
        <p:spPr>
          <a:xfrm xmlns:a="http://schemas.openxmlformats.org/drawingml/2006/main">
            <a:off x="4524375" y="2390775"/>
            <a:ext cx="2190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0">
                <a:solidFill>
                  <a:srgbClr val="9DA8B8"/>
                </a:solidFill>
                <a:latin typeface="Aptos"/>
                <a:ea typeface="Aptos"/>
                <a:cs typeface="Aptos"/>
              </a:defRPr>
            </a:pPr>
            <a:r>
              <a:rPr sz="1050" b="0">
                <a:solidFill>
                  <a:srgbClr val="9DA8B8"/>
                </a:solidFill>
                <a:latin typeface="Aptos"/>
                <a:ea typeface="Aptos"/>
                <a:cs typeface="Aptos"/>
              </a:rPr>
              <a:t>Supabase / Local / Mock adapters</a:t>
            </a:r>
          </a:p>
        </p:txBody>
      </p:sp>
      <p:sp>
        <p:nvSpPr>
          <p:cNvPr id="25" name="">
            <a:extLst xmlns:a="http://schemas.openxmlformats.org/drawingml/2006/main">
              <a:ext uri="{FF2B5EF4-FFF2-40B4-BE49-F238E27FC236}">
                <a16:creationId xmlns:a16="http://schemas.microsoft.com/office/drawing/2014/main" id="{FC0EBB9B-7CA1-4966-AB83-2493BA89CF76}"/>
              </a:ext>
            </a:extLst>
          </p:cNvPr>
          <p:cNvSpPr>
            <a:spLocks xmlns:a="http://schemas.openxmlformats.org/drawingml/2006/main" noGrp="1"/>
          </p:cNvSpPr>
          <p:nvPr/>
        </p:nvSpPr>
        <p:spPr>
          <a:xfrm xmlns:a="http://schemas.openxmlformats.org/drawingml/2006/main">
            <a:off x="4095750" y="3076575"/>
            <a:ext cx="2857500" cy="971550"/>
          </a:xfrm>
          <a:prstGeom xmlns:a="http://schemas.openxmlformats.org/drawingml/2006/main" prst="roundRect">
            <a:avLst>
              <a:gd name="adj" fmla="val 15686"/>
            </a:avLst>
          </a:prstGeom>
          <a:solidFill xmlns:a="http://schemas.openxmlformats.org/drawingml/2006/main">
            <a:srgbClr val="182234"/>
          </a:solidFill>
          <a:ln xmlns:a="http://schemas.openxmlformats.org/drawingml/2006/main" w="9525">
            <a:solidFill>
              <a:srgbClr val="2A374A"/>
            </a:solidFill>
            <a:prstDash val="solid"/>
          </a:ln>
        </p:spPr>
      </p:sp>
      <p:sp>
        <p:nvSpPr>
          <p:cNvPr id="26" name="">
            <a:extLst xmlns:a="http://schemas.openxmlformats.org/drawingml/2006/main">
              <a:ext uri="{FF2B5EF4-FFF2-40B4-BE49-F238E27FC236}">
                <a16:creationId xmlns:a16="http://schemas.microsoft.com/office/drawing/2014/main" id="{344E876F-5701-4BAF-819E-7C3482239CC3}"/>
              </a:ext>
            </a:extLst>
          </p:cNvPr>
          <p:cNvSpPr>
            <a:spLocks xmlns:a="http://schemas.openxmlformats.org/drawingml/2006/main" noGrp="1"/>
          </p:cNvSpPr>
          <p:nvPr/>
        </p:nvSpPr>
        <p:spPr>
          <a:xfrm xmlns:a="http://schemas.openxmlformats.org/drawingml/2006/main">
            <a:off x="4267200" y="3267075"/>
            <a:ext cx="85725" cy="590550"/>
          </a:xfrm>
          <a:prstGeom xmlns:a="http://schemas.openxmlformats.org/drawingml/2006/main" prst="roundRect">
            <a:avLst>
              <a:gd name="adj" fmla="val 50000"/>
            </a:avLst>
          </a:prstGeom>
          <a:solidFill xmlns:a="http://schemas.openxmlformats.org/drawingml/2006/main">
            <a:srgbClr val="F2B94B"/>
          </a:solidFill>
          <a:ln xmlns:a="http://schemas.openxmlformats.org/drawingml/2006/main" w="0">
            <a:solidFill>
              <a:srgbClr val="F2B94B"/>
            </a:solidFill>
            <a:prstDash val="solid"/>
          </a:ln>
        </p:spPr>
      </p:sp>
      <p:sp>
        <p:nvSpPr>
          <p:cNvPr id="27" name="">
            <a:extLst xmlns:a="http://schemas.openxmlformats.org/drawingml/2006/main">
              <a:ext uri="{FF2B5EF4-FFF2-40B4-BE49-F238E27FC236}">
                <a16:creationId xmlns:a16="http://schemas.microsoft.com/office/drawing/2014/main" id="{1DAE4BDE-2C06-49B2-8F18-B7A78DE47B93}"/>
              </a:ext>
            </a:extLst>
          </p:cNvPr>
          <p:cNvSpPr>
            <a:spLocks xmlns:a="http://schemas.openxmlformats.org/drawingml/2006/main" noGrp="1"/>
          </p:cNvSpPr>
          <p:nvPr/>
        </p:nvSpPr>
        <p:spPr>
          <a:xfrm xmlns:a="http://schemas.openxmlformats.org/drawingml/2006/main">
            <a:off x="4524375" y="3238500"/>
            <a:ext cx="2152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FFFFFF"/>
                </a:solidFill>
                <a:latin typeface="Aptos Display"/>
                <a:ea typeface="Aptos Display"/>
                <a:cs typeface="Aptos Display"/>
              </a:defRPr>
            </a:pPr>
            <a:r>
              <a:rPr sz="1500" b="1">
                <a:solidFill>
                  <a:srgbClr val="FFFFFF"/>
                </a:solidFill>
                <a:latin typeface="Aptos Display"/>
                <a:ea typeface="Aptos Display"/>
                <a:cs typeface="Aptos Display"/>
              </a:rPr>
              <a:t>Quest + QR routes</a:t>
            </a:r>
          </a:p>
        </p:txBody>
      </p:sp>
      <p:sp>
        <p:nvSpPr>
          <p:cNvPr id="28" name="">
            <a:extLst xmlns:a="http://schemas.openxmlformats.org/drawingml/2006/main">
              <a:ext uri="{FF2B5EF4-FFF2-40B4-BE49-F238E27FC236}">
                <a16:creationId xmlns:a16="http://schemas.microsoft.com/office/drawing/2014/main" id="{E47B4BB5-A248-4793-8194-A72F934A05D0}"/>
              </a:ext>
            </a:extLst>
          </p:cNvPr>
          <p:cNvSpPr>
            <a:spLocks xmlns:a="http://schemas.openxmlformats.org/drawingml/2006/main" noGrp="1"/>
          </p:cNvSpPr>
          <p:nvPr/>
        </p:nvSpPr>
        <p:spPr>
          <a:xfrm xmlns:a="http://schemas.openxmlformats.org/drawingml/2006/main">
            <a:off x="4524375" y="3571875"/>
            <a:ext cx="2190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l">
              <a:lnSpc>
                <a:spcPct val="105000"/>
              </a:lnSpc>
              <a:buNone/>
              <a:defRPr sz="1050" b="0">
                <a:solidFill>
                  <a:srgbClr val="9DA8B8"/>
                </a:solidFill>
                <a:latin typeface="Aptos"/>
                <a:ea typeface="Aptos"/>
                <a:cs typeface="Aptos"/>
              </a:defRPr>
            </a:pPr>
            <a:r>
              <a:rPr sz="1050" b="0">
                <a:solidFill>
                  <a:srgbClr val="9DA8B8"/>
                </a:solidFill>
                <a:latin typeface="Aptos"/>
                <a:ea typeface="Aptos"/>
                <a:cs typeface="Aptos"/>
              </a:rPr>
              <a:t>Deep links, scans, completion and notes</a:t>
            </a:r>
          </a:p>
        </p:txBody>
      </p:sp>
      <p:sp>
        <p:nvSpPr>
          <p:cNvPr id="29" name="">
            <a:extLst xmlns:a="http://schemas.openxmlformats.org/drawingml/2006/main">
              <a:ext uri="{FF2B5EF4-FFF2-40B4-BE49-F238E27FC236}">
                <a16:creationId xmlns:a16="http://schemas.microsoft.com/office/drawing/2014/main" id="{C39F9567-A896-45E9-9D86-F96331EA2CFF}"/>
              </a:ext>
            </a:extLst>
          </p:cNvPr>
          <p:cNvSpPr>
            <a:spLocks xmlns:a="http://schemas.openxmlformats.org/drawingml/2006/main" noGrp="1"/>
          </p:cNvSpPr>
          <p:nvPr/>
        </p:nvSpPr>
        <p:spPr>
          <a:xfrm xmlns:a="http://schemas.openxmlformats.org/drawingml/2006/main">
            <a:off x="7524750" y="156210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2E7D5A"/>
                </a:solidFill>
                <a:latin typeface="Aptos"/>
                <a:ea typeface="Aptos"/>
                <a:cs typeface="Aptos"/>
              </a:defRPr>
            </a:pPr>
            <a:r>
              <a:rPr sz="825" b="1">
                <a:solidFill>
                  <a:srgbClr val="2E7D5A"/>
                </a:solidFill>
                <a:latin typeface="Aptos"/>
                <a:ea typeface="Aptos"/>
                <a:cs typeface="Aptos"/>
              </a:rPr>
              <a:t>DATA + OPERATIONS</a:t>
            </a:r>
          </a:p>
        </p:txBody>
      </p:sp>
      <p:sp>
        <p:nvSpPr>
          <p:cNvPr id="30" name="">
            <a:extLst xmlns:a="http://schemas.openxmlformats.org/drawingml/2006/main">
              <a:ext uri="{FF2B5EF4-FFF2-40B4-BE49-F238E27FC236}">
                <a16:creationId xmlns:a16="http://schemas.microsoft.com/office/drawing/2014/main" id="{A0E1B628-468F-4628-A596-BA1822E93AA6}"/>
              </a:ext>
            </a:extLst>
          </p:cNvPr>
          <p:cNvSpPr>
            <a:spLocks xmlns:a="http://schemas.openxmlformats.org/drawingml/2006/main" noGrp="1"/>
          </p:cNvSpPr>
          <p:nvPr/>
        </p:nvSpPr>
        <p:spPr>
          <a:xfrm xmlns:a="http://schemas.openxmlformats.org/drawingml/2006/main">
            <a:off x="7524750" y="1895475"/>
            <a:ext cx="2857500" cy="971550"/>
          </a:xfrm>
          <a:prstGeom xmlns:a="http://schemas.openxmlformats.org/drawingml/2006/main" prst="roundRect">
            <a:avLst>
              <a:gd name="adj" fmla="val 15686"/>
            </a:avLst>
          </a:prstGeom>
          <a:solidFill xmlns:a="http://schemas.openxmlformats.org/drawingml/2006/main">
            <a:srgbClr val="311C25"/>
          </a:solidFill>
          <a:ln xmlns:a="http://schemas.openxmlformats.org/drawingml/2006/main" w="9525">
            <a:solidFill>
              <a:srgbClr val="773D46"/>
            </a:solidFill>
            <a:prstDash val="solid"/>
          </a:ln>
        </p:spPr>
      </p:sp>
      <p:sp>
        <p:nvSpPr>
          <p:cNvPr id="31" name="">
            <a:extLst xmlns:a="http://schemas.openxmlformats.org/drawingml/2006/main">
              <a:ext uri="{FF2B5EF4-FFF2-40B4-BE49-F238E27FC236}">
                <a16:creationId xmlns:a16="http://schemas.microsoft.com/office/drawing/2014/main" id="{6CEDE0EE-3E3E-418B-91C6-1A175137D0C7}"/>
              </a:ext>
            </a:extLst>
          </p:cNvPr>
          <p:cNvSpPr>
            <a:spLocks xmlns:a="http://schemas.openxmlformats.org/drawingml/2006/main" noGrp="1"/>
          </p:cNvSpPr>
          <p:nvPr/>
        </p:nvSpPr>
        <p:spPr>
          <a:xfrm xmlns:a="http://schemas.openxmlformats.org/drawingml/2006/main">
            <a:off x="7696200" y="2085975"/>
            <a:ext cx="85725" cy="5905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solidFill>
              <a:srgbClr val="FF6F61"/>
            </a:solidFill>
            <a:prstDash val="solid"/>
          </a:ln>
        </p:spPr>
      </p:sp>
      <p:sp>
        <p:nvSpPr>
          <p:cNvPr id="32" name="">
            <a:extLst xmlns:a="http://schemas.openxmlformats.org/drawingml/2006/main">
              <a:ext uri="{FF2B5EF4-FFF2-40B4-BE49-F238E27FC236}">
                <a16:creationId xmlns:a16="http://schemas.microsoft.com/office/drawing/2014/main" id="{D75E4721-0466-4E5E-A791-E7B894983A28}"/>
              </a:ext>
            </a:extLst>
          </p:cNvPr>
          <p:cNvSpPr>
            <a:spLocks xmlns:a="http://schemas.openxmlformats.org/drawingml/2006/main" noGrp="1"/>
          </p:cNvSpPr>
          <p:nvPr/>
        </p:nvSpPr>
        <p:spPr>
          <a:xfrm xmlns:a="http://schemas.openxmlformats.org/drawingml/2006/main">
            <a:off x="7953375" y="2057400"/>
            <a:ext cx="2152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FFFFFF"/>
                </a:solidFill>
                <a:latin typeface="Aptos Display"/>
                <a:ea typeface="Aptos Display"/>
                <a:cs typeface="Aptos Display"/>
              </a:defRPr>
            </a:pPr>
            <a:r>
              <a:rPr sz="1500" b="1">
                <a:solidFill>
                  <a:srgbClr val="FFFFFF"/>
                </a:solidFill>
                <a:latin typeface="Aptos Display"/>
                <a:ea typeface="Aptos Display"/>
                <a:cs typeface="Aptos Display"/>
              </a:rPr>
              <a:t>Supabase</a:t>
            </a:r>
          </a:p>
        </p:txBody>
      </p:sp>
      <p:sp>
        <p:nvSpPr>
          <p:cNvPr id="33" name="">
            <a:extLst xmlns:a="http://schemas.openxmlformats.org/drawingml/2006/main">
              <a:ext uri="{FF2B5EF4-FFF2-40B4-BE49-F238E27FC236}">
                <a16:creationId xmlns:a16="http://schemas.microsoft.com/office/drawing/2014/main" id="{F91380AB-F1E4-4D33-B79C-71590610B590}"/>
              </a:ext>
            </a:extLst>
          </p:cNvPr>
          <p:cNvSpPr>
            <a:spLocks xmlns:a="http://schemas.openxmlformats.org/drawingml/2006/main" noGrp="1"/>
          </p:cNvSpPr>
          <p:nvPr/>
        </p:nvSpPr>
        <p:spPr>
          <a:xfrm xmlns:a="http://schemas.openxmlformats.org/drawingml/2006/main">
            <a:off x="7953375" y="2390775"/>
            <a:ext cx="2190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0">
                <a:solidFill>
                  <a:srgbClr val="9DA8B8"/>
                </a:solidFill>
                <a:latin typeface="Aptos"/>
                <a:ea typeface="Aptos"/>
                <a:cs typeface="Aptos"/>
              </a:defRPr>
            </a:pPr>
            <a:r>
              <a:rPr sz="1050" b="0">
                <a:solidFill>
                  <a:srgbClr val="9DA8B8"/>
                </a:solidFill>
                <a:latin typeface="Aptos"/>
                <a:ea typeface="Aptos"/>
                <a:cs typeface="Aptos"/>
              </a:rPr>
              <a:t>Postgres, Auth, Storage, RPCs, RLS</a:t>
            </a:r>
          </a:p>
        </p:txBody>
      </p:sp>
      <p:sp>
        <p:nvSpPr>
          <p:cNvPr id="34" name="">
            <a:extLst xmlns:a="http://schemas.openxmlformats.org/drawingml/2006/main">
              <a:ext uri="{FF2B5EF4-FFF2-40B4-BE49-F238E27FC236}">
                <a16:creationId xmlns:a16="http://schemas.microsoft.com/office/drawing/2014/main" id="{191C25D6-9AAD-420D-8AA6-33FA9A8D9DA7}"/>
              </a:ext>
            </a:extLst>
          </p:cNvPr>
          <p:cNvSpPr>
            <a:spLocks xmlns:a="http://schemas.openxmlformats.org/drawingml/2006/main" noGrp="1"/>
          </p:cNvSpPr>
          <p:nvPr/>
        </p:nvSpPr>
        <p:spPr>
          <a:xfrm xmlns:a="http://schemas.openxmlformats.org/drawingml/2006/main">
            <a:off x="7524750" y="3076575"/>
            <a:ext cx="2857500" cy="971550"/>
          </a:xfrm>
          <a:prstGeom xmlns:a="http://schemas.openxmlformats.org/drawingml/2006/main" prst="roundRect">
            <a:avLst>
              <a:gd name="adj" fmla="val 15686"/>
            </a:avLst>
          </a:prstGeom>
          <a:solidFill xmlns:a="http://schemas.openxmlformats.org/drawingml/2006/main">
            <a:srgbClr val="311C25"/>
          </a:solidFill>
          <a:ln xmlns:a="http://schemas.openxmlformats.org/drawingml/2006/main" w="9525">
            <a:solidFill>
              <a:srgbClr val="773D46"/>
            </a:solidFill>
            <a:prstDash val="solid"/>
          </a:ln>
        </p:spPr>
      </p:sp>
      <p:sp>
        <p:nvSpPr>
          <p:cNvPr id="35" name="">
            <a:extLst xmlns:a="http://schemas.openxmlformats.org/drawingml/2006/main">
              <a:ext uri="{FF2B5EF4-FFF2-40B4-BE49-F238E27FC236}">
                <a16:creationId xmlns:a16="http://schemas.microsoft.com/office/drawing/2014/main" id="{04D163AF-EE22-442B-88C8-ED5DAAB8D783}"/>
              </a:ext>
            </a:extLst>
          </p:cNvPr>
          <p:cNvSpPr>
            <a:spLocks xmlns:a="http://schemas.openxmlformats.org/drawingml/2006/main" noGrp="1"/>
          </p:cNvSpPr>
          <p:nvPr/>
        </p:nvSpPr>
        <p:spPr>
          <a:xfrm xmlns:a="http://schemas.openxmlformats.org/drawingml/2006/main">
            <a:off x="7696200" y="3267075"/>
            <a:ext cx="85725" cy="59055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solidFill>
              <a:srgbClr val="FF6F61"/>
            </a:solidFill>
            <a:prstDash val="solid"/>
          </a:ln>
        </p:spPr>
      </p:sp>
      <p:sp>
        <p:nvSpPr>
          <p:cNvPr id="36" name="">
            <a:extLst xmlns:a="http://schemas.openxmlformats.org/drawingml/2006/main">
              <a:ext uri="{FF2B5EF4-FFF2-40B4-BE49-F238E27FC236}">
                <a16:creationId xmlns:a16="http://schemas.microsoft.com/office/drawing/2014/main" id="{2638D90A-4AC1-45EA-B566-EB38E53D1713}"/>
              </a:ext>
            </a:extLst>
          </p:cNvPr>
          <p:cNvSpPr>
            <a:spLocks xmlns:a="http://schemas.openxmlformats.org/drawingml/2006/main" noGrp="1"/>
          </p:cNvSpPr>
          <p:nvPr/>
        </p:nvSpPr>
        <p:spPr>
          <a:xfrm xmlns:a="http://schemas.openxmlformats.org/drawingml/2006/main">
            <a:off x="7953375" y="3238500"/>
            <a:ext cx="2152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FFFFFF"/>
                </a:solidFill>
                <a:latin typeface="Aptos Display"/>
                <a:ea typeface="Aptos Display"/>
                <a:cs typeface="Aptos Display"/>
              </a:defRPr>
            </a:pPr>
            <a:r>
              <a:rPr sz="1500" b="1">
                <a:solidFill>
                  <a:srgbClr val="FFFFFF"/>
                </a:solidFill>
                <a:latin typeface="Aptos Display"/>
                <a:ea typeface="Aptos Display"/>
                <a:cs typeface="Aptos Display"/>
              </a:rPr>
              <a:t>Two profile tables</a:t>
            </a:r>
          </a:p>
        </p:txBody>
      </p:sp>
      <p:sp>
        <p:nvSpPr>
          <p:cNvPr id="37" name="">
            <a:extLst xmlns:a="http://schemas.openxmlformats.org/drawingml/2006/main">
              <a:ext uri="{FF2B5EF4-FFF2-40B4-BE49-F238E27FC236}">
                <a16:creationId xmlns:a16="http://schemas.microsoft.com/office/drawing/2014/main" id="{4B1D0D6B-944B-4434-AB5D-FA721339A77D}"/>
              </a:ext>
            </a:extLst>
          </p:cNvPr>
          <p:cNvSpPr>
            <a:spLocks xmlns:a="http://schemas.openxmlformats.org/drawingml/2006/main" noGrp="1"/>
          </p:cNvSpPr>
          <p:nvPr/>
        </p:nvSpPr>
        <p:spPr>
          <a:xfrm xmlns:a="http://schemas.openxmlformats.org/drawingml/2006/main">
            <a:off x="7953375" y="3571875"/>
            <a:ext cx="2190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0">
                <a:solidFill>
                  <a:srgbClr val="9DA8B8"/>
                </a:solidFill>
                <a:latin typeface="Aptos"/>
                <a:ea typeface="Aptos"/>
                <a:cs typeface="Aptos"/>
              </a:defRPr>
            </a:pPr>
            <a:r>
              <a:rPr sz="1050" b="0">
                <a:solidFill>
                  <a:srgbClr val="9DA8B8"/>
                </a:solidFill>
                <a:latin typeface="Aptos"/>
                <a:ea typeface="Aptos"/>
                <a:cs typeface="Aptos"/>
              </a:rPr>
              <a:t>Identity and economy diverge</a:t>
            </a:r>
          </a:p>
        </p:txBody>
      </p:sp>
      <p:sp>
        <p:nvSpPr>
          <p:cNvPr id="38" name="">
            <a:extLst xmlns:a="http://schemas.openxmlformats.org/drawingml/2006/main">
              <a:ext uri="{FF2B5EF4-FFF2-40B4-BE49-F238E27FC236}">
                <a16:creationId xmlns:a16="http://schemas.microsoft.com/office/drawing/2014/main" id="{548F862C-AFD5-4C71-A0C1-7991D2544A72}"/>
              </a:ext>
            </a:extLst>
          </p:cNvPr>
          <p:cNvSpPr>
            <a:spLocks xmlns:a="http://schemas.openxmlformats.org/drawingml/2006/main" noGrp="1"/>
          </p:cNvSpPr>
          <p:nvPr/>
        </p:nvSpPr>
        <p:spPr>
          <a:xfrm xmlns:a="http://schemas.openxmlformats.org/drawingml/2006/main">
            <a:off x="7524750" y="4257675"/>
            <a:ext cx="2857500" cy="971550"/>
          </a:xfrm>
          <a:prstGeom xmlns:a="http://schemas.openxmlformats.org/drawingml/2006/main" prst="roundRect">
            <a:avLst>
              <a:gd name="adj" fmla="val 15686"/>
            </a:avLst>
          </a:prstGeom>
          <a:solidFill xmlns:a="http://schemas.openxmlformats.org/drawingml/2006/main">
            <a:srgbClr val="182234"/>
          </a:solidFill>
          <a:ln xmlns:a="http://schemas.openxmlformats.org/drawingml/2006/main" w="9525">
            <a:solidFill>
              <a:srgbClr val="2A374A"/>
            </a:solidFill>
            <a:prstDash val="solid"/>
          </a:ln>
        </p:spPr>
      </p:sp>
      <p:sp>
        <p:nvSpPr>
          <p:cNvPr id="39" name="">
            <a:extLst xmlns:a="http://schemas.openxmlformats.org/drawingml/2006/main">
              <a:ext uri="{FF2B5EF4-FFF2-40B4-BE49-F238E27FC236}">
                <a16:creationId xmlns:a16="http://schemas.microsoft.com/office/drawing/2014/main" id="{D1D5746A-9BFD-4F1C-A64F-57F8D79E9FB6}"/>
              </a:ext>
            </a:extLst>
          </p:cNvPr>
          <p:cNvSpPr>
            <a:spLocks xmlns:a="http://schemas.openxmlformats.org/drawingml/2006/main" noGrp="1"/>
          </p:cNvSpPr>
          <p:nvPr/>
        </p:nvSpPr>
        <p:spPr>
          <a:xfrm xmlns:a="http://schemas.openxmlformats.org/drawingml/2006/main">
            <a:off x="7696200" y="4448175"/>
            <a:ext cx="85725" cy="590550"/>
          </a:xfrm>
          <a:prstGeom xmlns:a="http://schemas.openxmlformats.org/drawingml/2006/main" prst="roundRect">
            <a:avLst>
              <a:gd name="adj" fmla="val 50000"/>
            </a:avLst>
          </a:prstGeom>
          <a:solidFill xmlns:a="http://schemas.openxmlformats.org/drawingml/2006/main">
            <a:srgbClr val="2E7D5A"/>
          </a:solidFill>
          <a:ln xmlns:a="http://schemas.openxmlformats.org/drawingml/2006/main" w="0">
            <a:solidFill>
              <a:srgbClr val="2E7D5A"/>
            </a:solidFill>
            <a:prstDash val="solid"/>
          </a:ln>
        </p:spPr>
      </p:sp>
      <p:sp>
        <p:nvSpPr>
          <p:cNvPr id="40" name="">
            <a:extLst xmlns:a="http://schemas.openxmlformats.org/drawingml/2006/main">
              <a:ext uri="{FF2B5EF4-FFF2-40B4-BE49-F238E27FC236}">
                <a16:creationId xmlns:a16="http://schemas.microsoft.com/office/drawing/2014/main" id="{18F701D7-D0A8-410F-95D0-038A9E0F524B}"/>
              </a:ext>
            </a:extLst>
          </p:cNvPr>
          <p:cNvSpPr>
            <a:spLocks xmlns:a="http://schemas.openxmlformats.org/drawingml/2006/main" noGrp="1"/>
          </p:cNvSpPr>
          <p:nvPr/>
        </p:nvSpPr>
        <p:spPr>
          <a:xfrm xmlns:a="http://schemas.openxmlformats.org/drawingml/2006/main">
            <a:off x="7953375" y="4419600"/>
            <a:ext cx="2152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FFFFFF"/>
                </a:solidFill>
                <a:latin typeface="Aptos Display"/>
                <a:ea typeface="Aptos Display"/>
                <a:cs typeface="Aptos Display"/>
              </a:defRPr>
            </a:pPr>
            <a:r>
              <a:rPr sz="1500" b="1">
                <a:solidFill>
                  <a:srgbClr val="FFFFFF"/>
                </a:solidFill>
                <a:latin typeface="Aptos Display"/>
                <a:ea typeface="Aptos Display"/>
                <a:cs typeface="Aptos Display"/>
              </a:rPr>
              <a:t>Local analytics</a:t>
            </a:r>
          </a:p>
        </p:txBody>
      </p:sp>
      <p:sp>
        <p:nvSpPr>
          <p:cNvPr id="41" name="">
            <a:extLst xmlns:a="http://schemas.openxmlformats.org/drawingml/2006/main">
              <a:ext uri="{FF2B5EF4-FFF2-40B4-BE49-F238E27FC236}">
                <a16:creationId xmlns:a16="http://schemas.microsoft.com/office/drawing/2014/main" id="{BED8D143-6E2C-445F-80A3-C739F9181624}"/>
              </a:ext>
            </a:extLst>
          </p:cNvPr>
          <p:cNvSpPr>
            <a:spLocks xmlns:a="http://schemas.openxmlformats.org/drawingml/2006/main" noGrp="1"/>
          </p:cNvSpPr>
          <p:nvPr/>
        </p:nvSpPr>
        <p:spPr>
          <a:xfrm xmlns:a="http://schemas.openxmlformats.org/drawingml/2006/main">
            <a:off x="7953375" y="4752975"/>
            <a:ext cx="2190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0">
                <a:solidFill>
                  <a:srgbClr val="9DA8B8"/>
                </a:solidFill>
                <a:latin typeface="Aptos"/>
                <a:ea typeface="Aptos"/>
                <a:cs typeface="Aptos"/>
              </a:defRPr>
            </a:pPr>
            <a:r>
              <a:rPr sz="1050" b="0">
                <a:solidFill>
                  <a:srgbClr val="9DA8B8"/>
                </a:solidFill>
                <a:latin typeface="Aptos"/>
                <a:ea typeface="Aptos"/>
                <a:cs typeface="Aptos"/>
              </a:rPr>
              <a:t>No production funnel sink</a:t>
            </a:r>
          </a:p>
        </p:txBody>
      </p:sp>
      <p:sp>
        <p:nvSpPr>
          <p:cNvPr id="42" name="">
            <a:extLst xmlns:a="http://schemas.openxmlformats.org/drawingml/2006/main">
              <a:ext uri="{FF2B5EF4-FFF2-40B4-BE49-F238E27FC236}">
                <a16:creationId xmlns:a16="http://schemas.microsoft.com/office/drawing/2014/main" id="{1DE12A2C-5D03-472C-8AC6-DB5281416E07}"/>
              </a:ext>
            </a:extLst>
          </p:cNvPr>
          <p:cNvSpPr>
            <a:spLocks xmlns:a="http://schemas.openxmlformats.org/drawingml/2006/main" noGrp="1"/>
          </p:cNvSpPr>
          <p:nvPr/>
        </p:nvSpPr>
        <p:spPr>
          <a:xfrm xmlns:a="http://schemas.openxmlformats.org/drawingml/2006/main">
            <a:off x="3590925" y="3000375"/>
            <a:ext cx="381000" cy="0"/>
          </a:xfrm>
          <a:prstGeom xmlns:a="http://schemas.openxmlformats.org/drawingml/2006/main" prst="line">
            <a:avLst/>
          </a:prstGeom>
          <a:noFill xmlns:a="http://schemas.openxmlformats.org/drawingml/2006/main"/>
          <a:ln xmlns:a="http://schemas.openxmlformats.org/drawingml/2006/main" w="19050">
            <a:solidFill>
              <a:srgbClr val="627088"/>
            </a:solidFill>
            <a:prstDash val="solid"/>
          </a:ln>
        </p:spPr>
      </p:sp>
      <p:sp>
        <p:nvSpPr>
          <p:cNvPr id="43" name="">
            <a:extLst xmlns:a="http://schemas.openxmlformats.org/drawingml/2006/main">
              <a:ext uri="{FF2B5EF4-FFF2-40B4-BE49-F238E27FC236}">
                <a16:creationId xmlns:a16="http://schemas.microsoft.com/office/drawing/2014/main" id="{2DE102CD-ACC9-476D-92E2-92669A724957}"/>
              </a:ext>
            </a:extLst>
          </p:cNvPr>
          <p:cNvSpPr>
            <a:spLocks xmlns:a="http://schemas.openxmlformats.org/drawingml/2006/main" noGrp="1"/>
          </p:cNvSpPr>
          <p:nvPr/>
        </p:nvSpPr>
        <p:spPr>
          <a:xfrm xmlns:a="http://schemas.openxmlformats.org/drawingml/2006/main">
            <a:off x="3667125" y="282892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5979"/>
          </a:bodyPr>
          <a:lstStyle xmlns:a="http://schemas.openxmlformats.org/drawingml/2006/main"/>
          <a:p xmlns:a="http://schemas.openxmlformats.org/drawingml/2006/main">
            <a:pPr algn="ctr">
              <a:lnSpc>
                <a:spcPct val="105000"/>
              </a:lnSpc>
              <a:buNone/>
              <a:defRPr sz="1800" b="1">
                <a:solidFill>
                  <a:srgbClr val="F2B94B"/>
                </a:solidFill>
                <a:latin typeface="Aptos"/>
                <a:ea typeface="Aptos"/>
                <a:cs typeface="Aptos"/>
              </a:defRPr>
            </a:pPr>
            <a:r>
              <a:rPr sz="1800" b="1">
                <a:solidFill>
                  <a:srgbClr val="F2B94B"/>
                </a:solidFill>
                <a:latin typeface="Aptos"/>
                <a:ea typeface="Aptos"/>
                <a:cs typeface="Aptos"/>
              </a:rPr>
              <a:t>→</a:t>
            </a:r>
          </a:p>
        </p:txBody>
      </p:sp>
      <p:sp>
        <p:nvSpPr>
          <p:cNvPr id="44" name="">
            <a:extLst xmlns:a="http://schemas.openxmlformats.org/drawingml/2006/main">
              <a:ext uri="{FF2B5EF4-FFF2-40B4-BE49-F238E27FC236}">
                <a16:creationId xmlns:a16="http://schemas.microsoft.com/office/drawing/2014/main" id="{9D64F559-A0BD-4DE8-A0C3-2DB70A45BE00}"/>
              </a:ext>
            </a:extLst>
          </p:cNvPr>
          <p:cNvSpPr>
            <a:spLocks xmlns:a="http://schemas.openxmlformats.org/drawingml/2006/main" noGrp="1"/>
          </p:cNvSpPr>
          <p:nvPr/>
        </p:nvSpPr>
        <p:spPr>
          <a:xfrm xmlns:a="http://schemas.openxmlformats.org/drawingml/2006/main">
            <a:off x="7019925" y="3000375"/>
            <a:ext cx="381000" cy="0"/>
          </a:xfrm>
          <a:prstGeom xmlns:a="http://schemas.openxmlformats.org/drawingml/2006/main" prst="line">
            <a:avLst/>
          </a:prstGeom>
          <a:noFill xmlns:a="http://schemas.openxmlformats.org/drawingml/2006/main"/>
          <a:ln xmlns:a="http://schemas.openxmlformats.org/drawingml/2006/main" w="19050">
            <a:solidFill>
              <a:srgbClr val="627088"/>
            </a:solidFill>
            <a:prstDash val="solid"/>
          </a:ln>
        </p:spPr>
      </p:sp>
      <p:sp>
        <p:nvSpPr>
          <p:cNvPr id="45" name="">
            <a:extLst xmlns:a="http://schemas.openxmlformats.org/drawingml/2006/main">
              <a:ext uri="{FF2B5EF4-FFF2-40B4-BE49-F238E27FC236}">
                <a16:creationId xmlns:a16="http://schemas.microsoft.com/office/drawing/2014/main" id="{9D5B2C93-C53C-4624-A2FB-0EACCEB24AA7}"/>
              </a:ext>
            </a:extLst>
          </p:cNvPr>
          <p:cNvSpPr>
            <a:spLocks xmlns:a="http://schemas.openxmlformats.org/drawingml/2006/main" noGrp="1"/>
          </p:cNvSpPr>
          <p:nvPr/>
        </p:nvSpPr>
        <p:spPr>
          <a:xfrm xmlns:a="http://schemas.openxmlformats.org/drawingml/2006/main">
            <a:off x="7096125" y="282892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5979"/>
          </a:bodyPr>
          <a:lstStyle xmlns:a="http://schemas.openxmlformats.org/drawingml/2006/main"/>
          <a:p xmlns:a="http://schemas.openxmlformats.org/drawingml/2006/main">
            <a:pPr algn="ctr">
              <a:lnSpc>
                <a:spcPct val="105000"/>
              </a:lnSpc>
              <a:buNone/>
              <a:defRPr sz="1800" b="1">
                <a:solidFill>
                  <a:srgbClr val="F2B94B"/>
                </a:solidFill>
                <a:latin typeface="Aptos"/>
                <a:ea typeface="Aptos"/>
                <a:cs typeface="Aptos"/>
              </a:defRPr>
            </a:pPr>
            <a:r>
              <a:rPr sz="1800" b="1">
                <a:solidFill>
                  <a:srgbClr val="F2B94B"/>
                </a:solidFill>
                <a:latin typeface="Aptos"/>
                <a:ea typeface="Aptos"/>
                <a:cs typeface="Aptos"/>
              </a:rPr>
              <a:t>→</a:t>
            </a:r>
          </a:p>
        </p:txBody>
      </p:sp>
      <p:sp>
        <p:nvSpPr>
          <p:cNvPr id="46" name="">
            <a:extLst xmlns:a="http://schemas.openxmlformats.org/drawingml/2006/main">
              <a:ext uri="{FF2B5EF4-FFF2-40B4-BE49-F238E27FC236}">
                <a16:creationId xmlns:a16="http://schemas.microsoft.com/office/drawing/2014/main" id="{DF827852-9FCE-4881-B26E-D67A18D91EAE}"/>
              </a:ext>
            </a:extLst>
          </p:cNvPr>
          <p:cNvSpPr>
            <a:spLocks xmlns:a="http://schemas.openxmlformats.org/drawingml/2006/main" noGrp="1"/>
          </p:cNvSpPr>
          <p:nvPr/>
        </p:nvSpPr>
        <p:spPr>
          <a:xfrm xmlns:a="http://schemas.openxmlformats.org/drawingml/2006/main">
            <a:off x="666750" y="5562600"/>
            <a:ext cx="10287000" cy="552450"/>
          </a:xfrm>
          <a:prstGeom xmlns:a="http://schemas.openxmlformats.org/drawingml/2006/main" prst="roundRect">
            <a:avLst>
              <a:gd name="adj" fmla="val 24138"/>
            </a:avLst>
          </a:prstGeom>
          <a:solidFill xmlns:a="http://schemas.openxmlformats.org/drawingml/2006/main">
            <a:srgbClr val="151F30"/>
          </a:solidFill>
          <a:ln xmlns:a="http://schemas.openxmlformats.org/drawingml/2006/main" w="9525">
            <a:solidFill>
              <a:srgbClr val="2A374A"/>
            </a:solidFill>
            <a:prstDash val="solid"/>
          </a:ln>
        </p:spPr>
      </p:sp>
      <p:sp>
        <p:nvSpPr>
          <p:cNvPr id="47" name="">
            <a:extLst xmlns:a="http://schemas.openxmlformats.org/drawingml/2006/main">
              <a:ext uri="{FF2B5EF4-FFF2-40B4-BE49-F238E27FC236}">
                <a16:creationId xmlns:a16="http://schemas.microsoft.com/office/drawing/2014/main" id="{FE060D7D-BD31-492F-AA09-CBE7D84F847A}"/>
              </a:ext>
            </a:extLst>
          </p:cNvPr>
          <p:cNvSpPr>
            <a:spLocks xmlns:a="http://schemas.openxmlformats.org/drawingml/2006/main" noGrp="1"/>
          </p:cNvSpPr>
          <p:nvPr/>
        </p:nvSpPr>
        <p:spPr>
          <a:xfrm xmlns:a="http://schemas.openxmlformats.org/drawingml/2006/main">
            <a:off x="857250" y="5772150"/>
            <a:ext cx="1162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1">
                <a:solidFill>
                  <a:srgbClr val="FF6F61"/>
                </a:solidFill>
                <a:latin typeface="Aptos"/>
                <a:ea typeface="Aptos"/>
                <a:cs typeface="Aptos"/>
              </a:defRPr>
            </a:pPr>
            <a:r>
              <a:rPr sz="750" b="1">
                <a:solidFill>
                  <a:srgbClr val="FF6F61"/>
                </a:solidFill>
                <a:latin typeface="Aptos"/>
                <a:ea typeface="Aptos"/>
                <a:cs typeface="Aptos"/>
              </a:rPr>
              <a:t>NOT PRESENT</a:t>
            </a:r>
          </a:p>
        </p:txBody>
      </p:sp>
      <p:sp>
        <p:nvSpPr>
          <p:cNvPr id="48" name="">
            <a:extLst xmlns:a="http://schemas.openxmlformats.org/drawingml/2006/main">
              <a:ext uri="{FF2B5EF4-FFF2-40B4-BE49-F238E27FC236}">
                <a16:creationId xmlns:a16="http://schemas.microsoft.com/office/drawing/2014/main" id="{01AFC79F-2207-4B81-86AD-F014EC8132A7}"/>
              </a:ext>
            </a:extLst>
          </p:cNvPr>
          <p:cNvSpPr>
            <a:spLocks xmlns:a="http://schemas.openxmlformats.org/drawingml/2006/main" noGrp="1"/>
          </p:cNvSpPr>
          <p:nvPr/>
        </p:nvSpPr>
        <p:spPr>
          <a:xfrm xmlns:a="http://schemas.openxmlformats.org/drawingml/2006/main">
            <a:off x="2133600" y="571500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a:solidFill>
                  <a:srgbClr val="C0C7D2"/>
                </a:solidFill>
                <a:latin typeface="Aptos"/>
                <a:ea typeface="Aptos"/>
                <a:cs typeface="Aptos"/>
              </a:defRPr>
            </a:pPr>
            <a:r>
              <a:rPr sz="1200" b="0">
                <a:solidFill>
                  <a:srgbClr val="C0C7D2"/>
                </a:solidFill>
                <a:latin typeface="Aptos"/>
                <a:ea typeface="Aptos"/>
                <a:cs typeface="Aptos"/>
              </a:rPr>
              <a:t>Custom app server · payments · production CRM · mounted admin portal · mounted partner portal</a:t>
            </a:r>
          </a:p>
        </p:txBody>
      </p:sp>
    </p:spTree>
    <p:extLst>
      <p:ext uri="{BB962C8B-B14F-4D97-AF65-F5344CB8AC3E}">
        <p14:creationId xmlns:p14="http://schemas.microsoft.com/office/powerpoint/2010/main" val="996737452"/>
      </p:ext>
    </p:extLst>
  </p:cSld>
</p:sld>
</file>

<file path=ppt/slides/slide4.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66" name="">
            <a:extLst xmlns:a="http://schemas.openxmlformats.org/drawingml/2006/main">
              <a:ext uri="{FF2B5EF4-FFF2-40B4-BE49-F238E27FC236}">
                <a16:creationId xmlns:a16="http://schemas.microsoft.com/office/drawing/2014/main" id="{ED8988B4-22B0-4DF3-AACA-DDB338BA480E}"/>
              </a:ext>
            </a:extLst>
          </p:cNvPr>
          <p:cNvSpPr>
            <a:spLocks xmlns:a="http://schemas.openxmlformats.org/drawingml/2006/main" noGrp="1"/>
          </p:cNvSpPr>
          <p:nvPr/>
        </p:nvSpPr>
        <p:spPr>
          <a:xfrm xmlns:a="http://schemas.openxmlformats.org/drawingml/2006/main">
            <a:off x="552450" y="419100"/>
            <a:ext cx="514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a:solidFill>
                  <a:srgbClr val="2563EB"/>
                </a:solidFill>
                <a:latin typeface="Aptos"/>
                <a:ea typeface="Aptos"/>
                <a:cs typeface="Aptos"/>
              </a:defRPr>
            </a:pPr>
            <a:r>
              <a:rPr sz="900" b="1">
                <a:solidFill>
                  <a:srgbClr val="2563EB"/>
                </a:solidFill>
                <a:latin typeface="Aptos"/>
                <a:ea typeface="Aptos"/>
                <a:cs typeface="Aptos"/>
              </a:rPr>
              <a:t>04</a:t>
            </a:r>
          </a:p>
        </p:txBody>
      </p:sp>
      <p:sp>
        <p:nvSpPr>
          <p:cNvPr id="2" name="">
            <a:extLst xmlns:a="http://schemas.openxmlformats.org/drawingml/2006/main">
              <a:ext uri="{FF2B5EF4-FFF2-40B4-BE49-F238E27FC236}">
                <a16:creationId xmlns:a16="http://schemas.microsoft.com/office/drawing/2014/main" id="{199742F3-720C-4668-93F9-554FD46E5E5B}"/>
              </a:ext>
            </a:extLst>
          </p:cNvPr>
          <p:cNvSpPr>
            <a:spLocks xmlns:a="http://schemas.openxmlformats.org/drawingml/2006/main" noGrp="1"/>
          </p:cNvSpPr>
          <p:nvPr/>
        </p:nvSpPr>
        <p:spPr>
          <a:xfrm xmlns:a="http://schemas.openxmlformats.org/drawingml/2006/main">
            <a:off x="1104900" y="542925"/>
            <a:ext cx="476250" cy="0"/>
          </a:xfrm>
          <a:prstGeom xmlns:a="http://schemas.openxmlformats.org/drawingml/2006/main" prst="line">
            <a:avLst/>
          </a:prstGeom>
          <a:noFill xmlns:a="http://schemas.openxmlformats.org/drawingml/2006/main"/>
          <a:ln xmlns:a="http://schemas.openxmlformats.org/drawingml/2006/main" w="9525">
            <a:solidFill>
              <a:srgbClr val="CBD1DA"/>
            </a:solidFill>
            <a:prstDash val="solid"/>
          </a:ln>
        </p:spPr>
      </p:sp>
      <p:sp>
        <p:nvSpPr>
          <p:cNvPr id="3" name="">
            <a:extLst xmlns:a="http://schemas.openxmlformats.org/drawingml/2006/main">
              <a:ext uri="{FF2B5EF4-FFF2-40B4-BE49-F238E27FC236}">
                <a16:creationId xmlns:a16="http://schemas.microsoft.com/office/drawing/2014/main" id="{8670FE7C-F892-4742-86B7-25166D7FC1A2}"/>
              </a:ext>
            </a:extLst>
          </p:cNvPr>
          <p:cNvSpPr>
            <a:spLocks xmlns:a="http://schemas.openxmlformats.org/drawingml/2006/main" noGrp="1"/>
          </p:cNvSpPr>
          <p:nvPr/>
        </p:nvSpPr>
        <p:spPr>
          <a:xfrm xmlns:a="http://schemas.openxmlformats.org/drawingml/2006/main">
            <a:off x="1733550" y="323850"/>
            <a:ext cx="704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375" b="1">
                <a:solidFill>
                  <a:srgbClr val="101827"/>
                </a:solidFill>
                <a:latin typeface="Aptos Display"/>
                <a:ea typeface="Aptos Display"/>
                <a:cs typeface="Aptos Display"/>
              </a:defRPr>
            </a:pPr>
            <a:r>
              <a:rPr sz="3375" b="1">
                <a:solidFill>
                  <a:srgbClr val="101827"/>
                </a:solidFill>
                <a:latin typeface="Aptos Display"/>
                <a:ea typeface="Aptos Display"/>
                <a:cs typeface="Aptos Display"/>
              </a:rPr>
              <a:t>The product loop</a:t>
            </a:r>
          </a:p>
        </p:txBody>
      </p:sp>
      <p:sp>
        <p:nvSpPr>
          <p:cNvPr id="4" name="">
            <a:extLst xmlns:a="http://schemas.openxmlformats.org/drawingml/2006/main">
              <a:ext uri="{FF2B5EF4-FFF2-40B4-BE49-F238E27FC236}">
                <a16:creationId xmlns:a16="http://schemas.microsoft.com/office/drawing/2014/main" id="{7CB78985-8F38-42C4-959A-CBA00286EAFE}"/>
              </a:ext>
            </a:extLst>
          </p:cNvPr>
          <p:cNvSpPr>
            <a:spLocks xmlns:a="http://schemas.openxmlformats.org/drawingml/2006/main" noGrp="1"/>
          </p:cNvSpPr>
          <p:nvPr/>
        </p:nvSpPr>
        <p:spPr>
          <a:xfrm xmlns:a="http://schemas.openxmlformats.org/drawingml/2006/main">
            <a:off x="1752600" y="866775"/>
            <a:ext cx="7715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0">
                <a:solidFill>
                  <a:srgbClr val="626A78"/>
                </a:solidFill>
                <a:latin typeface="Aptos"/>
                <a:ea typeface="Aptos"/>
                <a:cs typeface="Aptos"/>
              </a:defRPr>
            </a:pPr>
            <a:r>
              <a:rPr sz="1350" b="0">
                <a:solidFill>
                  <a:srgbClr val="626A78"/>
                </a:solidFill>
                <a:latin typeface="Aptos"/>
                <a:ea typeface="Aptos"/>
                <a:cs typeface="Aptos"/>
              </a:rPr>
              <a:t>The journey is visible from discovery to completion. The return loop is disconnected.</a:t>
            </a:r>
          </a:p>
        </p:txBody>
      </p:sp>
      <p:sp>
        <p:nvSpPr>
          <p:cNvPr id="5" name="">
            <a:extLst xmlns:a="http://schemas.openxmlformats.org/drawingml/2006/main">
              <a:ext uri="{FF2B5EF4-FFF2-40B4-BE49-F238E27FC236}">
                <a16:creationId xmlns:a16="http://schemas.microsoft.com/office/drawing/2014/main" id="{1A39E8D5-48AA-4F6F-8FEE-B4D4FF77D426}"/>
              </a:ext>
            </a:extLst>
          </p:cNvPr>
          <p:cNvSpPr>
            <a:spLocks xmlns:a="http://schemas.openxmlformats.org/drawingml/2006/main" noGrp="1"/>
          </p:cNvSpPr>
          <p:nvPr/>
        </p:nvSpPr>
        <p:spPr>
          <a:xfrm xmlns:a="http://schemas.openxmlformats.org/drawingml/2006/main">
            <a:off x="11210925" y="381000"/>
            <a:ext cx="275082" cy="325755"/>
          </a:xfrm>
          <a:prstGeom xmlns:a="http://schemas.openxmlformats.org/drawingml/2006/main" prst="roundRect">
            <a:avLst>
              <a:gd name="adj" fmla="val 47368"/>
            </a:avLst>
          </a:prstGeom>
          <a:noFill xmlns:a="http://schemas.openxmlformats.org/drawingml/2006/main"/>
          <a:ln xmlns:a="http://schemas.openxmlformats.org/drawingml/2006/main" w="28956">
            <a:solidFill>
              <a:srgbClr val="0D1321"/>
            </a:solidFill>
            <a:prstDash val="solid"/>
          </a:ln>
        </p:spPr>
      </p:sp>
      <p:sp>
        <p:nvSpPr>
          <p:cNvPr id="6" name="">
            <a:extLst xmlns:a="http://schemas.openxmlformats.org/drawingml/2006/main">
              <a:ext uri="{FF2B5EF4-FFF2-40B4-BE49-F238E27FC236}">
                <a16:creationId xmlns:a16="http://schemas.microsoft.com/office/drawing/2014/main" id="{65BE9EB0-C750-46BB-99FE-501F9E5C2CBE}"/>
              </a:ext>
            </a:extLst>
          </p:cNvPr>
          <p:cNvSpPr>
            <a:spLocks xmlns:a="http://schemas.openxmlformats.org/drawingml/2006/main" noGrp="1"/>
          </p:cNvSpPr>
          <p:nvPr/>
        </p:nvSpPr>
        <p:spPr>
          <a:xfrm xmlns:a="http://schemas.openxmlformats.org/drawingml/2006/main">
            <a:off x="11247120" y="598170"/>
            <a:ext cx="202692" cy="130302"/>
          </a:xfrm>
          <a:prstGeom xmlns:a="http://schemas.openxmlformats.org/drawingml/2006/main" prst="triangle">
            <a:avLst/>
          </a:prstGeom>
          <a:solidFill xmlns:a="http://schemas.openxmlformats.org/drawingml/2006/main">
            <a:srgbClr val="0D1321"/>
          </a:solidFill>
          <a:ln xmlns:a="http://schemas.openxmlformats.org/drawingml/2006/main" w="0">
            <a:solidFill>
              <a:srgbClr val="0D1321"/>
            </a:solidFill>
            <a:prstDash val="solid"/>
          </a:ln>
        </p:spPr>
      </p:sp>
      <p:sp>
        <p:nvSpPr>
          <p:cNvPr id="7" name="">
            <a:extLst xmlns:a="http://schemas.openxmlformats.org/drawingml/2006/main">
              <a:ext uri="{FF2B5EF4-FFF2-40B4-BE49-F238E27FC236}">
                <a16:creationId xmlns:a16="http://schemas.microsoft.com/office/drawing/2014/main" id="{BBB236CF-CC04-4EE7-B01B-C3DF46BF8518}"/>
              </a:ext>
            </a:extLst>
          </p:cNvPr>
          <p:cNvSpPr>
            <a:spLocks xmlns:a="http://schemas.openxmlformats.org/drawingml/2006/main" noGrp="1"/>
          </p:cNvSpPr>
          <p:nvPr/>
        </p:nvSpPr>
        <p:spPr>
          <a:xfrm xmlns:a="http://schemas.openxmlformats.org/drawingml/2006/main">
            <a:off x="11290554" y="424434"/>
            <a:ext cx="115824" cy="1158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627" b="1">
                <a:solidFill>
                  <a:srgbClr val="0D1321"/>
                </a:solidFill>
                <a:latin typeface="Aptos"/>
                <a:ea typeface="Aptos"/>
                <a:cs typeface="Aptos"/>
              </a:defRPr>
            </a:pPr>
            <a:r>
              <a:rPr sz="627" b="1">
                <a:solidFill>
                  <a:srgbClr val="0D1321"/>
                </a:solidFill>
                <a:latin typeface="Aptos"/>
                <a:ea typeface="Aptos"/>
                <a:cs typeface="Aptos"/>
              </a:rPr>
              <a:t>✦</a:t>
            </a:r>
          </a:p>
        </p:txBody>
      </p:sp>
      <p:sp>
        <p:nvSpPr>
          <p:cNvPr id="8" name="">
            <a:extLst xmlns:a="http://schemas.openxmlformats.org/drawingml/2006/main">
              <a:ext uri="{FF2B5EF4-FFF2-40B4-BE49-F238E27FC236}">
                <a16:creationId xmlns:a16="http://schemas.microsoft.com/office/drawing/2014/main" id="{640AC5E9-9F1C-4ED1-8007-BDFFBFD906CE}"/>
              </a:ext>
            </a:extLst>
          </p:cNvPr>
          <p:cNvSpPr>
            <a:spLocks xmlns:a="http://schemas.openxmlformats.org/drawingml/2006/main" noGrp="1"/>
          </p:cNvSpPr>
          <p:nvPr/>
        </p:nvSpPr>
        <p:spPr>
          <a:xfrm xmlns:a="http://schemas.openxmlformats.org/drawingml/2006/main">
            <a:off x="10144125" y="828675"/>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200" b="1">
                <a:solidFill>
                  <a:srgbClr val="0D1321"/>
                </a:solidFill>
                <a:latin typeface="Aptos"/>
                <a:ea typeface="Aptos"/>
                <a:cs typeface="Aptos"/>
              </a:defRPr>
            </a:pPr>
            <a:r>
              <a:rPr sz="1200" b="1">
                <a:solidFill>
                  <a:srgbClr val="0D1321"/>
                </a:solidFill>
                <a:latin typeface="Aptos"/>
                <a:ea typeface="Aptos"/>
                <a:cs typeface="Aptos"/>
              </a:rPr>
              <a:t>sidequests</a:t>
            </a:r>
          </a:p>
        </p:txBody>
      </p:sp>
      <p:sp>
        <p:nvSpPr>
          <p:cNvPr id="9" name="">
            <a:extLst xmlns:a="http://schemas.openxmlformats.org/drawingml/2006/main">
              <a:ext uri="{FF2B5EF4-FFF2-40B4-BE49-F238E27FC236}">
                <a16:creationId xmlns:a16="http://schemas.microsoft.com/office/drawing/2014/main" id="{CE988F84-014B-4FAD-A69A-7AABFE39CFD8}"/>
              </a:ext>
            </a:extLst>
          </p:cNvPr>
          <p:cNvSpPr>
            <a:spLocks xmlns:a="http://schemas.openxmlformats.org/drawingml/2006/main" noGrp="1"/>
          </p:cNvSpPr>
          <p:nvPr/>
        </p:nvSpPr>
        <p:spPr>
          <a:xfrm xmlns:a="http://schemas.openxmlformats.org/drawingml/2006/main">
            <a:off x="552450" y="6543675"/>
            <a:ext cx="4000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675" b="0">
                <a:solidFill>
                  <a:srgbClr val="9AA1AD"/>
                </a:solidFill>
                <a:latin typeface="Aptos"/>
                <a:ea typeface="Aptos"/>
                <a:cs typeface="Aptos"/>
              </a:defRPr>
            </a:pPr>
            <a:r>
              <a:rPr sz="675" b="0">
                <a:solidFill>
                  <a:srgbClr val="9AA1AD"/>
                </a:solidFill>
                <a:latin typeface="Aptos"/>
                <a:ea typeface="Aptos"/>
                <a:cs typeface="Aptos"/>
              </a:rPr>
              <a:t>Development &amp; launch readiness · 12 Aug 2026</a:t>
            </a:r>
          </a:p>
        </p:txBody>
      </p:sp>
      <p:sp>
        <p:nvSpPr>
          <p:cNvPr id="10" name="">
            <a:extLst xmlns:a="http://schemas.openxmlformats.org/drawingml/2006/main">
              <a:ext uri="{FF2B5EF4-FFF2-40B4-BE49-F238E27FC236}">
                <a16:creationId xmlns:a16="http://schemas.microsoft.com/office/drawing/2014/main" id="{FADDCBB5-9725-41AF-94C9-F3CFC6D55B9A}"/>
              </a:ext>
            </a:extLst>
          </p:cNvPr>
          <p:cNvSpPr>
            <a:spLocks xmlns:a="http://schemas.openxmlformats.org/drawingml/2006/main" noGrp="1"/>
          </p:cNvSpPr>
          <p:nvPr/>
        </p:nvSpPr>
        <p:spPr>
          <a:xfrm xmlns:a="http://schemas.openxmlformats.org/drawingml/2006/main">
            <a:off x="11239500" y="6543675"/>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675" b="0">
                <a:solidFill>
                  <a:srgbClr val="9AA1AD"/>
                </a:solidFill>
                <a:latin typeface="Aptos"/>
                <a:ea typeface="Aptos"/>
                <a:cs typeface="Aptos"/>
              </a:defRPr>
            </a:pPr>
            <a:r>
              <a:rPr sz="675" b="0">
                <a:solidFill>
                  <a:srgbClr val="9AA1AD"/>
                </a:solidFill>
                <a:latin typeface="Aptos"/>
                <a:ea typeface="Aptos"/>
                <a:cs typeface="Aptos"/>
              </a:rPr>
              <a:t>4</a:t>
            </a:r>
          </a:p>
        </p:txBody>
      </p:sp>
      <p:sp>
        <p:nvSpPr>
          <p:cNvPr id="11" name="">
            <a:extLst xmlns:a="http://schemas.openxmlformats.org/drawingml/2006/main">
              <a:ext uri="{FF2B5EF4-FFF2-40B4-BE49-F238E27FC236}">
                <a16:creationId xmlns:a16="http://schemas.microsoft.com/office/drawing/2014/main" id="{11D90463-E60E-4D58-93CB-025117329CA6}"/>
              </a:ext>
            </a:extLst>
          </p:cNvPr>
          <p:cNvSpPr>
            <a:spLocks xmlns:a="http://schemas.openxmlformats.org/drawingml/2006/main" noGrp="1"/>
          </p:cNvSpPr>
          <p:nvPr/>
        </p:nvSpPr>
        <p:spPr>
          <a:xfrm xmlns:a="http://schemas.openxmlformats.org/drawingml/2006/main">
            <a:off x="552450" y="1762125"/>
            <a:ext cx="1619250" cy="2038350"/>
          </a:xfrm>
          <a:prstGeom xmlns:a="http://schemas.openxmlformats.org/drawingml/2006/main" prst="roundRect">
            <a:avLst>
              <a:gd name="adj" fmla="val 11176"/>
            </a:avLst>
          </a:prstGeom>
          <a:solidFill xmlns:a="http://schemas.openxmlformats.org/drawingml/2006/main">
            <a:srgbClr val="FFFFFF"/>
          </a:solidFill>
          <a:ln xmlns:a="http://schemas.openxmlformats.org/drawingml/2006/main" w="9525">
            <a:solidFill>
              <a:srgbClr val="E2E6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B55722B0-D3D5-4540-83E9-BC2A608CD534}"/>
              </a:ext>
            </a:extLst>
          </p:cNvPr>
          <p:cNvSpPr>
            <a:spLocks xmlns:a="http://schemas.openxmlformats.org/drawingml/2006/main" noGrp="1"/>
          </p:cNvSpPr>
          <p:nvPr/>
        </p:nvSpPr>
        <p:spPr>
          <a:xfrm xmlns:a="http://schemas.openxmlformats.org/drawingml/2006/main">
            <a:off x="552450" y="1762125"/>
            <a:ext cx="1619250" cy="66675"/>
          </a:xfrm>
          <a:prstGeom xmlns:a="http://schemas.openxmlformats.org/drawingml/2006/main" prst="rect">
            <a:avLst/>
          </a:prstGeom>
          <a:solidFill xmlns:a="http://schemas.openxmlformats.org/drawingml/2006/main">
            <a:srgbClr val="2E7D5A"/>
          </a:solidFill>
          <a:ln xmlns:a="http://schemas.openxmlformats.org/drawingml/2006/main" w="0">
            <a:solidFill>
              <a:srgbClr val="2E7D5A"/>
            </a:solidFill>
            <a:prstDash val="solid"/>
          </a:ln>
        </p:spPr>
      </p:sp>
      <p:sp>
        <p:nvSpPr>
          <p:cNvPr id="13" name="">
            <a:extLst xmlns:a="http://schemas.openxmlformats.org/drawingml/2006/main">
              <a:ext uri="{FF2B5EF4-FFF2-40B4-BE49-F238E27FC236}">
                <a16:creationId xmlns:a16="http://schemas.microsoft.com/office/drawing/2014/main" id="{BA0E2861-D8A6-48C8-8815-DCC8EBAB2153}"/>
              </a:ext>
            </a:extLst>
          </p:cNvPr>
          <p:cNvSpPr>
            <a:spLocks xmlns:a="http://schemas.openxmlformats.org/drawingml/2006/main" noGrp="1"/>
          </p:cNvSpPr>
          <p:nvPr/>
        </p:nvSpPr>
        <p:spPr>
          <a:xfrm xmlns:a="http://schemas.openxmlformats.org/drawingml/2006/main">
            <a:off x="742950" y="2009775"/>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2E7D5A"/>
                </a:solidFill>
                <a:latin typeface="Aptos"/>
                <a:ea typeface="Aptos"/>
                <a:cs typeface="Aptos"/>
              </a:defRPr>
            </a:pPr>
            <a:r>
              <a:rPr sz="1050" b="1">
                <a:solidFill>
                  <a:srgbClr val="2E7D5A"/>
                </a:solidFill>
                <a:latin typeface="Aptos"/>
                <a:ea typeface="Aptos"/>
                <a:cs typeface="Aptos"/>
              </a:rPr>
              <a:t>01</a:t>
            </a:r>
          </a:p>
        </p:txBody>
      </p:sp>
      <p:sp>
        <p:nvSpPr>
          <p:cNvPr id="14" name="">
            <a:extLst xmlns:a="http://schemas.openxmlformats.org/drawingml/2006/main">
              <a:ext uri="{FF2B5EF4-FFF2-40B4-BE49-F238E27FC236}">
                <a16:creationId xmlns:a16="http://schemas.microsoft.com/office/drawing/2014/main" id="{F10747F2-689D-4226-82C4-BD188CCB9A34}"/>
              </a:ext>
            </a:extLst>
          </p:cNvPr>
          <p:cNvSpPr>
            <a:spLocks xmlns:a="http://schemas.openxmlformats.org/drawingml/2006/main" noGrp="1"/>
          </p:cNvSpPr>
          <p:nvPr/>
        </p:nvSpPr>
        <p:spPr>
          <a:xfrm xmlns:a="http://schemas.openxmlformats.org/drawingml/2006/main">
            <a:off x="742950" y="245745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1">
                <a:solidFill>
                  <a:srgbClr val="101827"/>
                </a:solidFill>
                <a:latin typeface="Aptos Display"/>
                <a:ea typeface="Aptos Display"/>
                <a:cs typeface="Aptos Display"/>
              </a:defRPr>
            </a:pPr>
            <a:r>
              <a:rPr sz="1875" b="1">
                <a:solidFill>
                  <a:srgbClr val="101827"/>
                </a:solidFill>
                <a:latin typeface="Aptos Display"/>
                <a:ea typeface="Aptos Display"/>
                <a:cs typeface="Aptos Display"/>
              </a:rPr>
              <a:t>Discover</a:t>
            </a:r>
          </a:p>
        </p:txBody>
      </p:sp>
      <p:sp>
        <p:nvSpPr>
          <p:cNvPr id="15" name="">
            <a:extLst xmlns:a="http://schemas.openxmlformats.org/drawingml/2006/main">
              <a:ext uri="{FF2B5EF4-FFF2-40B4-BE49-F238E27FC236}">
                <a16:creationId xmlns:a16="http://schemas.microsoft.com/office/drawing/2014/main" id="{7F10645C-9A46-451C-BDC9-576BB6E32298}"/>
              </a:ext>
            </a:extLst>
          </p:cNvPr>
          <p:cNvSpPr>
            <a:spLocks xmlns:a="http://schemas.openxmlformats.org/drawingml/2006/main" noGrp="1"/>
          </p:cNvSpPr>
          <p:nvPr/>
        </p:nvSpPr>
        <p:spPr>
          <a:xfrm xmlns:a="http://schemas.openxmlformats.org/drawingml/2006/main">
            <a:off x="742950" y="2933700"/>
            <a:ext cx="123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a:solidFill>
                  <a:srgbClr val="626A78"/>
                </a:solidFill>
                <a:latin typeface="Aptos"/>
                <a:ea typeface="Aptos"/>
                <a:cs typeface="Aptos"/>
              </a:defRPr>
            </a:pPr>
            <a:r>
              <a:rPr sz="1200" b="0">
                <a:solidFill>
                  <a:srgbClr val="626A78"/>
                </a:solidFill>
                <a:latin typeface="Aptos"/>
                <a:ea typeface="Aptos"/>
                <a:cs typeface="Aptos"/>
              </a:rPr>
              <a:t>Explore + map</a:t>
            </a:r>
          </a:p>
        </p:txBody>
      </p:sp>
      <p:sp>
        <p:nvSpPr>
          <p:cNvPr id="16" name="">
            <a:extLst xmlns:a="http://schemas.openxmlformats.org/drawingml/2006/main">
              <a:ext uri="{FF2B5EF4-FFF2-40B4-BE49-F238E27FC236}">
                <a16:creationId xmlns:a16="http://schemas.microsoft.com/office/drawing/2014/main" id="{D8B538DE-903D-457E-BE65-9EEA3D221CA9}"/>
              </a:ext>
            </a:extLst>
          </p:cNvPr>
          <p:cNvSpPr>
            <a:spLocks xmlns:a="http://schemas.openxmlformats.org/drawingml/2006/main" noGrp="1"/>
          </p:cNvSpPr>
          <p:nvPr/>
        </p:nvSpPr>
        <p:spPr>
          <a:xfrm xmlns:a="http://schemas.openxmlformats.org/drawingml/2006/main">
            <a:off x="742950" y="3371850"/>
            <a:ext cx="990600" cy="266700"/>
          </a:xfrm>
          <a:prstGeom xmlns:a="http://schemas.openxmlformats.org/drawingml/2006/main" prst="roundRect">
            <a:avLst>
              <a:gd name="adj" fmla="val 50000"/>
            </a:avLst>
          </a:prstGeom>
          <a:solidFill xmlns:a="http://schemas.openxmlformats.org/drawingml/2006/main">
            <a:srgbClr val="2E7D5A">
              <a:alpha val="13333"/>
            </a:srgbClr>
          </a:solidFill>
          <a:ln xmlns:a="http://schemas.openxmlformats.org/drawingml/2006/main" w="0">
            <a:solidFill>
              <a:srgbClr val="2E7D5A">
                <a:alpha val="13333"/>
              </a:srgbClr>
            </a:solidFill>
            <a:prstDash val="solid"/>
          </a:ln>
        </p:spPr>
      </p:sp>
      <p:sp>
        <p:nvSpPr>
          <p:cNvPr id="17" name="">
            <a:extLst xmlns:a="http://schemas.openxmlformats.org/drawingml/2006/main">
              <a:ext uri="{FF2B5EF4-FFF2-40B4-BE49-F238E27FC236}">
                <a16:creationId xmlns:a16="http://schemas.microsoft.com/office/drawing/2014/main" id="{B3C2FCB4-A8D4-4054-83C7-C3400037934A}"/>
              </a:ext>
            </a:extLst>
          </p:cNvPr>
          <p:cNvSpPr>
            <a:spLocks xmlns:a="http://schemas.openxmlformats.org/drawingml/2006/main" noGrp="1"/>
          </p:cNvSpPr>
          <p:nvPr/>
        </p:nvSpPr>
        <p:spPr>
          <a:xfrm xmlns:a="http://schemas.openxmlformats.org/drawingml/2006/main">
            <a:off x="838200" y="3429000"/>
            <a:ext cx="8001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825" b="1">
                <a:solidFill>
                  <a:srgbClr val="2E7D5A"/>
                </a:solidFill>
                <a:latin typeface="Aptos"/>
                <a:ea typeface="Aptos"/>
                <a:cs typeface="Aptos"/>
              </a:defRPr>
            </a:pPr>
            <a:r>
              <a:rPr sz="825" b="1">
                <a:solidFill>
                  <a:srgbClr val="2E7D5A"/>
                </a:solidFill>
                <a:latin typeface="Aptos"/>
                <a:ea typeface="Aptos"/>
                <a:cs typeface="Aptos"/>
              </a:rPr>
              <a:t>BUILT</a:t>
            </a:r>
          </a:p>
        </p:txBody>
      </p:sp>
      <p:sp>
        <p:nvSpPr>
          <p:cNvPr id="18" name="">
            <a:extLst xmlns:a="http://schemas.openxmlformats.org/drawingml/2006/main">
              <a:ext uri="{FF2B5EF4-FFF2-40B4-BE49-F238E27FC236}">
                <a16:creationId xmlns:a16="http://schemas.microsoft.com/office/drawing/2014/main" id="{AF303D17-45EF-4F7D-98C9-077ADFE1856B}"/>
              </a:ext>
            </a:extLst>
          </p:cNvPr>
          <p:cNvSpPr>
            <a:spLocks xmlns:a="http://schemas.openxmlformats.org/drawingml/2006/main" noGrp="1"/>
          </p:cNvSpPr>
          <p:nvPr/>
        </p:nvSpPr>
        <p:spPr>
          <a:xfrm xmlns:a="http://schemas.openxmlformats.org/drawingml/2006/main">
            <a:off x="2190750" y="2562225"/>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020"/>
          </a:bodyPr>
          <a:lstStyle xmlns:a="http://schemas.openxmlformats.org/drawingml/2006/main"/>
          <a:p xmlns:a="http://schemas.openxmlformats.org/drawingml/2006/main">
            <a:pPr algn="ctr">
              <a:lnSpc>
                <a:spcPct val="105000"/>
              </a:lnSpc>
              <a:buNone/>
              <a:defRPr sz="1725" b="1">
                <a:solidFill>
                  <a:srgbClr val="A7AEB9"/>
                </a:solidFill>
                <a:latin typeface="Aptos"/>
                <a:ea typeface="Aptos"/>
                <a:cs typeface="Aptos"/>
              </a:defRPr>
            </a:pPr>
            <a:r>
              <a:rPr sz="1725" b="1">
                <a:solidFill>
                  <a:srgbClr val="A7AEB9"/>
                </a:solidFill>
                <a:latin typeface="Aptos"/>
                <a:ea typeface="Aptos"/>
                <a:cs typeface="Aptos"/>
              </a:rPr>
              <a:t>→</a:t>
            </a:r>
          </a:p>
        </p:txBody>
      </p:sp>
      <p:sp>
        <p:nvSpPr>
          <p:cNvPr id="19" name="">
            <a:extLst xmlns:a="http://schemas.openxmlformats.org/drawingml/2006/main">
              <a:ext uri="{FF2B5EF4-FFF2-40B4-BE49-F238E27FC236}">
                <a16:creationId xmlns:a16="http://schemas.microsoft.com/office/drawing/2014/main" id="{404087F6-B95E-49CA-B59F-927A6C3D203A}"/>
              </a:ext>
            </a:extLst>
          </p:cNvPr>
          <p:cNvSpPr>
            <a:spLocks xmlns:a="http://schemas.openxmlformats.org/drawingml/2006/main" noGrp="1"/>
          </p:cNvSpPr>
          <p:nvPr/>
        </p:nvSpPr>
        <p:spPr>
          <a:xfrm xmlns:a="http://schemas.openxmlformats.org/drawingml/2006/main">
            <a:off x="2390775" y="1762125"/>
            <a:ext cx="1619250" cy="2038350"/>
          </a:xfrm>
          <a:prstGeom xmlns:a="http://schemas.openxmlformats.org/drawingml/2006/main" prst="roundRect">
            <a:avLst>
              <a:gd name="adj" fmla="val 11176"/>
            </a:avLst>
          </a:prstGeom>
          <a:solidFill xmlns:a="http://schemas.openxmlformats.org/drawingml/2006/main">
            <a:srgbClr val="FFFFFF"/>
          </a:solidFill>
          <a:ln xmlns:a="http://schemas.openxmlformats.org/drawingml/2006/main" w="9525">
            <a:solidFill>
              <a:srgbClr val="E2E6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0" name="">
            <a:extLst xmlns:a="http://schemas.openxmlformats.org/drawingml/2006/main">
              <a:ext uri="{FF2B5EF4-FFF2-40B4-BE49-F238E27FC236}">
                <a16:creationId xmlns:a16="http://schemas.microsoft.com/office/drawing/2014/main" id="{C25E6C9C-84E5-4E89-BB39-417FDFBD5610}"/>
              </a:ext>
            </a:extLst>
          </p:cNvPr>
          <p:cNvSpPr>
            <a:spLocks xmlns:a="http://schemas.openxmlformats.org/drawingml/2006/main" noGrp="1"/>
          </p:cNvSpPr>
          <p:nvPr/>
        </p:nvSpPr>
        <p:spPr>
          <a:xfrm xmlns:a="http://schemas.openxmlformats.org/drawingml/2006/main">
            <a:off x="2390775" y="1762125"/>
            <a:ext cx="1619250" cy="66675"/>
          </a:xfrm>
          <a:prstGeom xmlns:a="http://schemas.openxmlformats.org/drawingml/2006/main" prst="rect">
            <a:avLst/>
          </a:prstGeom>
          <a:solidFill xmlns:a="http://schemas.openxmlformats.org/drawingml/2006/main">
            <a:srgbClr val="2E7D5A"/>
          </a:solidFill>
          <a:ln xmlns:a="http://schemas.openxmlformats.org/drawingml/2006/main" w="0">
            <a:solidFill>
              <a:srgbClr val="2E7D5A"/>
            </a:solidFill>
            <a:prstDash val="solid"/>
          </a:ln>
        </p:spPr>
      </p:sp>
      <p:sp>
        <p:nvSpPr>
          <p:cNvPr id="21" name="">
            <a:extLst xmlns:a="http://schemas.openxmlformats.org/drawingml/2006/main">
              <a:ext uri="{FF2B5EF4-FFF2-40B4-BE49-F238E27FC236}">
                <a16:creationId xmlns:a16="http://schemas.microsoft.com/office/drawing/2014/main" id="{BABFCE2E-5ADF-40BF-94F5-C6E7B92D908C}"/>
              </a:ext>
            </a:extLst>
          </p:cNvPr>
          <p:cNvSpPr>
            <a:spLocks xmlns:a="http://schemas.openxmlformats.org/drawingml/2006/main" noGrp="1"/>
          </p:cNvSpPr>
          <p:nvPr/>
        </p:nvSpPr>
        <p:spPr>
          <a:xfrm xmlns:a="http://schemas.openxmlformats.org/drawingml/2006/main">
            <a:off x="2581275" y="2009775"/>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2E7D5A"/>
                </a:solidFill>
                <a:latin typeface="Aptos"/>
                <a:ea typeface="Aptos"/>
                <a:cs typeface="Aptos"/>
              </a:defRPr>
            </a:pPr>
            <a:r>
              <a:rPr sz="1050" b="1">
                <a:solidFill>
                  <a:srgbClr val="2E7D5A"/>
                </a:solidFill>
                <a:latin typeface="Aptos"/>
                <a:ea typeface="Aptos"/>
                <a:cs typeface="Aptos"/>
              </a:rPr>
              <a:t>02</a:t>
            </a:r>
          </a:p>
        </p:txBody>
      </p:sp>
      <p:sp>
        <p:nvSpPr>
          <p:cNvPr id="22" name="">
            <a:extLst xmlns:a="http://schemas.openxmlformats.org/drawingml/2006/main">
              <a:ext uri="{FF2B5EF4-FFF2-40B4-BE49-F238E27FC236}">
                <a16:creationId xmlns:a16="http://schemas.microsoft.com/office/drawing/2014/main" id="{57EA7611-82A6-41F6-A80D-2FE785049C44}"/>
              </a:ext>
            </a:extLst>
          </p:cNvPr>
          <p:cNvSpPr>
            <a:spLocks xmlns:a="http://schemas.openxmlformats.org/drawingml/2006/main" noGrp="1"/>
          </p:cNvSpPr>
          <p:nvPr/>
        </p:nvSpPr>
        <p:spPr>
          <a:xfrm xmlns:a="http://schemas.openxmlformats.org/drawingml/2006/main">
            <a:off x="2581275" y="245745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1">
                <a:solidFill>
                  <a:srgbClr val="101827"/>
                </a:solidFill>
                <a:latin typeface="Aptos Display"/>
                <a:ea typeface="Aptos Display"/>
                <a:cs typeface="Aptos Display"/>
              </a:defRPr>
            </a:pPr>
            <a:r>
              <a:rPr sz="1875" b="1">
                <a:solidFill>
                  <a:srgbClr val="101827"/>
                </a:solidFill>
                <a:latin typeface="Aptos Display"/>
                <a:ea typeface="Aptos Display"/>
                <a:cs typeface="Aptos Display"/>
              </a:rPr>
              <a:t>Choose</a:t>
            </a:r>
          </a:p>
        </p:txBody>
      </p:sp>
      <p:sp>
        <p:nvSpPr>
          <p:cNvPr id="23" name="">
            <a:extLst xmlns:a="http://schemas.openxmlformats.org/drawingml/2006/main">
              <a:ext uri="{FF2B5EF4-FFF2-40B4-BE49-F238E27FC236}">
                <a16:creationId xmlns:a16="http://schemas.microsoft.com/office/drawing/2014/main" id="{0346F1E0-92F6-4476-B636-91712C7A3857}"/>
              </a:ext>
            </a:extLst>
          </p:cNvPr>
          <p:cNvSpPr>
            <a:spLocks xmlns:a="http://schemas.openxmlformats.org/drawingml/2006/main" noGrp="1"/>
          </p:cNvSpPr>
          <p:nvPr/>
        </p:nvSpPr>
        <p:spPr>
          <a:xfrm xmlns:a="http://schemas.openxmlformats.org/drawingml/2006/main">
            <a:off x="2581275" y="2933700"/>
            <a:ext cx="123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a:solidFill>
                  <a:srgbClr val="626A78"/>
                </a:solidFill>
                <a:latin typeface="Aptos"/>
                <a:ea typeface="Aptos"/>
                <a:cs typeface="Aptos"/>
              </a:defRPr>
            </a:pPr>
            <a:r>
              <a:rPr sz="1200" b="0">
                <a:solidFill>
                  <a:srgbClr val="626A78"/>
                </a:solidFill>
                <a:latin typeface="Aptos"/>
                <a:ea typeface="Aptos"/>
                <a:cs typeface="Aptos"/>
              </a:rPr>
              <a:t>Quest detail</a:t>
            </a:r>
          </a:p>
        </p:txBody>
      </p:sp>
      <p:sp>
        <p:nvSpPr>
          <p:cNvPr id="24" name="">
            <a:extLst xmlns:a="http://schemas.openxmlformats.org/drawingml/2006/main">
              <a:ext uri="{FF2B5EF4-FFF2-40B4-BE49-F238E27FC236}">
                <a16:creationId xmlns:a16="http://schemas.microsoft.com/office/drawing/2014/main" id="{B88F822F-B3B9-4ED5-83FE-2FE1D7F58A89}"/>
              </a:ext>
            </a:extLst>
          </p:cNvPr>
          <p:cNvSpPr>
            <a:spLocks xmlns:a="http://schemas.openxmlformats.org/drawingml/2006/main" noGrp="1"/>
          </p:cNvSpPr>
          <p:nvPr/>
        </p:nvSpPr>
        <p:spPr>
          <a:xfrm xmlns:a="http://schemas.openxmlformats.org/drawingml/2006/main">
            <a:off x="2581275" y="3371850"/>
            <a:ext cx="990600" cy="266700"/>
          </a:xfrm>
          <a:prstGeom xmlns:a="http://schemas.openxmlformats.org/drawingml/2006/main" prst="roundRect">
            <a:avLst>
              <a:gd name="adj" fmla="val 50000"/>
            </a:avLst>
          </a:prstGeom>
          <a:solidFill xmlns:a="http://schemas.openxmlformats.org/drawingml/2006/main">
            <a:srgbClr val="2E7D5A">
              <a:alpha val="13333"/>
            </a:srgbClr>
          </a:solidFill>
          <a:ln xmlns:a="http://schemas.openxmlformats.org/drawingml/2006/main" w="0">
            <a:solidFill>
              <a:srgbClr val="2E7D5A">
                <a:alpha val="13333"/>
              </a:srgbClr>
            </a:solidFill>
            <a:prstDash val="solid"/>
          </a:ln>
        </p:spPr>
      </p:sp>
      <p:sp>
        <p:nvSpPr>
          <p:cNvPr id="25" name="">
            <a:extLst xmlns:a="http://schemas.openxmlformats.org/drawingml/2006/main">
              <a:ext uri="{FF2B5EF4-FFF2-40B4-BE49-F238E27FC236}">
                <a16:creationId xmlns:a16="http://schemas.microsoft.com/office/drawing/2014/main" id="{00C9DB1D-1127-432E-ABD1-B56B026A2762}"/>
              </a:ext>
            </a:extLst>
          </p:cNvPr>
          <p:cNvSpPr>
            <a:spLocks xmlns:a="http://schemas.openxmlformats.org/drawingml/2006/main" noGrp="1"/>
          </p:cNvSpPr>
          <p:nvPr/>
        </p:nvSpPr>
        <p:spPr>
          <a:xfrm xmlns:a="http://schemas.openxmlformats.org/drawingml/2006/main">
            <a:off x="2676525" y="3429000"/>
            <a:ext cx="8001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825" b="1">
                <a:solidFill>
                  <a:srgbClr val="2E7D5A"/>
                </a:solidFill>
                <a:latin typeface="Aptos"/>
                <a:ea typeface="Aptos"/>
                <a:cs typeface="Aptos"/>
              </a:defRPr>
            </a:pPr>
            <a:r>
              <a:rPr sz="825" b="1">
                <a:solidFill>
                  <a:srgbClr val="2E7D5A"/>
                </a:solidFill>
                <a:latin typeface="Aptos"/>
                <a:ea typeface="Aptos"/>
                <a:cs typeface="Aptos"/>
              </a:rPr>
              <a:t>BUILT</a:t>
            </a:r>
          </a:p>
        </p:txBody>
      </p:sp>
      <p:sp>
        <p:nvSpPr>
          <p:cNvPr id="26" name="">
            <a:extLst xmlns:a="http://schemas.openxmlformats.org/drawingml/2006/main">
              <a:ext uri="{FF2B5EF4-FFF2-40B4-BE49-F238E27FC236}">
                <a16:creationId xmlns:a16="http://schemas.microsoft.com/office/drawing/2014/main" id="{8AB78C54-AF9D-4AFA-BB02-2905326BF1D8}"/>
              </a:ext>
            </a:extLst>
          </p:cNvPr>
          <p:cNvSpPr>
            <a:spLocks xmlns:a="http://schemas.openxmlformats.org/drawingml/2006/main" noGrp="1"/>
          </p:cNvSpPr>
          <p:nvPr/>
        </p:nvSpPr>
        <p:spPr>
          <a:xfrm xmlns:a="http://schemas.openxmlformats.org/drawingml/2006/main">
            <a:off x="4029075" y="2562225"/>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020"/>
          </a:bodyPr>
          <a:lstStyle xmlns:a="http://schemas.openxmlformats.org/drawingml/2006/main"/>
          <a:p xmlns:a="http://schemas.openxmlformats.org/drawingml/2006/main">
            <a:pPr algn="ctr">
              <a:lnSpc>
                <a:spcPct val="105000"/>
              </a:lnSpc>
              <a:buNone/>
              <a:defRPr sz="1725" b="1">
                <a:solidFill>
                  <a:srgbClr val="A7AEB9"/>
                </a:solidFill>
                <a:latin typeface="Aptos"/>
                <a:ea typeface="Aptos"/>
                <a:cs typeface="Aptos"/>
              </a:defRPr>
            </a:pPr>
            <a:r>
              <a:rPr sz="1725" b="1">
                <a:solidFill>
                  <a:srgbClr val="A7AEB9"/>
                </a:solidFill>
                <a:latin typeface="Aptos"/>
                <a:ea typeface="Aptos"/>
                <a:cs typeface="Aptos"/>
              </a:rPr>
              <a:t>→</a:t>
            </a:r>
          </a:p>
        </p:txBody>
      </p:sp>
      <p:sp>
        <p:nvSpPr>
          <p:cNvPr id="27" name="">
            <a:extLst xmlns:a="http://schemas.openxmlformats.org/drawingml/2006/main">
              <a:ext uri="{FF2B5EF4-FFF2-40B4-BE49-F238E27FC236}">
                <a16:creationId xmlns:a16="http://schemas.microsoft.com/office/drawing/2014/main" id="{8DE52D2E-A199-4650-98A9-2AF47F543746}"/>
              </a:ext>
            </a:extLst>
          </p:cNvPr>
          <p:cNvSpPr>
            <a:spLocks xmlns:a="http://schemas.openxmlformats.org/drawingml/2006/main" noGrp="1"/>
          </p:cNvSpPr>
          <p:nvPr/>
        </p:nvSpPr>
        <p:spPr>
          <a:xfrm xmlns:a="http://schemas.openxmlformats.org/drawingml/2006/main">
            <a:off x="4229100" y="1762125"/>
            <a:ext cx="1619250" cy="2038350"/>
          </a:xfrm>
          <a:prstGeom xmlns:a="http://schemas.openxmlformats.org/drawingml/2006/main" prst="roundRect">
            <a:avLst>
              <a:gd name="adj" fmla="val 11176"/>
            </a:avLst>
          </a:prstGeom>
          <a:solidFill xmlns:a="http://schemas.openxmlformats.org/drawingml/2006/main">
            <a:srgbClr val="FFFFFF"/>
          </a:solidFill>
          <a:ln xmlns:a="http://schemas.openxmlformats.org/drawingml/2006/main" w="9525">
            <a:solidFill>
              <a:srgbClr val="E2E6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8" name="">
            <a:extLst xmlns:a="http://schemas.openxmlformats.org/drawingml/2006/main">
              <a:ext uri="{FF2B5EF4-FFF2-40B4-BE49-F238E27FC236}">
                <a16:creationId xmlns:a16="http://schemas.microsoft.com/office/drawing/2014/main" id="{F96C21AE-A866-4E7D-A29E-7565A180732E}"/>
              </a:ext>
            </a:extLst>
          </p:cNvPr>
          <p:cNvSpPr>
            <a:spLocks xmlns:a="http://schemas.openxmlformats.org/drawingml/2006/main" noGrp="1"/>
          </p:cNvSpPr>
          <p:nvPr/>
        </p:nvSpPr>
        <p:spPr>
          <a:xfrm xmlns:a="http://schemas.openxmlformats.org/drawingml/2006/main">
            <a:off x="4229100" y="1762125"/>
            <a:ext cx="1619250" cy="66675"/>
          </a:xfrm>
          <a:prstGeom xmlns:a="http://schemas.openxmlformats.org/drawingml/2006/main" prst="rect">
            <a:avLst/>
          </a:prstGeom>
          <a:solidFill xmlns:a="http://schemas.openxmlformats.org/drawingml/2006/main">
            <a:srgbClr val="F2B94B"/>
          </a:solidFill>
          <a:ln xmlns:a="http://schemas.openxmlformats.org/drawingml/2006/main" w="0">
            <a:solidFill>
              <a:srgbClr val="F2B94B"/>
            </a:solidFill>
            <a:prstDash val="solid"/>
          </a:ln>
        </p:spPr>
      </p:sp>
      <p:sp>
        <p:nvSpPr>
          <p:cNvPr id="29" name="">
            <a:extLst xmlns:a="http://schemas.openxmlformats.org/drawingml/2006/main">
              <a:ext uri="{FF2B5EF4-FFF2-40B4-BE49-F238E27FC236}">
                <a16:creationId xmlns:a16="http://schemas.microsoft.com/office/drawing/2014/main" id="{5193626D-C7F9-4413-9BC0-70F19FAE2399}"/>
              </a:ext>
            </a:extLst>
          </p:cNvPr>
          <p:cNvSpPr>
            <a:spLocks xmlns:a="http://schemas.openxmlformats.org/drawingml/2006/main" noGrp="1"/>
          </p:cNvSpPr>
          <p:nvPr/>
        </p:nvSpPr>
        <p:spPr>
          <a:xfrm xmlns:a="http://schemas.openxmlformats.org/drawingml/2006/main">
            <a:off x="4419600" y="2009775"/>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F2B94B"/>
                </a:solidFill>
                <a:latin typeface="Aptos"/>
                <a:ea typeface="Aptos"/>
                <a:cs typeface="Aptos"/>
              </a:defRPr>
            </a:pPr>
            <a:r>
              <a:rPr sz="1050" b="1">
                <a:solidFill>
                  <a:srgbClr val="F2B94B"/>
                </a:solidFill>
                <a:latin typeface="Aptos"/>
                <a:ea typeface="Aptos"/>
                <a:cs typeface="Aptos"/>
              </a:rPr>
              <a:t>03</a:t>
            </a:r>
          </a:p>
        </p:txBody>
      </p:sp>
      <p:sp>
        <p:nvSpPr>
          <p:cNvPr id="30" name="">
            <a:extLst xmlns:a="http://schemas.openxmlformats.org/drawingml/2006/main">
              <a:ext uri="{FF2B5EF4-FFF2-40B4-BE49-F238E27FC236}">
                <a16:creationId xmlns:a16="http://schemas.microsoft.com/office/drawing/2014/main" id="{4B9F7B63-FB9F-4A97-BA1B-16F026D182C3}"/>
              </a:ext>
            </a:extLst>
          </p:cNvPr>
          <p:cNvSpPr>
            <a:spLocks xmlns:a="http://schemas.openxmlformats.org/drawingml/2006/main" noGrp="1"/>
          </p:cNvSpPr>
          <p:nvPr/>
        </p:nvSpPr>
        <p:spPr>
          <a:xfrm xmlns:a="http://schemas.openxmlformats.org/drawingml/2006/main">
            <a:off x="4419600" y="245745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1">
                <a:solidFill>
                  <a:srgbClr val="101827"/>
                </a:solidFill>
                <a:latin typeface="Aptos Display"/>
                <a:ea typeface="Aptos Display"/>
                <a:cs typeface="Aptos Display"/>
              </a:defRPr>
            </a:pPr>
            <a:r>
              <a:rPr sz="1875" b="1">
                <a:solidFill>
                  <a:srgbClr val="101827"/>
                </a:solidFill>
                <a:latin typeface="Aptos Display"/>
                <a:ea typeface="Aptos Display"/>
                <a:cs typeface="Aptos Display"/>
              </a:rPr>
              <a:t>Arrive</a:t>
            </a:r>
          </a:p>
        </p:txBody>
      </p:sp>
      <p:sp>
        <p:nvSpPr>
          <p:cNvPr id="31" name="">
            <a:extLst xmlns:a="http://schemas.openxmlformats.org/drawingml/2006/main">
              <a:ext uri="{FF2B5EF4-FFF2-40B4-BE49-F238E27FC236}">
                <a16:creationId xmlns:a16="http://schemas.microsoft.com/office/drawing/2014/main" id="{247D034B-3702-4E54-A2A6-0952DAC8CFC9}"/>
              </a:ext>
            </a:extLst>
          </p:cNvPr>
          <p:cNvSpPr>
            <a:spLocks xmlns:a="http://schemas.openxmlformats.org/drawingml/2006/main" noGrp="1"/>
          </p:cNvSpPr>
          <p:nvPr/>
        </p:nvSpPr>
        <p:spPr>
          <a:xfrm xmlns:a="http://schemas.openxmlformats.org/drawingml/2006/main">
            <a:off x="4419600" y="2933700"/>
            <a:ext cx="123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a:solidFill>
                  <a:srgbClr val="626A78"/>
                </a:solidFill>
                <a:latin typeface="Aptos"/>
                <a:ea typeface="Aptos"/>
                <a:cs typeface="Aptos"/>
              </a:defRPr>
            </a:pPr>
            <a:r>
              <a:rPr sz="1200" b="0">
                <a:solidFill>
                  <a:srgbClr val="626A78"/>
                </a:solidFill>
                <a:latin typeface="Aptos"/>
                <a:ea typeface="Aptos"/>
                <a:cs typeface="Aptos"/>
              </a:rPr>
              <a:t>QR / deep link</a:t>
            </a:r>
          </a:p>
        </p:txBody>
      </p:sp>
      <p:sp>
        <p:nvSpPr>
          <p:cNvPr id="32" name="">
            <a:extLst xmlns:a="http://schemas.openxmlformats.org/drawingml/2006/main">
              <a:ext uri="{FF2B5EF4-FFF2-40B4-BE49-F238E27FC236}">
                <a16:creationId xmlns:a16="http://schemas.microsoft.com/office/drawing/2014/main" id="{00775F90-B50E-46CC-8BB8-15267364B827}"/>
              </a:ext>
            </a:extLst>
          </p:cNvPr>
          <p:cNvSpPr>
            <a:spLocks xmlns:a="http://schemas.openxmlformats.org/drawingml/2006/main" noGrp="1"/>
          </p:cNvSpPr>
          <p:nvPr/>
        </p:nvSpPr>
        <p:spPr>
          <a:xfrm xmlns:a="http://schemas.openxmlformats.org/drawingml/2006/main">
            <a:off x="4419600" y="3371850"/>
            <a:ext cx="990600" cy="266700"/>
          </a:xfrm>
          <a:prstGeom xmlns:a="http://schemas.openxmlformats.org/drawingml/2006/main" prst="roundRect">
            <a:avLst>
              <a:gd name="adj" fmla="val 50000"/>
            </a:avLst>
          </a:prstGeom>
          <a:solidFill xmlns:a="http://schemas.openxmlformats.org/drawingml/2006/main">
            <a:srgbClr val="F2B94B">
              <a:alpha val="13333"/>
            </a:srgbClr>
          </a:solidFill>
          <a:ln xmlns:a="http://schemas.openxmlformats.org/drawingml/2006/main" w="0">
            <a:solidFill>
              <a:srgbClr val="F2B94B">
                <a:alpha val="13333"/>
              </a:srgbClr>
            </a:solidFill>
            <a:prstDash val="solid"/>
          </a:ln>
        </p:spPr>
      </p:sp>
      <p:sp>
        <p:nvSpPr>
          <p:cNvPr id="33" name="">
            <a:extLst xmlns:a="http://schemas.openxmlformats.org/drawingml/2006/main">
              <a:ext uri="{FF2B5EF4-FFF2-40B4-BE49-F238E27FC236}">
                <a16:creationId xmlns:a16="http://schemas.microsoft.com/office/drawing/2014/main" id="{C7BE3ECC-3974-43C0-9983-4188018390FD}"/>
              </a:ext>
            </a:extLst>
          </p:cNvPr>
          <p:cNvSpPr>
            <a:spLocks xmlns:a="http://schemas.openxmlformats.org/drawingml/2006/main" noGrp="1"/>
          </p:cNvSpPr>
          <p:nvPr/>
        </p:nvSpPr>
        <p:spPr>
          <a:xfrm xmlns:a="http://schemas.openxmlformats.org/drawingml/2006/main">
            <a:off x="4514850" y="3429000"/>
            <a:ext cx="8001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825" b="1">
                <a:solidFill>
                  <a:srgbClr val="F2B94B"/>
                </a:solidFill>
                <a:latin typeface="Aptos"/>
                <a:ea typeface="Aptos"/>
                <a:cs typeface="Aptos"/>
              </a:defRPr>
            </a:pPr>
            <a:r>
              <a:rPr sz="825" b="1">
                <a:solidFill>
                  <a:srgbClr val="F2B94B"/>
                </a:solidFill>
                <a:latin typeface="Aptos"/>
                <a:ea typeface="Aptos"/>
                <a:cs typeface="Aptos"/>
              </a:rPr>
              <a:t>PARTIAL</a:t>
            </a:r>
          </a:p>
        </p:txBody>
      </p:sp>
      <p:sp>
        <p:nvSpPr>
          <p:cNvPr id="34" name="">
            <a:extLst xmlns:a="http://schemas.openxmlformats.org/drawingml/2006/main">
              <a:ext uri="{FF2B5EF4-FFF2-40B4-BE49-F238E27FC236}">
                <a16:creationId xmlns:a16="http://schemas.microsoft.com/office/drawing/2014/main" id="{C7DCA86B-7E02-47AC-AB9A-5655CFC01AC5}"/>
              </a:ext>
            </a:extLst>
          </p:cNvPr>
          <p:cNvSpPr>
            <a:spLocks xmlns:a="http://schemas.openxmlformats.org/drawingml/2006/main" noGrp="1"/>
          </p:cNvSpPr>
          <p:nvPr/>
        </p:nvSpPr>
        <p:spPr>
          <a:xfrm xmlns:a="http://schemas.openxmlformats.org/drawingml/2006/main">
            <a:off x="5867400" y="2562225"/>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020"/>
          </a:bodyPr>
          <a:lstStyle xmlns:a="http://schemas.openxmlformats.org/drawingml/2006/main"/>
          <a:p xmlns:a="http://schemas.openxmlformats.org/drawingml/2006/main">
            <a:pPr algn="ctr">
              <a:lnSpc>
                <a:spcPct val="105000"/>
              </a:lnSpc>
              <a:buNone/>
              <a:defRPr sz="1725" b="1">
                <a:solidFill>
                  <a:srgbClr val="A7AEB9"/>
                </a:solidFill>
                <a:latin typeface="Aptos"/>
                <a:ea typeface="Aptos"/>
                <a:cs typeface="Aptos"/>
              </a:defRPr>
            </a:pPr>
            <a:r>
              <a:rPr sz="1725" b="1">
                <a:solidFill>
                  <a:srgbClr val="A7AEB9"/>
                </a:solidFill>
                <a:latin typeface="Aptos"/>
                <a:ea typeface="Aptos"/>
                <a:cs typeface="Aptos"/>
              </a:rPr>
              <a:t>→</a:t>
            </a:r>
          </a:p>
        </p:txBody>
      </p:sp>
      <p:sp>
        <p:nvSpPr>
          <p:cNvPr id="35" name="">
            <a:extLst xmlns:a="http://schemas.openxmlformats.org/drawingml/2006/main">
              <a:ext uri="{FF2B5EF4-FFF2-40B4-BE49-F238E27FC236}">
                <a16:creationId xmlns:a16="http://schemas.microsoft.com/office/drawing/2014/main" id="{93A9EB73-53EC-47C2-BDD3-4DBDFFD684FC}"/>
              </a:ext>
            </a:extLst>
          </p:cNvPr>
          <p:cNvSpPr>
            <a:spLocks xmlns:a="http://schemas.openxmlformats.org/drawingml/2006/main" noGrp="1"/>
          </p:cNvSpPr>
          <p:nvPr/>
        </p:nvSpPr>
        <p:spPr>
          <a:xfrm xmlns:a="http://schemas.openxmlformats.org/drawingml/2006/main">
            <a:off x="6067425" y="1762125"/>
            <a:ext cx="1619250" cy="2038350"/>
          </a:xfrm>
          <a:prstGeom xmlns:a="http://schemas.openxmlformats.org/drawingml/2006/main" prst="roundRect">
            <a:avLst>
              <a:gd name="adj" fmla="val 11176"/>
            </a:avLst>
          </a:prstGeom>
          <a:solidFill xmlns:a="http://schemas.openxmlformats.org/drawingml/2006/main">
            <a:srgbClr val="FFFFFF"/>
          </a:solidFill>
          <a:ln xmlns:a="http://schemas.openxmlformats.org/drawingml/2006/main" w="9525">
            <a:solidFill>
              <a:srgbClr val="E2E6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6" name="">
            <a:extLst xmlns:a="http://schemas.openxmlformats.org/drawingml/2006/main">
              <a:ext uri="{FF2B5EF4-FFF2-40B4-BE49-F238E27FC236}">
                <a16:creationId xmlns:a16="http://schemas.microsoft.com/office/drawing/2014/main" id="{1519391C-8C6A-496B-8124-D44C7E69DE4C}"/>
              </a:ext>
            </a:extLst>
          </p:cNvPr>
          <p:cNvSpPr>
            <a:spLocks xmlns:a="http://schemas.openxmlformats.org/drawingml/2006/main" noGrp="1"/>
          </p:cNvSpPr>
          <p:nvPr/>
        </p:nvSpPr>
        <p:spPr>
          <a:xfrm xmlns:a="http://schemas.openxmlformats.org/drawingml/2006/main">
            <a:off x="6067425" y="1762125"/>
            <a:ext cx="1619250" cy="66675"/>
          </a:xfrm>
          <a:prstGeom xmlns:a="http://schemas.openxmlformats.org/drawingml/2006/main" prst="rect">
            <a:avLst/>
          </a:prstGeom>
          <a:solidFill xmlns:a="http://schemas.openxmlformats.org/drawingml/2006/main">
            <a:srgbClr val="F2B94B"/>
          </a:solidFill>
          <a:ln xmlns:a="http://schemas.openxmlformats.org/drawingml/2006/main" w="0">
            <a:solidFill>
              <a:srgbClr val="F2B94B"/>
            </a:solidFill>
            <a:prstDash val="solid"/>
          </a:ln>
        </p:spPr>
      </p:sp>
      <p:sp>
        <p:nvSpPr>
          <p:cNvPr id="37" name="">
            <a:extLst xmlns:a="http://schemas.openxmlformats.org/drawingml/2006/main">
              <a:ext uri="{FF2B5EF4-FFF2-40B4-BE49-F238E27FC236}">
                <a16:creationId xmlns:a16="http://schemas.microsoft.com/office/drawing/2014/main" id="{6D1399D6-5EF4-41E5-8812-66AA9665FDF1}"/>
              </a:ext>
            </a:extLst>
          </p:cNvPr>
          <p:cNvSpPr>
            <a:spLocks xmlns:a="http://schemas.openxmlformats.org/drawingml/2006/main" noGrp="1"/>
          </p:cNvSpPr>
          <p:nvPr/>
        </p:nvSpPr>
        <p:spPr>
          <a:xfrm xmlns:a="http://schemas.openxmlformats.org/drawingml/2006/main">
            <a:off x="6257925" y="2009775"/>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F2B94B"/>
                </a:solidFill>
                <a:latin typeface="Aptos"/>
                <a:ea typeface="Aptos"/>
                <a:cs typeface="Aptos"/>
              </a:defRPr>
            </a:pPr>
            <a:r>
              <a:rPr sz="1050" b="1">
                <a:solidFill>
                  <a:srgbClr val="F2B94B"/>
                </a:solidFill>
                <a:latin typeface="Aptos"/>
                <a:ea typeface="Aptos"/>
                <a:cs typeface="Aptos"/>
              </a:rPr>
              <a:t>04</a:t>
            </a:r>
          </a:p>
        </p:txBody>
      </p:sp>
      <p:sp>
        <p:nvSpPr>
          <p:cNvPr id="38" name="">
            <a:extLst xmlns:a="http://schemas.openxmlformats.org/drawingml/2006/main">
              <a:ext uri="{FF2B5EF4-FFF2-40B4-BE49-F238E27FC236}">
                <a16:creationId xmlns:a16="http://schemas.microsoft.com/office/drawing/2014/main" id="{C5F1368F-4C3C-45D5-A835-D24927322286}"/>
              </a:ext>
            </a:extLst>
          </p:cNvPr>
          <p:cNvSpPr>
            <a:spLocks xmlns:a="http://schemas.openxmlformats.org/drawingml/2006/main" noGrp="1"/>
          </p:cNvSpPr>
          <p:nvPr/>
        </p:nvSpPr>
        <p:spPr>
          <a:xfrm xmlns:a="http://schemas.openxmlformats.org/drawingml/2006/main">
            <a:off x="6257925" y="245745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1">
                <a:solidFill>
                  <a:srgbClr val="101827"/>
                </a:solidFill>
                <a:latin typeface="Aptos Display"/>
                <a:ea typeface="Aptos Display"/>
                <a:cs typeface="Aptos Display"/>
              </a:defRPr>
            </a:pPr>
            <a:r>
              <a:rPr sz="1875" b="1">
                <a:solidFill>
                  <a:srgbClr val="101827"/>
                </a:solidFill>
                <a:latin typeface="Aptos Display"/>
                <a:ea typeface="Aptos Display"/>
                <a:cs typeface="Aptos Display"/>
              </a:rPr>
              <a:t>Complete</a:t>
            </a:r>
          </a:p>
        </p:txBody>
      </p:sp>
      <p:sp>
        <p:nvSpPr>
          <p:cNvPr id="39" name="">
            <a:extLst xmlns:a="http://schemas.openxmlformats.org/drawingml/2006/main">
              <a:ext uri="{FF2B5EF4-FFF2-40B4-BE49-F238E27FC236}">
                <a16:creationId xmlns:a16="http://schemas.microsoft.com/office/drawing/2014/main" id="{C8E79B63-FB51-4A71-AED6-E501BF3735EB}"/>
              </a:ext>
            </a:extLst>
          </p:cNvPr>
          <p:cNvSpPr>
            <a:spLocks xmlns:a="http://schemas.openxmlformats.org/drawingml/2006/main" noGrp="1"/>
          </p:cNvSpPr>
          <p:nvPr/>
        </p:nvSpPr>
        <p:spPr>
          <a:xfrm xmlns:a="http://schemas.openxmlformats.org/drawingml/2006/main">
            <a:off x="6257925" y="2933700"/>
            <a:ext cx="123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a:solidFill>
                  <a:srgbClr val="626A78"/>
                </a:solidFill>
                <a:latin typeface="Aptos"/>
                <a:ea typeface="Aptos"/>
                <a:cs typeface="Aptos"/>
              </a:defRPr>
            </a:pPr>
            <a:r>
              <a:rPr sz="1200" b="0">
                <a:solidFill>
                  <a:srgbClr val="626A78"/>
                </a:solidFill>
                <a:latin typeface="Aptos"/>
                <a:ea typeface="Aptos"/>
                <a:cs typeface="Aptos"/>
              </a:rPr>
              <a:t>RPC + proof</a:t>
            </a:r>
          </a:p>
        </p:txBody>
      </p:sp>
      <p:sp>
        <p:nvSpPr>
          <p:cNvPr id="40" name="">
            <a:extLst xmlns:a="http://schemas.openxmlformats.org/drawingml/2006/main">
              <a:ext uri="{FF2B5EF4-FFF2-40B4-BE49-F238E27FC236}">
                <a16:creationId xmlns:a16="http://schemas.microsoft.com/office/drawing/2014/main" id="{1325AD59-E39C-450D-B334-1AB6285D2A7A}"/>
              </a:ext>
            </a:extLst>
          </p:cNvPr>
          <p:cNvSpPr>
            <a:spLocks xmlns:a="http://schemas.openxmlformats.org/drawingml/2006/main" noGrp="1"/>
          </p:cNvSpPr>
          <p:nvPr/>
        </p:nvSpPr>
        <p:spPr>
          <a:xfrm xmlns:a="http://schemas.openxmlformats.org/drawingml/2006/main">
            <a:off x="6257925" y="3371850"/>
            <a:ext cx="990600" cy="266700"/>
          </a:xfrm>
          <a:prstGeom xmlns:a="http://schemas.openxmlformats.org/drawingml/2006/main" prst="roundRect">
            <a:avLst>
              <a:gd name="adj" fmla="val 50000"/>
            </a:avLst>
          </a:prstGeom>
          <a:solidFill xmlns:a="http://schemas.openxmlformats.org/drawingml/2006/main">
            <a:srgbClr val="F2B94B">
              <a:alpha val="13333"/>
            </a:srgbClr>
          </a:solidFill>
          <a:ln xmlns:a="http://schemas.openxmlformats.org/drawingml/2006/main" w="0">
            <a:solidFill>
              <a:srgbClr val="F2B94B">
                <a:alpha val="13333"/>
              </a:srgbClr>
            </a:solidFill>
            <a:prstDash val="solid"/>
          </a:ln>
        </p:spPr>
      </p:sp>
      <p:sp>
        <p:nvSpPr>
          <p:cNvPr id="41" name="">
            <a:extLst xmlns:a="http://schemas.openxmlformats.org/drawingml/2006/main">
              <a:ext uri="{FF2B5EF4-FFF2-40B4-BE49-F238E27FC236}">
                <a16:creationId xmlns:a16="http://schemas.microsoft.com/office/drawing/2014/main" id="{66A9E706-94B2-4BB7-BEAA-A826E77DB022}"/>
              </a:ext>
            </a:extLst>
          </p:cNvPr>
          <p:cNvSpPr>
            <a:spLocks xmlns:a="http://schemas.openxmlformats.org/drawingml/2006/main" noGrp="1"/>
          </p:cNvSpPr>
          <p:nvPr/>
        </p:nvSpPr>
        <p:spPr>
          <a:xfrm xmlns:a="http://schemas.openxmlformats.org/drawingml/2006/main">
            <a:off x="6353175" y="3429000"/>
            <a:ext cx="8001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825" b="1">
                <a:solidFill>
                  <a:srgbClr val="F2B94B"/>
                </a:solidFill>
                <a:latin typeface="Aptos"/>
                <a:ea typeface="Aptos"/>
                <a:cs typeface="Aptos"/>
              </a:defRPr>
            </a:pPr>
            <a:r>
              <a:rPr sz="825" b="1">
                <a:solidFill>
                  <a:srgbClr val="F2B94B"/>
                </a:solidFill>
                <a:latin typeface="Aptos"/>
                <a:ea typeface="Aptos"/>
                <a:cs typeface="Aptos"/>
              </a:rPr>
              <a:t>PARTIAL</a:t>
            </a:r>
          </a:p>
        </p:txBody>
      </p:sp>
      <p:sp>
        <p:nvSpPr>
          <p:cNvPr id="42" name="">
            <a:extLst xmlns:a="http://schemas.openxmlformats.org/drawingml/2006/main">
              <a:ext uri="{FF2B5EF4-FFF2-40B4-BE49-F238E27FC236}">
                <a16:creationId xmlns:a16="http://schemas.microsoft.com/office/drawing/2014/main" id="{93ACFDB9-F4DA-45DE-B062-E79B32F9B946}"/>
              </a:ext>
            </a:extLst>
          </p:cNvPr>
          <p:cNvSpPr>
            <a:spLocks xmlns:a="http://schemas.openxmlformats.org/drawingml/2006/main" noGrp="1"/>
          </p:cNvSpPr>
          <p:nvPr/>
        </p:nvSpPr>
        <p:spPr>
          <a:xfrm xmlns:a="http://schemas.openxmlformats.org/drawingml/2006/main">
            <a:off x="7705725" y="2562225"/>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020"/>
          </a:bodyPr>
          <a:lstStyle xmlns:a="http://schemas.openxmlformats.org/drawingml/2006/main"/>
          <a:p xmlns:a="http://schemas.openxmlformats.org/drawingml/2006/main">
            <a:pPr algn="ctr">
              <a:lnSpc>
                <a:spcPct val="105000"/>
              </a:lnSpc>
              <a:buNone/>
              <a:defRPr sz="1725" b="1">
                <a:solidFill>
                  <a:srgbClr val="A7AEB9"/>
                </a:solidFill>
                <a:latin typeface="Aptos"/>
                <a:ea typeface="Aptos"/>
                <a:cs typeface="Aptos"/>
              </a:defRPr>
            </a:pPr>
            <a:r>
              <a:rPr sz="1725" b="1">
                <a:solidFill>
                  <a:srgbClr val="A7AEB9"/>
                </a:solidFill>
                <a:latin typeface="Aptos"/>
                <a:ea typeface="Aptos"/>
                <a:cs typeface="Aptos"/>
              </a:rPr>
              <a:t>→</a:t>
            </a:r>
          </a:p>
        </p:txBody>
      </p:sp>
      <p:sp>
        <p:nvSpPr>
          <p:cNvPr id="43" name="">
            <a:extLst xmlns:a="http://schemas.openxmlformats.org/drawingml/2006/main">
              <a:ext uri="{FF2B5EF4-FFF2-40B4-BE49-F238E27FC236}">
                <a16:creationId xmlns:a16="http://schemas.microsoft.com/office/drawing/2014/main" id="{18613D1D-BC46-4C72-97B7-8E11E4E5E81B}"/>
              </a:ext>
            </a:extLst>
          </p:cNvPr>
          <p:cNvSpPr>
            <a:spLocks xmlns:a="http://schemas.openxmlformats.org/drawingml/2006/main" noGrp="1"/>
          </p:cNvSpPr>
          <p:nvPr/>
        </p:nvSpPr>
        <p:spPr>
          <a:xfrm xmlns:a="http://schemas.openxmlformats.org/drawingml/2006/main">
            <a:off x="7905750" y="1762125"/>
            <a:ext cx="1619250" cy="2038350"/>
          </a:xfrm>
          <a:prstGeom xmlns:a="http://schemas.openxmlformats.org/drawingml/2006/main" prst="roundRect">
            <a:avLst>
              <a:gd name="adj" fmla="val 11176"/>
            </a:avLst>
          </a:prstGeom>
          <a:solidFill xmlns:a="http://schemas.openxmlformats.org/drawingml/2006/main">
            <a:srgbClr val="FFFFFF"/>
          </a:solidFill>
          <a:ln xmlns:a="http://schemas.openxmlformats.org/drawingml/2006/main" w="9525">
            <a:solidFill>
              <a:srgbClr val="E2E6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4" name="">
            <a:extLst xmlns:a="http://schemas.openxmlformats.org/drawingml/2006/main">
              <a:ext uri="{FF2B5EF4-FFF2-40B4-BE49-F238E27FC236}">
                <a16:creationId xmlns:a16="http://schemas.microsoft.com/office/drawing/2014/main" id="{D51225ED-7E9E-46A5-AAFA-7BD260E34423}"/>
              </a:ext>
            </a:extLst>
          </p:cNvPr>
          <p:cNvSpPr>
            <a:spLocks xmlns:a="http://schemas.openxmlformats.org/drawingml/2006/main" noGrp="1"/>
          </p:cNvSpPr>
          <p:nvPr/>
        </p:nvSpPr>
        <p:spPr>
          <a:xfrm xmlns:a="http://schemas.openxmlformats.org/drawingml/2006/main">
            <a:off x="7905750" y="1762125"/>
            <a:ext cx="1619250" cy="66675"/>
          </a:xfrm>
          <a:prstGeom xmlns:a="http://schemas.openxmlformats.org/drawingml/2006/main" prst="rect">
            <a:avLst/>
          </a:prstGeom>
          <a:solidFill xmlns:a="http://schemas.openxmlformats.org/drawingml/2006/main">
            <a:srgbClr val="FF6F61"/>
          </a:solidFill>
          <a:ln xmlns:a="http://schemas.openxmlformats.org/drawingml/2006/main" w="0">
            <a:solidFill>
              <a:srgbClr val="FF6F61"/>
            </a:solidFill>
            <a:prstDash val="solid"/>
          </a:ln>
        </p:spPr>
      </p:sp>
      <p:sp>
        <p:nvSpPr>
          <p:cNvPr id="45" name="">
            <a:extLst xmlns:a="http://schemas.openxmlformats.org/drawingml/2006/main">
              <a:ext uri="{FF2B5EF4-FFF2-40B4-BE49-F238E27FC236}">
                <a16:creationId xmlns:a16="http://schemas.microsoft.com/office/drawing/2014/main" id="{C336DC82-EF3A-4F1C-980B-3FB7345CC7B0}"/>
              </a:ext>
            </a:extLst>
          </p:cNvPr>
          <p:cNvSpPr>
            <a:spLocks xmlns:a="http://schemas.openxmlformats.org/drawingml/2006/main" noGrp="1"/>
          </p:cNvSpPr>
          <p:nvPr/>
        </p:nvSpPr>
        <p:spPr>
          <a:xfrm xmlns:a="http://schemas.openxmlformats.org/drawingml/2006/main">
            <a:off x="8096250" y="2009775"/>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FF6F61"/>
                </a:solidFill>
                <a:latin typeface="Aptos"/>
                <a:ea typeface="Aptos"/>
                <a:cs typeface="Aptos"/>
              </a:defRPr>
            </a:pPr>
            <a:r>
              <a:rPr sz="1050" b="1">
                <a:solidFill>
                  <a:srgbClr val="FF6F61"/>
                </a:solidFill>
                <a:latin typeface="Aptos"/>
                <a:ea typeface="Aptos"/>
                <a:cs typeface="Aptos"/>
              </a:rPr>
              <a:t>05</a:t>
            </a:r>
          </a:p>
        </p:txBody>
      </p:sp>
      <p:sp>
        <p:nvSpPr>
          <p:cNvPr id="46" name="">
            <a:extLst xmlns:a="http://schemas.openxmlformats.org/drawingml/2006/main">
              <a:ext uri="{FF2B5EF4-FFF2-40B4-BE49-F238E27FC236}">
                <a16:creationId xmlns:a16="http://schemas.microsoft.com/office/drawing/2014/main" id="{E8442FBD-3AB5-4FE8-ADE3-72D73976D227}"/>
              </a:ext>
            </a:extLst>
          </p:cNvPr>
          <p:cNvSpPr>
            <a:spLocks xmlns:a="http://schemas.openxmlformats.org/drawingml/2006/main" noGrp="1"/>
          </p:cNvSpPr>
          <p:nvPr/>
        </p:nvSpPr>
        <p:spPr>
          <a:xfrm xmlns:a="http://schemas.openxmlformats.org/drawingml/2006/main">
            <a:off x="8096250" y="245745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1">
                <a:solidFill>
                  <a:srgbClr val="101827"/>
                </a:solidFill>
                <a:latin typeface="Aptos Display"/>
                <a:ea typeface="Aptos Display"/>
                <a:cs typeface="Aptos Display"/>
              </a:defRPr>
            </a:pPr>
            <a:r>
              <a:rPr sz="1875" b="1">
                <a:solidFill>
                  <a:srgbClr val="101827"/>
                </a:solidFill>
                <a:latin typeface="Aptos Display"/>
                <a:ea typeface="Aptos Display"/>
                <a:cs typeface="Aptos Display"/>
              </a:rPr>
              <a:t>Progress</a:t>
            </a:r>
          </a:p>
        </p:txBody>
      </p:sp>
      <p:sp>
        <p:nvSpPr>
          <p:cNvPr id="47" name="">
            <a:extLst xmlns:a="http://schemas.openxmlformats.org/drawingml/2006/main">
              <a:ext uri="{FF2B5EF4-FFF2-40B4-BE49-F238E27FC236}">
                <a16:creationId xmlns:a16="http://schemas.microsoft.com/office/drawing/2014/main" id="{CD5B3C76-1B20-41E2-AEC8-5BF0762E6EF7}"/>
              </a:ext>
            </a:extLst>
          </p:cNvPr>
          <p:cNvSpPr>
            <a:spLocks xmlns:a="http://schemas.openxmlformats.org/drawingml/2006/main" noGrp="1"/>
          </p:cNvSpPr>
          <p:nvPr/>
        </p:nvSpPr>
        <p:spPr>
          <a:xfrm xmlns:a="http://schemas.openxmlformats.org/drawingml/2006/main">
            <a:off x="8096250" y="2933700"/>
            <a:ext cx="123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a:solidFill>
                  <a:srgbClr val="626A78"/>
                </a:solidFill>
                <a:latin typeface="Aptos"/>
                <a:ea typeface="Aptos"/>
                <a:cs typeface="Aptos"/>
              </a:defRPr>
            </a:pPr>
            <a:r>
              <a:rPr sz="1200" b="0">
                <a:solidFill>
                  <a:srgbClr val="626A78"/>
                </a:solidFill>
                <a:latin typeface="Aptos"/>
                <a:ea typeface="Aptos"/>
                <a:cs typeface="Aptos"/>
              </a:rPr>
              <a:t>XP + points</a:t>
            </a:r>
          </a:p>
        </p:txBody>
      </p:sp>
      <p:sp>
        <p:nvSpPr>
          <p:cNvPr id="48" name="">
            <a:extLst xmlns:a="http://schemas.openxmlformats.org/drawingml/2006/main">
              <a:ext uri="{FF2B5EF4-FFF2-40B4-BE49-F238E27FC236}">
                <a16:creationId xmlns:a16="http://schemas.microsoft.com/office/drawing/2014/main" id="{7030054F-1B4F-44D5-9C0C-AF9E8AA5CA6A}"/>
              </a:ext>
            </a:extLst>
          </p:cNvPr>
          <p:cNvSpPr>
            <a:spLocks xmlns:a="http://schemas.openxmlformats.org/drawingml/2006/main" noGrp="1"/>
          </p:cNvSpPr>
          <p:nvPr/>
        </p:nvSpPr>
        <p:spPr>
          <a:xfrm xmlns:a="http://schemas.openxmlformats.org/drawingml/2006/main">
            <a:off x="8096250" y="3371850"/>
            <a:ext cx="990600" cy="266700"/>
          </a:xfrm>
          <a:prstGeom xmlns:a="http://schemas.openxmlformats.org/drawingml/2006/main" prst="roundRect">
            <a:avLst>
              <a:gd name="adj" fmla="val 50000"/>
            </a:avLst>
          </a:prstGeom>
          <a:solidFill xmlns:a="http://schemas.openxmlformats.org/drawingml/2006/main">
            <a:srgbClr val="FF6F61">
              <a:alpha val="13333"/>
            </a:srgbClr>
          </a:solidFill>
          <a:ln xmlns:a="http://schemas.openxmlformats.org/drawingml/2006/main" w="0">
            <a:solidFill>
              <a:srgbClr val="FF6F61">
                <a:alpha val="13333"/>
              </a:srgbClr>
            </a:solidFill>
            <a:prstDash val="solid"/>
          </a:ln>
        </p:spPr>
      </p:sp>
      <p:sp>
        <p:nvSpPr>
          <p:cNvPr id="49" name="">
            <a:extLst xmlns:a="http://schemas.openxmlformats.org/drawingml/2006/main">
              <a:ext uri="{FF2B5EF4-FFF2-40B4-BE49-F238E27FC236}">
                <a16:creationId xmlns:a16="http://schemas.microsoft.com/office/drawing/2014/main" id="{5F982035-C58C-4794-9FA5-4DF17ACF3E0F}"/>
              </a:ext>
            </a:extLst>
          </p:cNvPr>
          <p:cNvSpPr>
            <a:spLocks xmlns:a="http://schemas.openxmlformats.org/drawingml/2006/main" noGrp="1"/>
          </p:cNvSpPr>
          <p:nvPr/>
        </p:nvSpPr>
        <p:spPr>
          <a:xfrm xmlns:a="http://schemas.openxmlformats.org/drawingml/2006/main">
            <a:off x="8191500" y="3429000"/>
            <a:ext cx="8001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825" b="1">
                <a:solidFill>
                  <a:srgbClr val="FF6F61"/>
                </a:solidFill>
                <a:latin typeface="Aptos"/>
                <a:ea typeface="Aptos"/>
                <a:cs typeface="Aptos"/>
              </a:defRPr>
            </a:pPr>
            <a:r>
              <a:rPr sz="825" b="1">
                <a:solidFill>
                  <a:srgbClr val="FF6F61"/>
                </a:solidFill>
                <a:latin typeface="Aptos"/>
                <a:ea typeface="Aptos"/>
                <a:cs typeface="Aptos"/>
              </a:rPr>
              <a:t>BLOCKED</a:t>
            </a:r>
          </a:p>
        </p:txBody>
      </p:sp>
      <p:sp>
        <p:nvSpPr>
          <p:cNvPr id="50" name="">
            <a:extLst xmlns:a="http://schemas.openxmlformats.org/drawingml/2006/main">
              <a:ext uri="{FF2B5EF4-FFF2-40B4-BE49-F238E27FC236}">
                <a16:creationId xmlns:a16="http://schemas.microsoft.com/office/drawing/2014/main" id="{556783C6-1AC9-49F9-9ABF-30296F25372F}"/>
              </a:ext>
            </a:extLst>
          </p:cNvPr>
          <p:cNvSpPr>
            <a:spLocks xmlns:a="http://schemas.openxmlformats.org/drawingml/2006/main" noGrp="1"/>
          </p:cNvSpPr>
          <p:nvPr/>
        </p:nvSpPr>
        <p:spPr>
          <a:xfrm xmlns:a="http://schemas.openxmlformats.org/drawingml/2006/main">
            <a:off x="9544050" y="2562225"/>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020"/>
          </a:bodyPr>
          <a:lstStyle xmlns:a="http://schemas.openxmlformats.org/drawingml/2006/main"/>
          <a:p xmlns:a="http://schemas.openxmlformats.org/drawingml/2006/main">
            <a:pPr algn="ctr">
              <a:lnSpc>
                <a:spcPct val="105000"/>
              </a:lnSpc>
              <a:buNone/>
              <a:defRPr sz="1725" b="1">
                <a:solidFill>
                  <a:srgbClr val="A7AEB9"/>
                </a:solidFill>
                <a:latin typeface="Aptos"/>
                <a:ea typeface="Aptos"/>
                <a:cs typeface="Aptos"/>
              </a:defRPr>
            </a:pPr>
            <a:r>
              <a:rPr sz="1725" b="1">
                <a:solidFill>
                  <a:srgbClr val="A7AEB9"/>
                </a:solidFill>
                <a:latin typeface="Aptos"/>
                <a:ea typeface="Aptos"/>
                <a:cs typeface="Aptos"/>
              </a:rPr>
              <a:t>→</a:t>
            </a:r>
          </a:p>
        </p:txBody>
      </p:sp>
      <p:sp>
        <p:nvSpPr>
          <p:cNvPr id="51" name="">
            <a:extLst xmlns:a="http://schemas.openxmlformats.org/drawingml/2006/main">
              <a:ext uri="{FF2B5EF4-FFF2-40B4-BE49-F238E27FC236}">
                <a16:creationId xmlns:a16="http://schemas.microsoft.com/office/drawing/2014/main" id="{7FA58676-EB68-41DC-A65F-06144FA56253}"/>
              </a:ext>
            </a:extLst>
          </p:cNvPr>
          <p:cNvSpPr>
            <a:spLocks xmlns:a="http://schemas.openxmlformats.org/drawingml/2006/main" noGrp="1"/>
          </p:cNvSpPr>
          <p:nvPr/>
        </p:nvSpPr>
        <p:spPr>
          <a:xfrm xmlns:a="http://schemas.openxmlformats.org/drawingml/2006/main">
            <a:off x="9744075" y="1762125"/>
            <a:ext cx="1619250" cy="2038350"/>
          </a:xfrm>
          <a:prstGeom xmlns:a="http://schemas.openxmlformats.org/drawingml/2006/main" prst="roundRect">
            <a:avLst>
              <a:gd name="adj" fmla="val 11176"/>
            </a:avLst>
          </a:prstGeom>
          <a:solidFill xmlns:a="http://schemas.openxmlformats.org/drawingml/2006/main">
            <a:srgbClr val="FFFFFF"/>
          </a:solidFill>
          <a:ln xmlns:a="http://schemas.openxmlformats.org/drawingml/2006/main" w="9525">
            <a:solidFill>
              <a:srgbClr val="E2E6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2" name="">
            <a:extLst xmlns:a="http://schemas.openxmlformats.org/drawingml/2006/main">
              <a:ext uri="{FF2B5EF4-FFF2-40B4-BE49-F238E27FC236}">
                <a16:creationId xmlns:a16="http://schemas.microsoft.com/office/drawing/2014/main" id="{27F4541A-792A-4878-B0D1-D894A01562C2}"/>
              </a:ext>
            </a:extLst>
          </p:cNvPr>
          <p:cNvSpPr>
            <a:spLocks xmlns:a="http://schemas.openxmlformats.org/drawingml/2006/main" noGrp="1"/>
          </p:cNvSpPr>
          <p:nvPr/>
        </p:nvSpPr>
        <p:spPr>
          <a:xfrm xmlns:a="http://schemas.openxmlformats.org/drawingml/2006/main">
            <a:off x="9744075" y="1762125"/>
            <a:ext cx="1619250" cy="6667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53" name="">
            <a:extLst xmlns:a="http://schemas.openxmlformats.org/drawingml/2006/main">
              <a:ext uri="{FF2B5EF4-FFF2-40B4-BE49-F238E27FC236}">
                <a16:creationId xmlns:a16="http://schemas.microsoft.com/office/drawing/2014/main" id="{0F420306-3ECF-453A-B6F3-1178ECDE1CD5}"/>
              </a:ext>
            </a:extLst>
          </p:cNvPr>
          <p:cNvSpPr>
            <a:spLocks xmlns:a="http://schemas.openxmlformats.org/drawingml/2006/main" noGrp="1"/>
          </p:cNvSpPr>
          <p:nvPr/>
        </p:nvSpPr>
        <p:spPr>
          <a:xfrm xmlns:a="http://schemas.openxmlformats.org/drawingml/2006/main">
            <a:off x="9934575" y="2009775"/>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2563EB"/>
                </a:solidFill>
                <a:latin typeface="Aptos"/>
                <a:ea typeface="Aptos"/>
                <a:cs typeface="Aptos"/>
              </a:defRPr>
            </a:pPr>
            <a:r>
              <a:rPr sz="1050" b="1">
                <a:solidFill>
                  <a:srgbClr val="2563EB"/>
                </a:solidFill>
                <a:latin typeface="Aptos"/>
                <a:ea typeface="Aptos"/>
                <a:cs typeface="Aptos"/>
              </a:rPr>
              <a:t>06</a:t>
            </a:r>
          </a:p>
        </p:txBody>
      </p:sp>
      <p:sp>
        <p:nvSpPr>
          <p:cNvPr id="54" name="">
            <a:extLst xmlns:a="http://schemas.openxmlformats.org/drawingml/2006/main">
              <a:ext uri="{FF2B5EF4-FFF2-40B4-BE49-F238E27FC236}">
                <a16:creationId xmlns:a16="http://schemas.microsoft.com/office/drawing/2014/main" id="{E4F53C22-BC9F-4FCB-8336-E2EAAC8971DE}"/>
              </a:ext>
            </a:extLst>
          </p:cNvPr>
          <p:cNvSpPr>
            <a:spLocks xmlns:a="http://schemas.openxmlformats.org/drawingml/2006/main" noGrp="1"/>
          </p:cNvSpPr>
          <p:nvPr/>
        </p:nvSpPr>
        <p:spPr>
          <a:xfrm xmlns:a="http://schemas.openxmlformats.org/drawingml/2006/main">
            <a:off x="9934575" y="245745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1">
                <a:solidFill>
                  <a:srgbClr val="101827"/>
                </a:solidFill>
                <a:latin typeface="Aptos Display"/>
                <a:ea typeface="Aptos Display"/>
                <a:cs typeface="Aptos Display"/>
              </a:defRPr>
            </a:pPr>
            <a:r>
              <a:rPr sz="1875" b="1">
                <a:solidFill>
                  <a:srgbClr val="101827"/>
                </a:solidFill>
                <a:latin typeface="Aptos Display"/>
                <a:ea typeface="Aptos Display"/>
                <a:cs typeface="Aptos Display"/>
              </a:rPr>
              <a:t>Return</a:t>
            </a:r>
          </a:p>
        </p:txBody>
      </p:sp>
      <p:sp>
        <p:nvSpPr>
          <p:cNvPr id="55" name="">
            <a:extLst xmlns:a="http://schemas.openxmlformats.org/drawingml/2006/main">
              <a:ext uri="{FF2B5EF4-FFF2-40B4-BE49-F238E27FC236}">
                <a16:creationId xmlns:a16="http://schemas.microsoft.com/office/drawing/2014/main" id="{9588D7C8-160D-4F17-99F3-23D79839F716}"/>
              </a:ext>
            </a:extLst>
          </p:cNvPr>
          <p:cNvSpPr>
            <a:spLocks xmlns:a="http://schemas.openxmlformats.org/drawingml/2006/main" noGrp="1"/>
          </p:cNvSpPr>
          <p:nvPr/>
        </p:nvSpPr>
        <p:spPr>
          <a:xfrm xmlns:a="http://schemas.openxmlformats.org/drawingml/2006/main">
            <a:off x="9934575" y="2933700"/>
            <a:ext cx="123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a:solidFill>
                  <a:srgbClr val="626A78"/>
                </a:solidFill>
                <a:latin typeface="Aptos"/>
                <a:ea typeface="Aptos"/>
                <a:cs typeface="Aptos"/>
              </a:defRPr>
            </a:pPr>
            <a:r>
              <a:rPr sz="1200" b="0">
                <a:solidFill>
                  <a:srgbClr val="626A78"/>
                </a:solidFill>
                <a:latin typeface="Aptos"/>
                <a:ea typeface="Aptos"/>
                <a:cs typeface="Aptos"/>
              </a:rPr>
              <a:t>Rewards + streak</a:t>
            </a:r>
          </a:p>
        </p:txBody>
      </p:sp>
      <p:sp>
        <p:nvSpPr>
          <p:cNvPr id="56" name="">
            <a:extLst xmlns:a="http://schemas.openxmlformats.org/drawingml/2006/main">
              <a:ext uri="{FF2B5EF4-FFF2-40B4-BE49-F238E27FC236}">
                <a16:creationId xmlns:a16="http://schemas.microsoft.com/office/drawing/2014/main" id="{5284D03F-F919-416E-8765-67C822787D01}"/>
              </a:ext>
            </a:extLst>
          </p:cNvPr>
          <p:cNvSpPr>
            <a:spLocks xmlns:a="http://schemas.openxmlformats.org/drawingml/2006/main" noGrp="1"/>
          </p:cNvSpPr>
          <p:nvPr/>
        </p:nvSpPr>
        <p:spPr>
          <a:xfrm xmlns:a="http://schemas.openxmlformats.org/drawingml/2006/main">
            <a:off x="9934575" y="3371850"/>
            <a:ext cx="990600" cy="266700"/>
          </a:xfrm>
          <a:prstGeom xmlns:a="http://schemas.openxmlformats.org/drawingml/2006/main" prst="roundRect">
            <a:avLst>
              <a:gd name="adj" fmla="val 50000"/>
            </a:avLst>
          </a:prstGeom>
          <a:solidFill xmlns:a="http://schemas.openxmlformats.org/drawingml/2006/main">
            <a:srgbClr val="2563EB">
              <a:alpha val="13333"/>
            </a:srgbClr>
          </a:solidFill>
          <a:ln xmlns:a="http://schemas.openxmlformats.org/drawingml/2006/main" w="0">
            <a:solidFill>
              <a:srgbClr val="2563EB">
                <a:alpha val="13333"/>
              </a:srgbClr>
            </a:solidFill>
            <a:prstDash val="solid"/>
          </a:ln>
        </p:spPr>
      </p:sp>
      <p:sp>
        <p:nvSpPr>
          <p:cNvPr id="57" name="">
            <a:extLst xmlns:a="http://schemas.openxmlformats.org/drawingml/2006/main">
              <a:ext uri="{FF2B5EF4-FFF2-40B4-BE49-F238E27FC236}">
                <a16:creationId xmlns:a16="http://schemas.microsoft.com/office/drawing/2014/main" id="{BBACCD49-9584-40E1-B2D2-52743F13AADE}"/>
              </a:ext>
            </a:extLst>
          </p:cNvPr>
          <p:cNvSpPr>
            <a:spLocks xmlns:a="http://schemas.openxmlformats.org/drawingml/2006/main" noGrp="1"/>
          </p:cNvSpPr>
          <p:nvPr/>
        </p:nvSpPr>
        <p:spPr>
          <a:xfrm xmlns:a="http://schemas.openxmlformats.org/drawingml/2006/main">
            <a:off x="10029825" y="3429000"/>
            <a:ext cx="8001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825" b="1">
                <a:solidFill>
                  <a:srgbClr val="2563EB"/>
                </a:solidFill>
                <a:latin typeface="Aptos"/>
                <a:ea typeface="Aptos"/>
                <a:cs typeface="Aptos"/>
              </a:defRPr>
            </a:pPr>
            <a:r>
              <a:rPr sz="825" b="1">
                <a:solidFill>
                  <a:srgbClr val="2563EB"/>
                </a:solidFill>
                <a:latin typeface="Aptos"/>
                <a:ea typeface="Aptos"/>
                <a:cs typeface="Aptos"/>
              </a:rPr>
              <a:t>PLANNED</a:t>
            </a:r>
          </a:p>
        </p:txBody>
      </p:sp>
      <p:sp>
        <p:nvSpPr>
          <p:cNvPr id="58" name="">
            <a:extLst xmlns:a="http://schemas.openxmlformats.org/drawingml/2006/main">
              <a:ext uri="{FF2B5EF4-FFF2-40B4-BE49-F238E27FC236}">
                <a16:creationId xmlns:a16="http://schemas.microsoft.com/office/drawing/2014/main" id="{EDD8B2FE-AB3F-4EA6-8FD0-C2F55D1AD204}"/>
              </a:ext>
            </a:extLst>
          </p:cNvPr>
          <p:cNvSpPr>
            <a:spLocks xmlns:a="http://schemas.openxmlformats.org/drawingml/2006/main" noGrp="1"/>
          </p:cNvSpPr>
          <p:nvPr/>
        </p:nvSpPr>
        <p:spPr>
          <a:xfrm xmlns:a="http://schemas.openxmlformats.org/drawingml/2006/main">
            <a:off x="552450" y="4171950"/>
            <a:ext cx="10668000" cy="1695450"/>
          </a:xfrm>
          <a:prstGeom xmlns:a="http://schemas.openxmlformats.org/drawingml/2006/main" prst="roundRect">
            <a:avLst>
              <a:gd name="adj" fmla="val 12360"/>
            </a:avLst>
          </a:prstGeom>
          <a:solidFill xmlns:a="http://schemas.openxmlformats.org/drawingml/2006/main">
            <a:srgbClr val="0D1321"/>
          </a:solidFill>
          <a:ln xmlns:a="http://schemas.openxmlformats.org/drawingml/2006/main" w="0">
            <a:solidFill>
              <a:srgbClr val="0D1321"/>
            </a:solidFill>
            <a:prstDash val="solid"/>
          </a:ln>
        </p:spPr>
      </p:sp>
      <p:sp>
        <p:nvSpPr>
          <p:cNvPr id="59" name="">
            <a:extLst xmlns:a="http://schemas.openxmlformats.org/drawingml/2006/main">
              <a:ext uri="{FF2B5EF4-FFF2-40B4-BE49-F238E27FC236}">
                <a16:creationId xmlns:a16="http://schemas.microsoft.com/office/drawing/2014/main" id="{AA5D91CA-CA80-4110-A6E6-C53D0769E887}"/>
              </a:ext>
            </a:extLst>
          </p:cNvPr>
          <p:cNvSpPr>
            <a:spLocks xmlns:a="http://schemas.openxmlformats.org/drawingml/2006/main" noGrp="1"/>
          </p:cNvSpPr>
          <p:nvPr/>
        </p:nvSpPr>
        <p:spPr>
          <a:xfrm xmlns:a="http://schemas.openxmlformats.org/drawingml/2006/main">
            <a:off x="800100" y="441960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F2B94B"/>
                </a:solidFill>
                <a:latin typeface="Aptos"/>
                <a:ea typeface="Aptos"/>
                <a:cs typeface="Aptos"/>
              </a:defRPr>
            </a:pPr>
            <a:r>
              <a:rPr sz="825" b="1">
                <a:solidFill>
                  <a:srgbClr val="F2B94B"/>
                </a:solidFill>
                <a:latin typeface="Aptos"/>
                <a:ea typeface="Aptos"/>
                <a:cs typeface="Aptos"/>
              </a:rPr>
              <a:t>WHY THE LOOP BREAKS</a:t>
            </a:r>
          </a:p>
        </p:txBody>
      </p:sp>
      <p:sp>
        <p:nvSpPr>
          <p:cNvPr id="60" name="">
            <a:extLst xmlns:a="http://schemas.openxmlformats.org/drawingml/2006/main">
              <a:ext uri="{FF2B5EF4-FFF2-40B4-BE49-F238E27FC236}">
                <a16:creationId xmlns:a16="http://schemas.microsoft.com/office/drawing/2014/main" id="{7096CBA1-CA86-453A-AD43-DAA4CE542A96}"/>
              </a:ext>
            </a:extLst>
          </p:cNvPr>
          <p:cNvSpPr>
            <a:spLocks xmlns:a="http://schemas.openxmlformats.org/drawingml/2006/main" noGrp="1"/>
          </p:cNvSpPr>
          <p:nvPr/>
        </p:nvSpPr>
        <p:spPr>
          <a:xfrm xmlns:a="http://schemas.openxmlformats.org/drawingml/2006/main">
            <a:off x="800100" y="481965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a:solidFill>
                  <a:srgbClr val="FFFFFF"/>
                </a:solidFill>
                <a:latin typeface="Aptos"/>
                <a:ea typeface="Aptos"/>
                <a:cs typeface="Aptos"/>
              </a:defRPr>
            </a:pPr>
            <a:r>
              <a:rPr sz="1425" b="1">
                <a:solidFill>
                  <a:srgbClr val="FFFFFF"/>
                </a:solidFill>
                <a:latin typeface="Aptos"/>
                <a:ea typeface="Aptos"/>
                <a:cs typeface="Aptos"/>
              </a:rPr>
              <a:t>Verification</a:t>
            </a:r>
          </a:p>
        </p:txBody>
      </p:sp>
      <p:sp>
        <p:nvSpPr>
          <p:cNvPr id="61" name="">
            <a:extLst xmlns:a="http://schemas.openxmlformats.org/drawingml/2006/main">
              <a:ext uri="{FF2B5EF4-FFF2-40B4-BE49-F238E27FC236}">
                <a16:creationId xmlns:a16="http://schemas.microsoft.com/office/drawing/2014/main" id="{58102E62-F4CA-4B96-A41F-FD71D0CB3CEB}"/>
              </a:ext>
            </a:extLst>
          </p:cNvPr>
          <p:cNvSpPr>
            <a:spLocks xmlns:a="http://schemas.openxmlformats.org/drawingml/2006/main" noGrp="1"/>
          </p:cNvSpPr>
          <p:nvPr/>
        </p:nvSpPr>
        <p:spPr>
          <a:xfrm xmlns:a="http://schemas.openxmlformats.org/drawingml/2006/main">
            <a:off x="800100" y="5153025"/>
            <a:ext cx="295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0">
                <a:solidFill>
                  <a:srgbClr val="9FA9B8"/>
                </a:solidFill>
                <a:latin typeface="Aptos"/>
                <a:ea typeface="Aptos"/>
                <a:cs typeface="Aptos"/>
              </a:defRPr>
            </a:pPr>
            <a:r>
              <a:rPr sz="1125" b="0">
                <a:solidFill>
                  <a:srgbClr val="9FA9B8"/>
                </a:solidFill>
                <a:latin typeface="Aptos"/>
                <a:ea typeface="Aptos"/>
                <a:cs typeface="Aptos"/>
              </a:rPr>
              <a:t>Only venue_code is substantive; other completion types can resolve true.</a:t>
            </a:r>
          </a:p>
        </p:txBody>
      </p:sp>
      <p:sp>
        <p:nvSpPr>
          <p:cNvPr id="62" name="">
            <a:extLst xmlns:a="http://schemas.openxmlformats.org/drawingml/2006/main">
              <a:ext uri="{FF2B5EF4-FFF2-40B4-BE49-F238E27FC236}">
                <a16:creationId xmlns:a16="http://schemas.microsoft.com/office/drawing/2014/main" id="{F94F5765-5081-40F9-AD7B-4893FB509DFF}"/>
              </a:ext>
            </a:extLst>
          </p:cNvPr>
          <p:cNvSpPr>
            <a:spLocks xmlns:a="http://schemas.openxmlformats.org/drawingml/2006/main" noGrp="1"/>
          </p:cNvSpPr>
          <p:nvPr/>
        </p:nvSpPr>
        <p:spPr>
          <a:xfrm xmlns:a="http://schemas.openxmlformats.org/drawingml/2006/main">
            <a:off x="4229100" y="481965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a:solidFill>
                  <a:srgbClr val="FFFFFF"/>
                </a:solidFill>
                <a:latin typeface="Aptos"/>
                <a:ea typeface="Aptos"/>
                <a:cs typeface="Aptos"/>
              </a:defRPr>
            </a:pPr>
            <a:r>
              <a:rPr sz="1425" b="1">
                <a:solidFill>
                  <a:srgbClr val="FFFFFF"/>
                </a:solidFill>
                <a:latin typeface="Aptos"/>
                <a:ea typeface="Aptos"/>
                <a:cs typeface="Aptos"/>
              </a:rPr>
              <a:t>Visible utility</a:t>
            </a:r>
          </a:p>
        </p:txBody>
      </p:sp>
      <p:sp>
        <p:nvSpPr>
          <p:cNvPr id="63" name="">
            <a:extLst xmlns:a="http://schemas.openxmlformats.org/drawingml/2006/main">
              <a:ext uri="{FF2B5EF4-FFF2-40B4-BE49-F238E27FC236}">
                <a16:creationId xmlns:a16="http://schemas.microsoft.com/office/drawing/2014/main" id="{3D73BB74-7E9C-48A8-8C70-D02B4C058F36}"/>
              </a:ext>
            </a:extLst>
          </p:cNvPr>
          <p:cNvSpPr>
            <a:spLocks xmlns:a="http://schemas.openxmlformats.org/drawingml/2006/main" noGrp="1"/>
          </p:cNvSpPr>
          <p:nvPr/>
        </p:nvSpPr>
        <p:spPr>
          <a:xfrm xmlns:a="http://schemas.openxmlformats.org/drawingml/2006/main">
            <a:off x="4229100" y="5153025"/>
            <a:ext cx="295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0">
                <a:solidFill>
                  <a:srgbClr val="9FA9B8"/>
                </a:solidFill>
                <a:latin typeface="Aptos"/>
                <a:ea typeface="Aptos"/>
                <a:cs typeface="Aptos"/>
              </a:defRPr>
            </a:pPr>
            <a:r>
              <a:rPr sz="1125" b="0">
                <a:solidFill>
                  <a:srgbClr val="9FA9B8"/>
                </a:solidFill>
                <a:latin typeface="Aptos"/>
                <a:ea typeface="Aptos"/>
                <a:cs typeface="Aptos"/>
              </a:rPr>
              <a:t>Rewards, wallet and history code exists but is not mounted.</a:t>
            </a:r>
          </a:p>
        </p:txBody>
      </p:sp>
      <p:sp>
        <p:nvSpPr>
          <p:cNvPr id="64" name="">
            <a:extLst xmlns:a="http://schemas.openxmlformats.org/drawingml/2006/main">
              <a:ext uri="{FF2B5EF4-FFF2-40B4-BE49-F238E27FC236}">
                <a16:creationId xmlns:a16="http://schemas.microsoft.com/office/drawing/2014/main" id="{7C6BD29C-836B-4C87-A1CB-187F70DC34FB}"/>
              </a:ext>
            </a:extLst>
          </p:cNvPr>
          <p:cNvSpPr>
            <a:spLocks xmlns:a="http://schemas.openxmlformats.org/drawingml/2006/main" noGrp="1"/>
          </p:cNvSpPr>
          <p:nvPr/>
        </p:nvSpPr>
        <p:spPr>
          <a:xfrm xmlns:a="http://schemas.openxmlformats.org/drawingml/2006/main">
            <a:off x="7658100" y="481965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a:solidFill>
                  <a:srgbClr val="FFFFFF"/>
                </a:solidFill>
                <a:latin typeface="Aptos"/>
                <a:ea typeface="Aptos"/>
                <a:cs typeface="Aptos"/>
              </a:defRPr>
            </a:pPr>
            <a:r>
              <a:rPr sz="1425" b="1">
                <a:solidFill>
                  <a:srgbClr val="FFFFFF"/>
                </a:solidFill>
                <a:latin typeface="Aptos"/>
                <a:ea typeface="Aptos"/>
                <a:cs typeface="Aptos"/>
              </a:rPr>
              <a:t>Consistency</a:t>
            </a:r>
          </a:p>
        </p:txBody>
      </p:sp>
      <p:sp>
        <p:nvSpPr>
          <p:cNvPr id="65" name="">
            <a:extLst xmlns:a="http://schemas.openxmlformats.org/drawingml/2006/main">
              <a:ext uri="{FF2B5EF4-FFF2-40B4-BE49-F238E27FC236}">
                <a16:creationId xmlns:a16="http://schemas.microsoft.com/office/drawing/2014/main" id="{142C4036-D9EF-4CF9-AD30-234E61210679}"/>
              </a:ext>
            </a:extLst>
          </p:cNvPr>
          <p:cNvSpPr>
            <a:spLocks xmlns:a="http://schemas.openxmlformats.org/drawingml/2006/main" noGrp="1"/>
          </p:cNvSpPr>
          <p:nvPr/>
        </p:nvSpPr>
        <p:spPr>
          <a:xfrm xmlns:a="http://schemas.openxmlformats.org/drawingml/2006/main">
            <a:off x="7658100" y="5153025"/>
            <a:ext cx="295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0">
                <a:solidFill>
                  <a:srgbClr val="9FA9B8"/>
                </a:solidFill>
                <a:latin typeface="Aptos"/>
                <a:ea typeface="Aptos"/>
                <a:cs typeface="Aptos"/>
              </a:defRPr>
            </a:pPr>
            <a:r>
              <a:rPr sz="1125" b="0">
                <a:solidFill>
                  <a:srgbClr val="9FA9B8"/>
                </a:solidFill>
                <a:latin typeface="Aptos"/>
                <a:ea typeface="Aptos"/>
                <a:cs typeface="Aptos"/>
              </a:rPr>
              <a:t>Onboarding writes 100 XP at Level 1; the curve says Level 2.</a:t>
            </a:r>
          </a:p>
        </p:txBody>
      </p:sp>
    </p:spTree>
    <p:extLst>
      <p:ext uri="{BB962C8B-B14F-4D97-AF65-F5344CB8AC3E}">
        <p14:creationId xmlns:p14="http://schemas.microsoft.com/office/powerpoint/2010/main" val="878577613"/>
      </p:ext>
    </p:extLst>
  </p:cSld>
</p:sld>
</file>

<file path=ppt/slides/slide5.xml><?xml version="1.0" encoding="utf-8"?>
<p:sld xmlns:p="http://schemas.openxmlformats.org/presentationml/2006/main">
  <p:cSld>
    <p:bg>
      <p:bgPr>
        <a:solidFill xmlns:a="http://schemas.openxmlformats.org/drawingml/2006/main">
          <a:srgbClr val="F2E8D5"/>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646A8981-FDA9-45F9-BFA6-877C55D016D7}"/>
              </a:ext>
            </a:extLst>
          </p:cNvPr>
          <p:cNvSpPr>
            <a:spLocks xmlns:a="http://schemas.openxmlformats.org/drawingml/2006/main" noGrp="1"/>
          </p:cNvSpPr>
          <p:nvPr/>
        </p:nvSpPr>
        <p:spPr>
          <a:xfrm xmlns:a="http://schemas.openxmlformats.org/drawingml/2006/main">
            <a:off x="552450" y="419100"/>
            <a:ext cx="514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a:solidFill>
                  <a:srgbClr val="2563EB"/>
                </a:solidFill>
                <a:latin typeface="Aptos"/>
                <a:ea typeface="Aptos"/>
                <a:cs typeface="Aptos"/>
              </a:defRPr>
            </a:pPr>
            <a:r>
              <a:rPr sz="900" b="1">
                <a:solidFill>
                  <a:srgbClr val="2563EB"/>
                </a:solidFill>
                <a:latin typeface="Aptos"/>
                <a:ea typeface="Aptos"/>
                <a:cs typeface="Aptos"/>
              </a:rPr>
              <a:t>05</a:t>
            </a:r>
          </a:p>
        </p:txBody>
      </p:sp>
      <p:sp>
        <p:nvSpPr>
          <p:cNvPr id="2" name="">
            <a:extLst xmlns:a="http://schemas.openxmlformats.org/drawingml/2006/main">
              <a:ext uri="{FF2B5EF4-FFF2-40B4-BE49-F238E27FC236}">
                <a16:creationId xmlns:a16="http://schemas.microsoft.com/office/drawing/2014/main" id="{997EE8C9-B523-4FE3-AEE6-CDCCD4FB3DE8}"/>
              </a:ext>
            </a:extLst>
          </p:cNvPr>
          <p:cNvSpPr>
            <a:spLocks xmlns:a="http://schemas.openxmlformats.org/drawingml/2006/main" noGrp="1"/>
          </p:cNvSpPr>
          <p:nvPr/>
        </p:nvSpPr>
        <p:spPr>
          <a:xfrm xmlns:a="http://schemas.openxmlformats.org/drawingml/2006/main">
            <a:off x="1104900" y="542925"/>
            <a:ext cx="476250" cy="0"/>
          </a:xfrm>
          <a:prstGeom xmlns:a="http://schemas.openxmlformats.org/drawingml/2006/main" prst="line">
            <a:avLst/>
          </a:prstGeom>
          <a:noFill xmlns:a="http://schemas.openxmlformats.org/drawingml/2006/main"/>
          <a:ln xmlns:a="http://schemas.openxmlformats.org/drawingml/2006/main" w="9525">
            <a:solidFill>
              <a:srgbClr val="CBD1DA"/>
            </a:solidFill>
            <a:prstDash val="solid"/>
          </a:ln>
        </p:spPr>
      </p:sp>
      <p:sp>
        <p:nvSpPr>
          <p:cNvPr id="3" name="">
            <a:extLst xmlns:a="http://schemas.openxmlformats.org/drawingml/2006/main">
              <a:ext uri="{FF2B5EF4-FFF2-40B4-BE49-F238E27FC236}">
                <a16:creationId xmlns:a16="http://schemas.microsoft.com/office/drawing/2014/main" id="{E00DC3E1-D46D-45C3-843C-BDAC880FF5D1}"/>
              </a:ext>
            </a:extLst>
          </p:cNvPr>
          <p:cNvSpPr>
            <a:spLocks xmlns:a="http://schemas.openxmlformats.org/drawingml/2006/main" noGrp="1"/>
          </p:cNvSpPr>
          <p:nvPr/>
        </p:nvSpPr>
        <p:spPr>
          <a:xfrm xmlns:a="http://schemas.openxmlformats.org/drawingml/2006/main">
            <a:off x="1733550" y="323850"/>
            <a:ext cx="704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375" b="1">
                <a:solidFill>
                  <a:srgbClr val="101827"/>
                </a:solidFill>
                <a:latin typeface="Aptos Display"/>
                <a:ea typeface="Aptos Display"/>
                <a:cs typeface="Aptos Display"/>
              </a:defRPr>
            </a:pPr>
            <a:r>
              <a:rPr sz="3375" b="1">
                <a:solidFill>
                  <a:srgbClr val="101827"/>
                </a:solidFill>
                <a:latin typeface="Aptos Display"/>
                <a:ea typeface="Aptos Display"/>
                <a:cs typeface="Aptos Display"/>
              </a:rPr>
              <a:t>XP, points and level progression</a:t>
            </a:r>
          </a:p>
        </p:txBody>
      </p:sp>
      <p:sp>
        <p:nvSpPr>
          <p:cNvPr id="4" name="">
            <a:extLst xmlns:a="http://schemas.openxmlformats.org/drawingml/2006/main">
              <a:ext uri="{FF2B5EF4-FFF2-40B4-BE49-F238E27FC236}">
                <a16:creationId xmlns:a16="http://schemas.microsoft.com/office/drawing/2014/main" id="{2094ED20-0AF4-4D7F-BDE7-9D8079CB85DD}"/>
              </a:ext>
            </a:extLst>
          </p:cNvPr>
          <p:cNvSpPr>
            <a:spLocks xmlns:a="http://schemas.openxmlformats.org/drawingml/2006/main" noGrp="1"/>
          </p:cNvSpPr>
          <p:nvPr/>
        </p:nvSpPr>
        <p:spPr>
          <a:xfrm xmlns:a="http://schemas.openxmlformats.org/drawingml/2006/main">
            <a:off x="1752600" y="866775"/>
            <a:ext cx="7715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0">
                <a:solidFill>
                  <a:srgbClr val="626A78"/>
                </a:solidFill>
                <a:latin typeface="Aptos"/>
                <a:ea typeface="Aptos"/>
                <a:cs typeface="Aptos"/>
              </a:defRPr>
            </a:pPr>
            <a:r>
              <a:rPr sz="1350" b="0">
                <a:solidFill>
                  <a:srgbClr val="626A78"/>
                </a:solidFill>
                <a:latin typeface="Aptos"/>
                <a:ea typeface="Aptos"/>
                <a:cs typeface="Aptos"/>
              </a:rPr>
              <a:t>XP is permanent growth. Points are spendable utility. The model is clear; the UI truth is split.</a:t>
            </a:r>
          </a:p>
        </p:txBody>
      </p:sp>
      <p:sp>
        <p:nvSpPr>
          <p:cNvPr id="5" name="">
            <a:extLst xmlns:a="http://schemas.openxmlformats.org/drawingml/2006/main">
              <a:ext uri="{FF2B5EF4-FFF2-40B4-BE49-F238E27FC236}">
                <a16:creationId xmlns:a16="http://schemas.microsoft.com/office/drawing/2014/main" id="{9D2586AF-8AE4-4F14-A2D8-0BBEB0DA2FE4}"/>
              </a:ext>
            </a:extLst>
          </p:cNvPr>
          <p:cNvSpPr>
            <a:spLocks xmlns:a="http://schemas.openxmlformats.org/drawingml/2006/main" noGrp="1"/>
          </p:cNvSpPr>
          <p:nvPr/>
        </p:nvSpPr>
        <p:spPr>
          <a:xfrm xmlns:a="http://schemas.openxmlformats.org/drawingml/2006/main">
            <a:off x="11210925" y="381000"/>
            <a:ext cx="275082" cy="325755"/>
          </a:xfrm>
          <a:prstGeom xmlns:a="http://schemas.openxmlformats.org/drawingml/2006/main" prst="roundRect">
            <a:avLst>
              <a:gd name="adj" fmla="val 47368"/>
            </a:avLst>
          </a:prstGeom>
          <a:noFill xmlns:a="http://schemas.openxmlformats.org/drawingml/2006/main"/>
          <a:ln xmlns:a="http://schemas.openxmlformats.org/drawingml/2006/main" w="28956">
            <a:solidFill>
              <a:srgbClr val="0D1321"/>
            </a:solidFill>
            <a:prstDash val="solid"/>
          </a:ln>
        </p:spPr>
      </p:sp>
      <p:sp>
        <p:nvSpPr>
          <p:cNvPr id="6" name="">
            <a:extLst xmlns:a="http://schemas.openxmlformats.org/drawingml/2006/main">
              <a:ext uri="{FF2B5EF4-FFF2-40B4-BE49-F238E27FC236}">
                <a16:creationId xmlns:a16="http://schemas.microsoft.com/office/drawing/2014/main" id="{4B1281FA-5EBE-4800-868D-EB3524E8682C}"/>
              </a:ext>
            </a:extLst>
          </p:cNvPr>
          <p:cNvSpPr>
            <a:spLocks xmlns:a="http://schemas.openxmlformats.org/drawingml/2006/main" noGrp="1"/>
          </p:cNvSpPr>
          <p:nvPr/>
        </p:nvSpPr>
        <p:spPr>
          <a:xfrm xmlns:a="http://schemas.openxmlformats.org/drawingml/2006/main">
            <a:off x="11247120" y="598170"/>
            <a:ext cx="202692" cy="130302"/>
          </a:xfrm>
          <a:prstGeom xmlns:a="http://schemas.openxmlformats.org/drawingml/2006/main" prst="triangle">
            <a:avLst/>
          </a:prstGeom>
          <a:solidFill xmlns:a="http://schemas.openxmlformats.org/drawingml/2006/main">
            <a:srgbClr val="0D1321"/>
          </a:solidFill>
          <a:ln xmlns:a="http://schemas.openxmlformats.org/drawingml/2006/main" w="0">
            <a:solidFill>
              <a:srgbClr val="0D1321"/>
            </a:solidFill>
            <a:prstDash val="solid"/>
          </a:ln>
        </p:spPr>
      </p:sp>
      <p:sp>
        <p:nvSpPr>
          <p:cNvPr id="7" name="">
            <a:extLst xmlns:a="http://schemas.openxmlformats.org/drawingml/2006/main">
              <a:ext uri="{FF2B5EF4-FFF2-40B4-BE49-F238E27FC236}">
                <a16:creationId xmlns:a16="http://schemas.microsoft.com/office/drawing/2014/main" id="{ED61CDE6-2FDA-4BFD-B4FD-7CF96E5DEBCA}"/>
              </a:ext>
            </a:extLst>
          </p:cNvPr>
          <p:cNvSpPr>
            <a:spLocks xmlns:a="http://schemas.openxmlformats.org/drawingml/2006/main" noGrp="1"/>
          </p:cNvSpPr>
          <p:nvPr/>
        </p:nvSpPr>
        <p:spPr>
          <a:xfrm xmlns:a="http://schemas.openxmlformats.org/drawingml/2006/main">
            <a:off x="11290554" y="424434"/>
            <a:ext cx="115824" cy="1158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627" b="1">
                <a:solidFill>
                  <a:srgbClr val="0D1321"/>
                </a:solidFill>
                <a:latin typeface="Aptos"/>
                <a:ea typeface="Aptos"/>
                <a:cs typeface="Aptos"/>
              </a:defRPr>
            </a:pPr>
            <a:r>
              <a:rPr sz="627" b="1">
                <a:solidFill>
                  <a:srgbClr val="0D1321"/>
                </a:solidFill>
                <a:latin typeface="Aptos"/>
                <a:ea typeface="Aptos"/>
                <a:cs typeface="Aptos"/>
              </a:rPr>
              <a:t>✦</a:t>
            </a:r>
          </a:p>
        </p:txBody>
      </p:sp>
      <p:sp>
        <p:nvSpPr>
          <p:cNvPr id="8" name="">
            <a:extLst xmlns:a="http://schemas.openxmlformats.org/drawingml/2006/main">
              <a:ext uri="{FF2B5EF4-FFF2-40B4-BE49-F238E27FC236}">
                <a16:creationId xmlns:a16="http://schemas.microsoft.com/office/drawing/2014/main" id="{DE07CAE7-A3EC-4670-BC06-429764D49913}"/>
              </a:ext>
            </a:extLst>
          </p:cNvPr>
          <p:cNvSpPr>
            <a:spLocks xmlns:a="http://schemas.openxmlformats.org/drawingml/2006/main" noGrp="1"/>
          </p:cNvSpPr>
          <p:nvPr/>
        </p:nvSpPr>
        <p:spPr>
          <a:xfrm xmlns:a="http://schemas.openxmlformats.org/drawingml/2006/main">
            <a:off x="10144125" y="828675"/>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200" b="1">
                <a:solidFill>
                  <a:srgbClr val="0D1321"/>
                </a:solidFill>
                <a:latin typeface="Aptos"/>
                <a:ea typeface="Aptos"/>
                <a:cs typeface="Aptos"/>
              </a:defRPr>
            </a:pPr>
            <a:r>
              <a:rPr sz="1200" b="1">
                <a:solidFill>
                  <a:srgbClr val="0D1321"/>
                </a:solidFill>
                <a:latin typeface="Aptos"/>
                <a:ea typeface="Aptos"/>
                <a:cs typeface="Aptos"/>
              </a:rPr>
              <a:t>sidequests</a:t>
            </a:r>
          </a:p>
        </p:txBody>
      </p:sp>
      <p:sp>
        <p:nvSpPr>
          <p:cNvPr id="9" name="">
            <a:extLst xmlns:a="http://schemas.openxmlformats.org/drawingml/2006/main">
              <a:ext uri="{FF2B5EF4-FFF2-40B4-BE49-F238E27FC236}">
                <a16:creationId xmlns:a16="http://schemas.microsoft.com/office/drawing/2014/main" id="{E328A934-BE12-47B0-A3CE-5BEE82652AEA}"/>
              </a:ext>
            </a:extLst>
          </p:cNvPr>
          <p:cNvSpPr>
            <a:spLocks xmlns:a="http://schemas.openxmlformats.org/drawingml/2006/main" noGrp="1"/>
          </p:cNvSpPr>
          <p:nvPr/>
        </p:nvSpPr>
        <p:spPr>
          <a:xfrm xmlns:a="http://schemas.openxmlformats.org/drawingml/2006/main">
            <a:off x="552450" y="6543675"/>
            <a:ext cx="4000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675" b="0">
                <a:solidFill>
                  <a:srgbClr val="9AA1AD"/>
                </a:solidFill>
                <a:latin typeface="Aptos"/>
                <a:ea typeface="Aptos"/>
                <a:cs typeface="Aptos"/>
              </a:defRPr>
            </a:pPr>
            <a:r>
              <a:rPr sz="675" b="0">
                <a:solidFill>
                  <a:srgbClr val="9AA1AD"/>
                </a:solidFill>
                <a:latin typeface="Aptos"/>
                <a:ea typeface="Aptos"/>
                <a:cs typeface="Aptos"/>
              </a:rPr>
              <a:t>Development &amp; launch readiness · 12 Aug 2026</a:t>
            </a:r>
          </a:p>
        </p:txBody>
      </p:sp>
      <p:sp>
        <p:nvSpPr>
          <p:cNvPr id="10" name="">
            <a:extLst xmlns:a="http://schemas.openxmlformats.org/drawingml/2006/main">
              <a:ext uri="{FF2B5EF4-FFF2-40B4-BE49-F238E27FC236}">
                <a16:creationId xmlns:a16="http://schemas.microsoft.com/office/drawing/2014/main" id="{AF0F89D7-6535-4ED4-AC68-BB2917188B8C}"/>
              </a:ext>
            </a:extLst>
          </p:cNvPr>
          <p:cNvSpPr>
            <a:spLocks xmlns:a="http://schemas.openxmlformats.org/drawingml/2006/main" noGrp="1"/>
          </p:cNvSpPr>
          <p:nvPr/>
        </p:nvSpPr>
        <p:spPr>
          <a:xfrm xmlns:a="http://schemas.openxmlformats.org/drawingml/2006/main">
            <a:off x="11239500" y="6543675"/>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675" b="0">
                <a:solidFill>
                  <a:srgbClr val="9AA1AD"/>
                </a:solidFill>
                <a:latin typeface="Aptos"/>
                <a:ea typeface="Aptos"/>
                <a:cs typeface="Aptos"/>
              </a:defRPr>
            </a:pPr>
            <a:r>
              <a:rPr sz="675" b="0">
                <a:solidFill>
                  <a:srgbClr val="9AA1AD"/>
                </a:solidFill>
                <a:latin typeface="Aptos"/>
                <a:ea typeface="Aptos"/>
                <a:cs typeface="Aptos"/>
              </a:rPr>
              <a:t>5</a:t>
            </a:r>
          </a:p>
        </p:txBody>
      </p:sp>
      <p:sp>
        <p:nvSpPr>
          <p:cNvPr id="11" name="">
            <a:extLst xmlns:a="http://schemas.openxmlformats.org/drawingml/2006/main">
              <a:ext uri="{FF2B5EF4-FFF2-40B4-BE49-F238E27FC236}">
                <a16:creationId xmlns:a16="http://schemas.microsoft.com/office/drawing/2014/main" id="{4A434F73-EE89-48EC-A257-EE98D2AD8326}"/>
              </a:ext>
            </a:extLst>
          </p:cNvPr>
          <p:cNvSpPr>
            <a:spLocks xmlns:a="http://schemas.openxmlformats.org/drawingml/2006/main" noGrp="1"/>
          </p:cNvSpPr>
          <p:nvPr/>
        </p:nvSpPr>
        <p:spPr>
          <a:xfrm xmlns:a="http://schemas.openxmlformats.org/drawingml/2006/main">
            <a:off x="552450" y="1571625"/>
            <a:ext cx="3086100" cy="2019300"/>
          </a:xfrm>
          <a:prstGeom xmlns:a="http://schemas.openxmlformats.org/drawingml/2006/main" prst="roundRect">
            <a:avLst>
              <a:gd name="adj" fmla="val 10377"/>
            </a:avLst>
          </a:prstGeom>
          <a:solidFill xmlns:a="http://schemas.openxmlformats.org/drawingml/2006/main">
            <a:srgbClr val="2563EB"/>
          </a:solidFill>
          <a:ln xmlns:a="http://schemas.openxmlformats.org/drawingml/2006/main" w="0">
            <a:solidFill>
              <a:srgbClr val="2563EB"/>
            </a:solidFill>
            <a:prstDash val="solid"/>
          </a:ln>
        </p:spPr>
      </p:sp>
      <p:sp>
        <p:nvSpPr>
          <p:cNvPr id="12" name="">
            <a:extLst xmlns:a="http://schemas.openxmlformats.org/drawingml/2006/main">
              <a:ext uri="{FF2B5EF4-FFF2-40B4-BE49-F238E27FC236}">
                <a16:creationId xmlns:a16="http://schemas.microsoft.com/office/drawing/2014/main" id="{26E97373-105E-42BF-B1DF-911D4EC5066A}"/>
              </a:ext>
            </a:extLst>
          </p:cNvPr>
          <p:cNvSpPr>
            <a:spLocks xmlns:a="http://schemas.openxmlformats.org/drawingml/2006/main" noGrp="1"/>
          </p:cNvSpPr>
          <p:nvPr/>
        </p:nvSpPr>
        <p:spPr>
          <a:xfrm xmlns:a="http://schemas.openxmlformats.org/drawingml/2006/main">
            <a:off x="819150" y="1809750"/>
            <a:ext cx="762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l">
              <a:lnSpc>
                <a:spcPct val="105000"/>
              </a:lnSpc>
              <a:buNone/>
              <a:defRPr sz="2700" b="1">
                <a:solidFill>
                  <a:srgbClr val="FFFFFF"/>
                </a:solidFill>
                <a:latin typeface="Aptos Display"/>
                <a:ea typeface="Aptos Display"/>
                <a:cs typeface="Aptos Display"/>
              </a:defRPr>
            </a:pPr>
            <a:r>
              <a:rPr sz="2700" b="1">
                <a:solidFill>
                  <a:srgbClr val="FFFFFF"/>
                </a:solidFill>
                <a:latin typeface="Aptos Display"/>
                <a:ea typeface="Aptos Display"/>
                <a:cs typeface="Aptos Display"/>
              </a:rPr>
              <a:t>XP</a:t>
            </a:r>
          </a:p>
        </p:txBody>
      </p:sp>
      <p:sp>
        <p:nvSpPr>
          <p:cNvPr id="13" name="">
            <a:extLst xmlns:a="http://schemas.openxmlformats.org/drawingml/2006/main">
              <a:ext uri="{FF2B5EF4-FFF2-40B4-BE49-F238E27FC236}">
                <a16:creationId xmlns:a16="http://schemas.microsoft.com/office/drawing/2014/main" id="{A3EBB776-46AF-4A9D-BC68-DCB717C2AB24}"/>
              </a:ext>
            </a:extLst>
          </p:cNvPr>
          <p:cNvSpPr>
            <a:spLocks xmlns:a="http://schemas.openxmlformats.org/drawingml/2006/main" noGrp="1"/>
          </p:cNvSpPr>
          <p:nvPr/>
        </p:nvSpPr>
        <p:spPr>
          <a:xfrm xmlns:a="http://schemas.openxmlformats.org/drawingml/2006/main">
            <a:off x="819150" y="23050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FFFFFF"/>
                </a:solidFill>
                <a:latin typeface="Aptos"/>
                <a:ea typeface="Aptos"/>
                <a:cs typeface="Aptos"/>
              </a:defRPr>
            </a:pPr>
            <a:r>
              <a:rPr sz="1500" b="1">
                <a:solidFill>
                  <a:srgbClr val="FFFFFF"/>
                </a:solidFill>
                <a:latin typeface="Aptos"/>
                <a:ea typeface="Aptos"/>
                <a:cs typeface="Aptos"/>
              </a:rPr>
              <a:t>Never spends down</a:t>
            </a:r>
          </a:p>
        </p:txBody>
      </p:sp>
      <p:sp>
        <p:nvSpPr>
          <p:cNvPr id="14" name="">
            <a:extLst xmlns:a="http://schemas.openxmlformats.org/drawingml/2006/main">
              <a:ext uri="{FF2B5EF4-FFF2-40B4-BE49-F238E27FC236}">
                <a16:creationId xmlns:a16="http://schemas.microsoft.com/office/drawing/2014/main" id="{712A863B-B13A-44E8-92F4-76AAF1F8957C}"/>
              </a:ext>
            </a:extLst>
          </p:cNvPr>
          <p:cNvSpPr>
            <a:spLocks xmlns:a="http://schemas.openxmlformats.org/drawingml/2006/main" noGrp="1"/>
          </p:cNvSpPr>
          <p:nvPr/>
        </p:nvSpPr>
        <p:spPr>
          <a:xfrm xmlns:a="http://schemas.openxmlformats.org/drawingml/2006/main">
            <a:off x="819150" y="27717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0">
                <a:solidFill>
                  <a:srgbClr val="D7E2FF"/>
                </a:solidFill>
                <a:latin typeface="Aptos"/>
                <a:ea typeface="Aptos"/>
                <a:cs typeface="Aptos"/>
              </a:defRPr>
            </a:pPr>
            <a:r>
              <a:rPr sz="1125" b="0">
                <a:solidFill>
                  <a:srgbClr val="D7E2FF"/>
                </a:solidFill>
                <a:latin typeface="Aptos"/>
                <a:ea typeface="Aptos"/>
                <a:cs typeface="Aptos"/>
              </a:rPr>
              <a:t>Easy 50 · Medium 150 · Hard 400*</a:t>
            </a:r>
          </a:p>
        </p:txBody>
      </p:sp>
      <p:sp>
        <p:nvSpPr>
          <p:cNvPr id="15" name="">
            <a:extLst xmlns:a="http://schemas.openxmlformats.org/drawingml/2006/main">
              <a:ext uri="{FF2B5EF4-FFF2-40B4-BE49-F238E27FC236}">
                <a16:creationId xmlns:a16="http://schemas.microsoft.com/office/drawing/2014/main" id="{99338ED2-4075-4D23-8B5D-4A4C4E90FFAD}"/>
              </a:ext>
            </a:extLst>
          </p:cNvPr>
          <p:cNvSpPr>
            <a:spLocks xmlns:a="http://schemas.openxmlformats.org/drawingml/2006/main" noGrp="1"/>
          </p:cNvSpPr>
          <p:nvPr/>
        </p:nvSpPr>
        <p:spPr>
          <a:xfrm xmlns:a="http://schemas.openxmlformats.org/drawingml/2006/main">
            <a:off x="819150" y="314325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0">
                <a:solidFill>
                  <a:srgbClr val="AFC3F4"/>
                </a:solidFill>
                <a:latin typeface="Aptos"/>
                <a:ea typeface="Aptos"/>
                <a:cs typeface="Aptos"/>
              </a:defRPr>
            </a:pPr>
            <a:r>
              <a:rPr sz="750" b="0">
                <a:solidFill>
                  <a:srgbClr val="AFC3F4"/>
                </a:solidFill>
                <a:latin typeface="Aptos"/>
                <a:ea typeface="Aptos"/>
                <a:cs typeface="Aptos"/>
              </a:rPr>
              <a:t>*Hard value is the product target.</a:t>
            </a:r>
          </a:p>
        </p:txBody>
      </p:sp>
      <p:sp>
        <p:nvSpPr>
          <p:cNvPr id="16" name="">
            <a:extLst xmlns:a="http://schemas.openxmlformats.org/drawingml/2006/main">
              <a:ext uri="{FF2B5EF4-FFF2-40B4-BE49-F238E27FC236}">
                <a16:creationId xmlns:a16="http://schemas.microsoft.com/office/drawing/2014/main" id="{3148D0CF-B614-4BFC-8EED-B9CD342C5C97}"/>
              </a:ext>
            </a:extLst>
          </p:cNvPr>
          <p:cNvSpPr>
            <a:spLocks xmlns:a="http://schemas.openxmlformats.org/drawingml/2006/main" noGrp="1"/>
          </p:cNvSpPr>
          <p:nvPr/>
        </p:nvSpPr>
        <p:spPr>
          <a:xfrm xmlns:a="http://schemas.openxmlformats.org/drawingml/2006/main">
            <a:off x="552450" y="3743325"/>
            <a:ext cx="3086100" cy="2019300"/>
          </a:xfrm>
          <a:prstGeom xmlns:a="http://schemas.openxmlformats.org/drawingml/2006/main" prst="roundRect">
            <a:avLst>
              <a:gd name="adj" fmla="val 10377"/>
            </a:avLst>
          </a:prstGeom>
          <a:solidFill xmlns:a="http://schemas.openxmlformats.org/drawingml/2006/main">
            <a:srgbClr val="F2B94B"/>
          </a:solidFill>
          <a:ln xmlns:a="http://schemas.openxmlformats.org/drawingml/2006/main" w="0">
            <a:solidFill>
              <a:srgbClr val="F2B94B"/>
            </a:solidFill>
            <a:prstDash val="solid"/>
          </a:ln>
        </p:spPr>
      </p:sp>
      <p:sp>
        <p:nvSpPr>
          <p:cNvPr id="17" name="">
            <a:extLst xmlns:a="http://schemas.openxmlformats.org/drawingml/2006/main">
              <a:ext uri="{FF2B5EF4-FFF2-40B4-BE49-F238E27FC236}">
                <a16:creationId xmlns:a16="http://schemas.microsoft.com/office/drawing/2014/main" id="{59054FA2-3886-4B07-8551-07B01C48EE26}"/>
              </a:ext>
            </a:extLst>
          </p:cNvPr>
          <p:cNvSpPr>
            <a:spLocks xmlns:a="http://schemas.openxmlformats.org/drawingml/2006/main" noGrp="1"/>
          </p:cNvSpPr>
          <p:nvPr/>
        </p:nvSpPr>
        <p:spPr>
          <a:xfrm xmlns:a="http://schemas.openxmlformats.org/drawingml/2006/main">
            <a:off x="819150" y="3981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l">
              <a:lnSpc>
                <a:spcPct val="105000"/>
              </a:lnSpc>
              <a:buNone/>
              <a:defRPr sz="2700" b="1">
                <a:solidFill>
                  <a:srgbClr val="0D1321"/>
                </a:solidFill>
                <a:latin typeface="Aptos Display"/>
                <a:ea typeface="Aptos Display"/>
                <a:cs typeface="Aptos Display"/>
              </a:defRPr>
            </a:pPr>
            <a:r>
              <a:rPr sz="2700" b="1">
                <a:solidFill>
                  <a:srgbClr val="0D1321"/>
                </a:solidFill>
                <a:latin typeface="Aptos Display"/>
                <a:ea typeface="Aptos Display"/>
                <a:cs typeface="Aptos Display"/>
              </a:rPr>
              <a:t>POINTS</a:t>
            </a:r>
          </a:p>
        </p:txBody>
      </p:sp>
      <p:sp>
        <p:nvSpPr>
          <p:cNvPr id="18" name="">
            <a:extLst xmlns:a="http://schemas.openxmlformats.org/drawingml/2006/main">
              <a:ext uri="{FF2B5EF4-FFF2-40B4-BE49-F238E27FC236}">
                <a16:creationId xmlns:a16="http://schemas.microsoft.com/office/drawing/2014/main" id="{E6D03491-9116-47EA-B402-0F35EE6C5BF2}"/>
              </a:ext>
            </a:extLst>
          </p:cNvPr>
          <p:cNvSpPr>
            <a:spLocks xmlns:a="http://schemas.openxmlformats.org/drawingml/2006/main" noGrp="1"/>
          </p:cNvSpPr>
          <p:nvPr/>
        </p:nvSpPr>
        <p:spPr>
          <a:xfrm xmlns:a="http://schemas.openxmlformats.org/drawingml/2006/main">
            <a:off x="819150" y="44767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0D1321"/>
                </a:solidFill>
                <a:latin typeface="Aptos"/>
                <a:ea typeface="Aptos"/>
                <a:cs typeface="Aptos"/>
              </a:defRPr>
            </a:pPr>
            <a:r>
              <a:rPr sz="1500" b="1">
                <a:solidFill>
                  <a:srgbClr val="0D1321"/>
                </a:solidFill>
                <a:latin typeface="Aptos"/>
                <a:ea typeface="Aptos"/>
                <a:cs typeface="Aptos"/>
              </a:rPr>
              <a:t>Spendable reward balance</a:t>
            </a:r>
          </a:p>
        </p:txBody>
      </p:sp>
      <p:sp>
        <p:nvSpPr>
          <p:cNvPr id="19" name="">
            <a:extLst xmlns:a="http://schemas.openxmlformats.org/drawingml/2006/main">
              <a:ext uri="{FF2B5EF4-FFF2-40B4-BE49-F238E27FC236}">
                <a16:creationId xmlns:a16="http://schemas.microsoft.com/office/drawing/2014/main" id="{A034B8BD-921C-44CC-8FEB-CD1B186116B7}"/>
              </a:ext>
            </a:extLst>
          </p:cNvPr>
          <p:cNvSpPr>
            <a:spLocks xmlns:a="http://schemas.openxmlformats.org/drawingml/2006/main" noGrp="1"/>
          </p:cNvSpPr>
          <p:nvPr/>
        </p:nvSpPr>
        <p:spPr>
          <a:xfrm xmlns:a="http://schemas.openxmlformats.org/drawingml/2006/main">
            <a:off x="819150" y="4943475"/>
            <a:ext cx="2476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0">
                <a:solidFill>
                  <a:srgbClr val="5C491E"/>
                </a:solidFill>
                <a:latin typeface="Aptos"/>
                <a:ea typeface="Aptos"/>
                <a:cs typeface="Aptos"/>
              </a:defRPr>
            </a:pPr>
            <a:r>
              <a:rPr sz="1125" b="0">
                <a:solidFill>
                  <a:srgbClr val="5C491E"/>
                </a:solidFill>
                <a:latin typeface="Aptos"/>
                <a:ea typeface="Aptos"/>
                <a:cs typeface="Aptos"/>
              </a:rPr>
              <a:t>Easy 25 · Medium 75 · redemption is atomic</a:t>
            </a:r>
          </a:p>
        </p:txBody>
      </p:sp>
      <p:sp>
        <p:nvSpPr>
          <p:cNvPr id="20" name="">
            <a:extLst xmlns:a="http://schemas.openxmlformats.org/drawingml/2006/main">
              <a:ext uri="{FF2B5EF4-FFF2-40B4-BE49-F238E27FC236}">
                <a16:creationId xmlns:a16="http://schemas.microsoft.com/office/drawing/2014/main" id="{275F98E2-A1E6-4685-AB4C-E6610FF13DE1}"/>
              </a:ext>
            </a:extLst>
          </p:cNvPr>
          <p:cNvSpPr>
            <a:spLocks xmlns:a="http://schemas.openxmlformats.org/drawingml/2006/main" noGrp="1"/>
          </p:cNvSpPr>
          <p:nvPr/>
        </p:nvSpPr>
        <p:spPr>
          <a:xfrm xmlns:a="http://schemas.openxmlformats.org/drawingml/2006/main">
            <a:off x="819150" y="539115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0">
                <a:solidFill>
                  <a:srgbClr val="765C1E"/>
                </a:solidFill>
                <a:latin typeface="Aptos"/>
                <a:ea typeface="Aptos"/>
                <a:cs typeface="Aptos"/>
              </a:defRPr>
            </a:pPr>
            <a:r>
              <a:rPr sz="750" b="0">
                <a:solidFill>
                  <a:srgbClr val="765C1E"/>
                </a:solidFill>
                <a:latin typeface="Aptos"/>
                <a:ea typeface="Aptos"/>
                <a:cs typeface="Aptos"/>
              </a:rPr>
              <a:t>Ledger is truth; balance is a cache.</a:t>
            </a:r>
          </a:p>
        </p:txBody>
      </p:sp>
      <p:sp>
        <p:nvSpPr>
          <p:cNvPr id="21" name="">
            <a:extLst xmlns:a="http://schemas.openxmlformats.org/drawingml/2006/main">
              <a:ext uri="{FF2B5EF4-FFF2-40B4-BE49-F238E27FC236}">
                <a16:creationId xmlns:a16="http://schemas.microsoft.com/office/drawing/2014/main" id="{16D07E5B-7CF0-421A-B929-4CBDB327DB38}"/>
              </a:ext>
            </a:extLst>
          </p:cNvPr>
          <p:cNvSpPr>
            <a:spLocks xmlns:a="http://schemas.openxmlformats.org/drawingml/2006/main" noGrp="1"/>
          </p:cNvSpPr>
          <p:nvPr/>
        </p:nvSpPr>
        <p:spPr>
          <a:xfrm xmlns:a="http://schemas.openxmlformats.org/drawingml/2006/main">
            <a:off x="3886200" y="1571625"/>
            <a:ext cx="7334250" cy="4191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E0E4E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667776F3-495C-49C0-BC53-328D5B179E3B}"/>
              </a:ext>
            </a:extLst>
          </p:cNvPr>
          <p:cNvSpPr>
            <a:spLocks xmlns:a="http://schemas.openxmlformats.org/drawingml/2006/main" noGrp="1"/>
          </p:cNvSpPr>
          <p:nvPr/>
        </p:nvSpPr>
        <p:spPr>
          <a:xfrm xmlns:a="http://schemas.openxmlformats.org/drawingml/2006/main">
            <a:off x="4171950" y="180975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2563EB"/>
                </a:solidFill>
                <a:latin typeface="Aptos"/>
                <a:ea typeface="Aptos"/>
                <a:cs typeface="Aptos"/>
              </a:defRPr>
            </a:pPr>
            <a:r>
              <a:rPr sz="825" b="1">
                <a:solidFill>
                  <a:srgbClr val="2563EB"/>
                </a:solidFill>
                <a:latin typeface="Aptos"/>
                <a:ea typeface="Aptos"/>
                <a:cs typeface="Aptos"/>
              </a:rPr>
              <a:t>LEVEL THRESHOLDS</a:t>
            </a:r>
          </a:p>
        </p:txBody>
      </p:sp>
      <p:sp>
        <p:nvSpPr>
          <p:cNvPr id="23" name="">
            <a:extLst xmlns:a="http://schemas.openxmlformats.org/drawingml/2006/main">
              <a:ext uri="{FF2B5EF4-FFF2-40B4-BE49-F238E27FC236}">
                <a16:creationId xmlns:a16="http://schemas.microsoft.com/office/drawing/2014/main" id="{746F33F9-3DBB-42DB-9B2B-3879E9DD8538}"/>
              </a:ext>
            </a:extLst>
          </p:cNvPr>
          <p:cNvSpPr>
            <a:spLocks xmlns:a="http://schemas.openxmlformats.org/drawingml/2006/main" noGrp="1"/>
          </p:cNvSpPr>
          <p:nvPr/>
        </p:nvSpPr>
        <p:spPr>
          <a:xfrm xmlns:a="http://schemas.openxmlformats.org/drawingml/2006/main">
            <a:off x="4171950" y="20764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1">
                <a:solidFill>
                  <a:srgbClr val="101827"/>
                </a:solidFill>
                <a:latin typeface="Aptos Display"/>
                <a:ea typeface="Aptos Display"/>
                <a:cs typeface="Aptos Display"/>
              </a:defRPr>
            </a:pPr>
            <a:r>
              <a:rPr sz="1875" b="1">
                <a:solidFill>
                  <a:srgbClr val="101827"/>
                </a:solidFill>
                <a:latin typeface="Aptos Display"/>
                <a:ea typeface="Aptos Display"/>
                <a:cs typeface="Aptos Display"/>
              </a:rPr>
              <a:t>100 × level × (level - 1) ÷ 2</a:t>
            </a:r>
          </a:p>
        </p:txBody>
      </p:sp>
      <p:graphicFrame>
        <p:nvGraphicFramePr>
          <p:cNvPr id="50" name="Chart"/>
          <p:cNvGraphicFramePr/>
          <p:nvPr/>
        </p:nvGraphicFramePr>
        <p:xfrm>
          <a:off xmlns:a="http://schemas.openxmlformats.org/drawingml/2006/main" x="4114800" y="2590800"/>
          <a:ext xmlns:a="http://schemas.openxmlformats.org/drawingml/2006/main" cx="6667500" cy="2286000"/>
        </p:xfrm>
        <a:graphic xmlns:a="http://schemas.openxmlformats.org/drawingml/2006/main">
          <a:graphicData uri="http://schemas.openxmlformats.org/drawingml/2006/chart">
            <c:chart xmlns:r="http://schemas.openxmlformats.org/officeDocument/2006/relationships" xmlns:c="http://schemas.openxmlformats.org/drawingml/2006/chart" r:id="R44a58ac98bf14bb4"/>
          </a:graphicData>
        </a:graphic>
      </p:graphicFrame>
      <p:sp>
        <p:nvSpPr>
          <p:cNvPr id="25" name="">
            <a:extLst xmlns:a="http://schemas.openxmlformats.org/drawingml/2006/main">
              <a:ext uri="{FF2B5EF4-FFF2-40B4-BE49-F238E27FC236}">
                <a16:creationId xmlns:a16="http://schemas.microsoft.com/office/drawing/2014/main" id="{2A9796E8-FB8D-4AE7-9C98-724F3063C20D}"/>
              </a:ext>
            </a:extLst>
          </p:cNvPr>
          <p:cNvSpPr>
            <a:spLocks xmlns:a="http://schemas.openxmlformats.org/drawingml/2006/main" noGrp="1"/>
          </p:cNvSpPr>
          <p:nvPr/>
        </p:nvSpPr>
        <p:spPr>
          <a:xfrm xmlns:a="http://schemas.openxmlformats.org/drawingml/2006/main">
            <a:off x="4171950" y="5010150"/>
            <a:ext cx="6572250" cy="514350"/>
          </a:xfrm>
          <a:prstGeom xmlns:a="http://schemas.openxmlformats.org/drawingml/2006/main" prst="roundRect">
            <a:avLst>
              <a:gd name="adj" fmla="val 22222"/>
            </a:avLst>
          </a:prstGeom>
          <a:solidFill xmlns:a="http://schemas.openxmlformats.org/drawingml/2006/main">
            <a:srgbClr val="FFF0ED"/>
          </a:solidFill>
          <a:ln xmlns:a="http://schemas.openxmlformats.org/drawingml/2006/main" w="0">
            <a:solidFill>
              <a:srgbClr val="FFF0ED"/>
            </a:solidFill>
            <a:prstDash val="solid"/>
          </a:ln>
        </p:spPr>
      </p:sp>
      <p:sp>
        <p:nvSpPr>
          <p:cNvPr id="26" name="">
            <a:extLst xmlns:a="http://schemas.openxmlformats.org/drawingml/2006/main">
              <a:ext uri="{FF2B5EF4-FFF2-40B4-BE49-F238E27FC236}">
                <a16:creationId xmlns:a16="http://schemas.microsoft.com/office/drawing/2014/main" id="{3ED64F30-68B7-4133-81EA-F30A3838DD59}"/>
              </a:ext>
            </a:extLst>
          </p:cNvPr>
          <p:cNvSpPr>
            <a:spLocks xmlns:a="http://schemas.openxmlformats.org/drawingml/2006/main" noGrp="1"/>
          </p:cNvSpPr>
          <p:nvPr/>
        </p:nvSpPr>
        <p:spPr>
          <a:xfrm xmlns:a="http://schemas.openxmlformats.org/drawingml/2006/main">
            <a:off x="4362450" y="5172075"/>
            <a:ext cx="619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A72E24"/>
                </a:solidFill>
                <a:latin typeface="Aptos"/>
                <a:ea typeface="Aptos"/>
                <a:cs typeface="Aptos"/>
              </a:defRPr>
            </a:pPr>
            <a:r>
              <a:rPr sz="1050" b="1">
                <a:solidFill>
                  <a:srgbClr val="A72E24"/>
                </a:solidFill>
                <a:latin typeface="Aptos"/>
                <a:ea typeface="Aptos"/>
                <a:cs typeface="Aptos"/>
              </a:rPr>
              <a:t>CRITICAL: progression RPCs write user_profiles; wallet and profile UI read profiles.</a:t>
            </a:r>
          </a:p>
        </p:txBody>
      </p:sp>
    </p:spTree>
    <p:extLst>
      <p:ext uri="{BB962C8B-B14F-4D97-AF65-F5344CB8AC3E}">
        <p14:creationId xmlns:p14="http://schemas.microsoft.com/office/powerpoint/2010/main" val="1267320712"/>
      </p:ext>
    </p:extLst>
  </p:cSld>
</p:sld>
</file>

<file path=ppt/slides/slide6.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1C4FCF1F-478B-4AD8-B932-0D319182B13A}"/>
              </a:ext>
            </a:extLst>
          </p:cNvPr>
          <p:cNvSpPr>
            <a:spLocks xmlns:a="http://schemas.openxmlformats.org/drawingml/2006/main" noGrp="1"/>
          </p:cNvSpPr>
          <p:nvPr/>
        </p:nvSpPr>
        <p:spPr>
          <a:xfrm xmlns:a="http://schemas.openxmlformats.org/drawingml/2006/main">
            <a:off x="552450" y="419100"/>
            <a:ext cx="514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a:solidFill>
                  <a:srgbClr val="2563EB"/>
                </a:solidFill>
                <a:latin typeface="Aptos"/>
                <a:ea typeface="Aptos"/>
                <a:cs typeface="Aptos"/>
              </a:defRPr>
            </a:pPr>
            <a:r>
              <a:rPr sz="900" b="1">
                <a:solidFill>
                  <a:srgbClr val="2563EB"/>
                </a:solidFill>
                <a:latin typeface="Aptos"/>
                <a:ea typeface="Aptos"/>
                <a:cs typeface="Aptos"/>
              </a:rPr>
              <a:t>06</a:t>
            </a:r>
          </a:p>
        </p:txBody>
      </p:sp>
      <p:sp>
        <p:nvSpPr>
          <p:cNvPr id="2" name="">
            <a:extLst xmlns:a="http://schemas.openxmlformats.org/drawingml/2006/main">
              <a:ext uri="{FF2B5EF4-FFF2-40B4-BE49-F238E27FC236}">
                <a16:creationId xmlns:a16="http://schemas.microsoft.com/office/drawing/2014/main" id="{03FE829C-76F0-4CB0-B1CF-CB136BD84690}"/>
              </a:ext>
            </a:extLst>
          </p:cNvPr>
          <p:cNvSpPr>
            <a:spLocks xmlns:a="http://schemas.openxmlformats.org/drawingml/2006/main" noGrp="1"/>
          </p:cNvSpPr>
          <p:nvPr/>
        </p:nvSpPr>
        <p:spPr>
          <a:xfrm xmlns:a="http://schemas.openxmlformats.org/drawingml/2006/main">
            <a:off x="1104900" y="542925"/>
            <a:ext cx="476250" cy="0"/>
          </a:xfrm>
          <a:prstGeom xmlns:a="http://schemas.openxmlformats.org/drawingml/2006/main" prst="line">
            <a:avLst/>
          </a:prstGeom>
          <a:noFill xmlns:a="http://schemas.openxmlformats.org/drawingml/2006/main"/>
          <a:ln xmlns:a="http://schemas.openxmlformats.org/drawingml/2006/main" w="9525">
            <a:solidFill>
              <a:srgbClr val="CBD1DA"/>
            </a:solidFill>
            <a:prstDash val="solid"/>
          </a:ln>
        </p:spPr>
      </p:sp>
      <p:sp>
        <p:nvSpPr>
          <p:cNvPr id="3" name="">
            <a:extLst xmlns:a="http://schemas.openxmlformats.org/drawingml/2006/main">
              <a:ext uri="{FF2B5EF4-FFF2-40B4-BE49-F238E27FC236}">
                <a16:creationId xmlns:a16="http://schemas.microsoft.com/office/drawing/2014/main" id="{DD7E3050-322C-4929-B8E1-19D195147A8D}"/>
              </a:ext>
            </a:extLst>
          </p:cNvPr>
          <p:cNvSpPr>
            <a:spLocks xmlns:a="http://schemas.openxmlformats.org/drawingml/2006/main" noGrp="1"/>
          </p:cNvSpPr>
          <p:nvPr/>
        </p:nvSpPr>
        <p:spPr>
          <a:xfrm xmlns:a="http://schemas.openxmlformats.org/drawingml/2006/main">
            <a:off x="1733550" y="323850"/>
            <a:ext cx="704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375" b="1">
                <a:solidFill>
                  <a:srgbClr val="101827"/>
                </a:solidFill>
                <a:latin typeface="Aptos Display"/>
                <a:ea typeface="Aptos Display"/>
                <a:cs typeface="Aptos Display"/>
              </a:defRPr>
            </a:pPr>
            <a:r>
              <a:rPr sz="3375" b="1">
                <a:solidFill>
                  <a:srgbClr val="101827"/>
                </a:solidFill>
                <a:latin typeface="Aptos Display"/>
                <a:ea typeface="Aptos Display"/>
                <a:cs typeface="Aptos Display"/>
              </a:rPr>
              <a:t>The onboarding handoff</a:t>
            </a:r>
          </a:p>
        </p:txBody>
      </p:sp>
      <p:sp>
        <p:nvSpPr>
          <p:cNvPr id="4" name="">
            <a:extLst xmlns:a="http://schemas.openxmlformats.org/drawingml/2006/main">
              <a:ext uri="{FF2B5EF4-FFF2-40B4-BE49-F238E27FC236}">
                <a16:creationId xmlns:a16="http://schemas.microsoft.com/office/drawing/2014/main" id="{E9D2EC2B-45E1-480E-8C91-D4D034BFFB31}"/>
              </a:ext>
            </a:extLst>
          </p:cNvPr>
          <p:cNvSpPr>
            <a:spLocks xmlns:a="http://schemas.openxmlformats.org/drawingml/2006/main" noGrp="1"/>
          </p:cNvSpPr>
          <p:nvPr/>
        </p:nvSpPr>
        <p:spPr>
          <a:xfrm xmlns:a="http://schemas.openxmlformats.org/drawingml/2006/main">
            <a:off x="1752600" y="866775"/>
            <a:ext cx="7715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0">
                <a:solidFill>
                  <a:srgbClr val="626A78"/>
                </a:solidFill>
                <a:latin typeface="Aptos"/>
                <a:ea typeface="Aptos"/>
                <a:cs typeface="Aptos"/>
              </a:defRPr>
            </a:pPr>
            <a:r>
              <a:rPr sz="1350" b="0">
                <a:solidFill>
                  <a:srgbClr val="626A78"/>
                </a:solidFill>
                <a:latin typeface="Aptos"/>
                <a:ea typeface="Aptos"/>
                <a:cs typeface="Aptos"/>
              </a:rPr>
              <a:t>Six polished steps establish taste and identity. The live quest and reward transition needs repair.</a:t>
            </a:r>
          </a:p>
        </p:txBody>
      </p:sp>
      <p:sp>
        <p:nvSpPr>
          <p:cNvPr id="5" name="">
            <a:extLst xmlns:a="http://schemas.openxmlformats.org/drawingml/2006/main">
              <a:ext uri="{FF2B5EF4-FFF2-40B4-BE49-F238E27FC236}">
                <a16:creationId xmlns:a16="http://schemas.microsoft.com/office/drawing/2014/main" id="{44A382E1-52A1-4C95-A7C3-B14183715D11}"/>
              </a:ext>
            </a:extLst>
          </p:cNvPr>
          <p:cNvSpPr>
            <a:spLocks xmlns:a="http://schemas.openxmlformats.org/drawingml/2006/main" noGrp="1"/>
          </p:cNvSpPr>
          <p:nvPr/>
        </p:nvSpPr>
        <p:spPr>
          <a:xfrm xmlns:a="http://schemas.openxmlformats.org/drawingml/2006/main">
            <a:off x="11210925" y="381000"/>
            <a:ext cx="275082" cy="325755"/>
          </a:xfrm>
          <a:prstGeom xmlns:a="http://schemas.openxmlformats.org/drawingml/2006/main" prst="roundRect">
            <a:avLst>
              <a:gd name="adj" fmla="val 47368"/>
            </a:avLst>
          </a:prstGeom>
          <a:noFill xmlns:a="http://schemas.openxmlformats.org/drawingml/2006/main"/>
          <a:ln xmlns:a="http://schemas.openxmlformats.org/drawingml/2006/main" w="28956">
            <a:solidFill>
              <a:srgbClr val="0D1321"/>
            </a:solidFill>
            <a:prstDash val="solid"/>
          </a:ln>
        </p:spPr>
      </p:sp>
      <p:sp>
        <p:nvSpPr>
          <p:cNvPr id="6" name="">
            <a:extLst xmlns:a="http://schemas.openxmlformats.org/drawingml/2006/main">
              <a:ext uri="{FF2B5EF4-FFF2-40B4-BE49-F238E27FC236}">
                <a16:creationId xmlns:a16="http://schemas.microsoft.com/office/drawing/2014/main" id="{41A12B5D-C9C2-4501-8A62-A656875A83C3}"/>
              </a:ext>
            </a:extLst>
          </p:cNvPr>
          <p:cNvSpPr>
            <a:spLocks xmlns:a="http://schemas.openxmlformats.org/drawingml/2006/main" noGrp="1"/>
          </p:cNvSpPr>
          <p:nvPr/>
        </p:nvSpPr>
        <p:spPr>
          <a:xfrm xmlns:a="http://schemas.openxmlformats.org/drawingml/2006/main">
            <a:off x="11247120" y="598170"/>
            <a:ext cx="202692" cy="130302"/>
          </a:xfrm>
          <a:prstGeom xmlns:a="http://schemas.openxmlformats.org/drawingml/2006/main" prst="triangle">
            <a:avLst/>
          </a:prstGeom>
          <a:solidFill xmlns:a="http://schemas.openxmlformats.org/drawingml/2006/main">
            <a:srgbClr val="0D1321"/>
          </a:solidFill>
          <a:ln xmlns:a="http://schemas.openxmlformats.org/drawingml/2006/main" w="0">
            <a:solidFill>
              <a:srgbClr val="0D1321"/>
            </a:solidFill>
            <a:prstDash val="solid"/>
          </a:ln>
        </p:spPr>
      </p:sp>
      <p:sp>
        <p:nvSpPr>
          <p:cNvPr id="7" name="">
            <a:extLst xmlns:a="http://schemas.openxmlformats.org/drawingml/2006/main">
              <a:ext uri="{FF2B5EF4-FFF2-40B4-BE49-F238E27FC236}">
                <a16:creationId xmlns:a16="http://schemas.microsoft.com/office/drawing/2014/main" id="{B3393D76-6720-4449-AE7C-E0A1EEFFCB8B}"/>
              </a:ext>
            </a:extLst>
          </p:cNvPr>
          <p:cNvSpPr>
            <a:spLocks xmlns:a="http://schemas.openxmlformats.org/drawingml/2006/main" noGrp="1"/>
          </p:cNvSpPr>
          <p:nvPr/>
        </p:nvSpPr>
        <p:spPr>
          <a:xfrm xmlns:a="http://schemas.openxmlformats.org/drawingml/2006/main">
            <a:off x="11290554" y="424434"/>
            <a:ext cx="115824" cy="1158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627" b="1">
                <a:solidFill>
                  <a:srgbClr val="0D1321"/>
                </a:solidFill>
                <a:latin typeface="Aptos"/>
                <a:ea typeface="Aptos"/>
                <a:cs typeface="Aptos"/>
              </a:defRPr>
            </a:pPr>
            <a:r>
              <a:rPr sz="627" b="1">
                <a:solidFill>
                  <a:srgbClr val="0D1321"/>
                </a:solidFill>
                <a:latin typeface="Aptos"/>
                <a:ea typeface="Aptos"/>
                <a:cs typeface="Aptos"/>
              </a:rPr>
              <a:t>✦</a:t>
            </a:r>
          </a:p>
        </p:txBody>
      </p:sp>
      <p:sp>
        <p:nvSpPr>
          <p:cNvPr id="8" name="">
            <a:extLst xmlns:a="http://schemas.openxmlformats.org/drawingml/2006/main">
              <a:ext uri="{FF2B5EF4-FFF2-40B4-BE49-F238E27FC236}">
                <a16:creationId xmlns:a16="http://schemas.microsoft.com/office/drawing/2014/main" id="{22FA026A-0F6C-46DB-8F6E-FC21F44044EB}"/>
              </a:ext>
            </a:extLst>
          </p:cNvPr>
          <p:cNvSpPr>
            <a:spLocks xmlns:a="http://schemas.openxmlformats.org/drawingml/2006/main" noGrp="1"/>
          </p:cNvSpPr>
          <p:nvPr/>
        </p:nvSpPr>
        <p:spPr>
          <a:xfrm xmlns:a="http://schemas.openxmlformats.org/drawingml/2006/main">
            <a:off x="10144125" y="828675"/>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200" b="1">
                <a:solidFill>
                  <a:srgbClr val="0D1321"/>
                </a:solidFill>
                <a:latin typeface="Aptos"/>
                <a:ea typeface="Aptos"/>
                <a:cs typeface="Aptos"/>
              </a:defRPr>
            </a:pPr>
            <a:r>
              <a:rPr sz="1200" b="1">
                <a:solidFill>
                  <a:srgbClr val="0D1321"/>
                </a:solidFill>
                <a:latin typeface="Aptos"/>
                <a:ea typeface="Aptos"/>
                <a:cs typeface="Aptos"/>
              </a:rPr>
              <a:t>sidequests</a:t>
            </a:r>
          </a:p>
        </p:txBody>
      </p:sp>
      <p:sp>
        <p:nvSpPr>
          <p:cNvPr id="9" name="">
            <a:extLst xmlns:a="http://schemas.openxmlformats.org/drawingml/2006/main">
              <a:ext uri="{FF2B5EF4-FFF2-40B4-BE49-F238E27FC236}">
                <a16:creationId xmlns:a16="http://schemas.microsoft.com/office/drawing/2014/main" id="{6CADE0A4-EDE5-4243-8FF7-58A31A6DF7D5}"/>
              </a:ext>
            </a:extLst>
          </p:cNvPr>
          <p:cNvSpPr>
            <a:spLocks xmlns:a="http://schemas.openxmlformats.org/drawingml/2006/main" noGrp="1"/>
          </p:cNvSpPr>
          <p:nvPr/>
        </p:nvSpPr>
        <p:spPr>
          <a:xfrm xmlns:a="http://schemas.openxmlformats.org/drawingml/2006/main">
            <a:off x="552450" y="6543675"/>
            <a:ext cx="4000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675" b="0">
                <a:solidFill>
                  <a:srgbClr val="9AA1AD"/>
                </a:solidFill>
                <a:latin typeface="Aptos"/>
                <a:ea typeface="Aptos"/>
                <a:cs typeface="Aptos"/>
              </a:defRPr>
            </a:pPr>
            <a:r>
              <a:rPr sz="675" b="0">
                <a:solidFill>
                  <a:srgbClr val="9AA1AD"/>
                </a:solidFill>
                <a:latin typeface="Aptos"/>
                <a:ea typeface="Aptos"/>
                <a:cs typeface="Aptos"/>
              </a:rPr>
              <a:t>Development &amp; launch readiness · 12 Aug 2026</a:t>
            </a:r>
          </a:p>
        </p:txBody>
      </p:sp>
      <p:sp>
        <p:nvSpPr>
          <p:cNvPr id="10" name="">
            <a:extLst xmlns:a="http://schemas.openxmlformats.org/drawingml/2006/main">
              <a:ext uri="{FF2B5EF4-FFF2-40B4-BE49-F238E27FC236}">
                <a16:creationId xmlns:a16="http://schemas.microsoft.com/office/drawing/2014/main" id="{63203BC0-A125-4B35-AC5B-6D309D582079}"/>
              </a:ext>
            </a:extLst>
          </p:cNvPr>
          <p:cNvSpPr>
            <a:spLocks xmlns:a="http://schemas.openxmlformats.org/drawingml/2006/main" noGrp="1"/>
          </p:cNvSpPr>
          <p:nvPr/>
        </p:nvSpPr>
        <p:spPr>
          <a:xfrm xmlns:a="http://schemas.openxmlformats.org/drawingml/2006/main">
            <a:off x="11239500" y="6543675"/>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675" b="0">
                <a:solidFill>
                  <a:srgbClr val="9AA1AD"/>
                </a:solidFill>
                <a:latin typeface="Aptos"/>
                <a:ea typeface="Aptos"/>
                <a:cs typeface="Aptos"/>
              </a:defRPr>
            </a:pPr>
            <a:r>
              <a:rPr sz="675" b="0">
                <a:solidFill>
                  <a:srgbClr val="9AA1AD"/>
                </a:solidFill>
                <a:latin typeface="Aptos"/>
                <a:ea typeface="Aptos"/>
                <a:cs typeface="Aptos"/>
              </a:rPr>
              <a:t>6</a:t>
            </a:r>
          </a:p>
        </p:txBody>
      </p:sp>
      <p:sp>
        <p:nvSpPr>
          <p:cNvPr id="11" name="">
            <a:extLst xmlns:a="http://schemas.openxmlformats.org/drawingml/2006/main">
              <a:ext uri="{FF2B5EF4-FFF2-40B4-BE49-F238E27FC236}">
                <a16:creationId xmlns:a16="http://schemas.microsoft.com/office/drawing/2014/main" id="{3B4D2E07-AAAE-44A5-8170-EC426F2E3843}"/>
              </a:ext>
            </a:extLst>
          </p:cNvPr>
          <p:cNvSpPr>
            <a:spLocks xmlns:a="http://schemas.openxmlformats.org/drawingml/2006/main" noGrp="1"/>
          </p:cNvSpPr>
          <p:nvPr/>
        </p:nvSpPr>
        <p:spPr>
          <a:xfrm xmlns:a="http://schemas.openxmlformats.org/drawingml/2006/main">
            <a:off x="571500" y="1752600"/>
            <a:ext cx="1466850" cy="1295400"/>
          </a:xfrm>
          <a:prstGeom xmlns:a="http://schemas.openxmlformats.org/drawingml/2006/main" prst="roundRect">
            <a:avLst>
              <a:gd name="adj" fmla="val 13235"/>
            </a:avLst>
          </a:prstGeom>
          <a:solidFill xmlns:a="http://schemas.openxmlformats.org/drawingml/2006/main">
            <a:srgbClr val="EAF5EF"/>
          </a:solidFill>
          <a:ln xmlns:a="http://schemas.openxmlformats.org/drawingml/2006/main" w="9525">
            <a:solidFill>
              <a:srgbClr val="CFE5D9"/>
            </a:solidFill>
            <a:prstDash val="solid"/>
          </a:ln>
        </p:spPr>
      </p:sp>
      <p:sp>
        <p:nvSpPr>
          <p:cNvPr id="12" name="">
            <a:extLst xmlns:a="http://schemas.openxmlformats.org/drawingml/2006/main">
              <a:ext uri="{FF2B5EF4-FFF2-40B4-BE49-F238E27FC236}">
                <a16:creationId xmlns:a16="http://schemas.microsoft.com/office/drawing/2014/main" id="{4685885A-B657-45C6-A827-A43347897CEF}"/>
              </a:ext>
            </a:extLst>
          </p:cNvPr>
          <p:cNvSpPr>
            <a:spLocks xmlns:a="http://schemas.openxmlformats.org/drawingml/2006/main" noGrp="1"/>
          </p:cNvSpPr>
          <p:nvPr/>
        </p:nvSpPr>
        <p:spPr>
          <a:xfrm xmlns:a="http://schemas.openxmlformats.org/drawingml/2006/main">
            <a:off x="742950" y="1943100"/>
            <a:ext cx="38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75" b="1">
                <a:solidFill>
                  <a:srgbClr val="2E7D5A"/>
                </a:solidFill>
                <a:latin typeface="Aptos"/>
                <a:ea typeface="Aptos"/>
                <a:cs typeface="Aptos"/>
              </a:defRPr>
            </a:pPr>
            <a:r>
              <a:rPr sz="975" b="1">
                <a:solidFill>
                  <a:srgbClr val="2E7D5A"/>
                </a:solidFill>
                <a:latin typeface="Aptos"/>
                <a:ea typeface="Aptos"/>
                <a:cs typeface="Aptos"/>
              </a:rPr>
              <a:t>01</a:t>
            </a:r>
          </a:p>
        </p:txBody>
      </p:sp>
      <p:sp>
        <p:nvSpPr>
          <p:cNvPr id="13" name="">
            <a:extLst xmlns:a="http://schemas.openxmlformats.org/drawingml/2006/main">
              <a:ext uri="{FF2B5EF4-FFF2-40B4-BE49-F238E27FC236}">
                <a16:creationId xmlns:a16="http://schemas.microsoft.com/office/drawing/2014/main" id="{CC0A028F-A9AD-4497-8F7B-0C607DAAF02E}"/>
              </a:ext>
            </a:extLst>
          </p:cNvPr>
          <p:cNvSpPr>
            <a:spLocks xmlns:a="http://schemas.openxmlformats.org/drawingml/2006/main" noGrp="1"/>
          </p:cNvSpPr>
          <p:nvPr/>
        </p:nvSpPr>
        <p:spPr>
          <a:xfrm xmlns:a="http://schemas.openxmlformats.org/drawingml/2006/main">
            <a:off x="742950" y="2371725"/>
            <a:ext cx="112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275" b="1">
                <a:solidFill>
                  <a:srgbClr val="101827"/>
                </a:solidFill>
                <a:latin typeface="Aptos Display"/>
                <a:ea typeface="Aptos Display"/>
                <a:cs typeface="Aptos Display"/>
              </a:defRPr>
            </a:pPr>
            <a:r>
              <a:rPr sz="1275" b="1">
                <a:solidFill>
                  <a:srgbClr val="101827"/>
                </a:solidFill>
                <a:latin typeface="Aptos Display"/>
                <a:ea typeface="Aptos Display"/>
                <a:cs typeface="Aptos Display"/>
              </a:rPr>
              <a:t>WELCOME</a:t>
            </a:r>
          </a:p>
        </p:txBody>
      </p:sp>
      <p:sp>
        <p:nvSpPr>
          <p:cNvPr id="14" name="">
            <a:extLst xmlns:a="http://schemas.openxmlformats.org/drawingml/2006/main">
              <a:ext uri="{FF2B5EF4-FFF2-40B4-BE49-F238E27FC236}">
                <a16:creationId xmlns:a16="http://schemas.microsoft.com/office/drawing/2014/main" id="{8A48C3C4-A3A0-459D-9279-55C57C1FC51C}"/>
              </a:ext>
            </a:extLst>
          </p:cNvPr>
          <p:cNvSpPr>
            <a:spLocks xmlns:a="http://schemas.openxmlformats.org/drawingml/2006/main" noGrp="1"/>
          </p:cNvSpPr>
          <p:nvPr/>
        </p:nvSpPr>
        <p:spPr>
          <a:xfrm xmlns:a="http://schemas.openxmlformats.org/drawingml/2006/main">
            <a:off x="2076450" y="225742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A7AEB8"/>
                </a:solidFill>
                <a:latin typeface="Aptos"/>
                <a:ea typeface="Aptos"/>
                <a:cs typeface="Aptos"/>
              </a:defRPr>
            </a:pPr>
            <a:r>
              <a:rPr sz="1650" b="1">
                <a:solidFill>
                  <a:srgbClr val="A7AEB8"/>
                </a:solidFill>
                <a:latin typeface="Aptos"/>
                <a:ea typeface="Aptos"/>
                <a:cs typeface="Aptos"/>
              </a:rPr>
              <a:t>→</a:t>
            </a:r>
          </a:p>
        </p:txBody>
      </p:sp>
      <p:sp>
        <p:nvSpPr>
          <p:cNvPr id="15" name="">
            <a:extLst xmlns:a="http://schemas.openxmlformats.org/drawingml/2006/main">
              <a:ext uri="{FF2B5EF4-FFF2-40B4-BE49-F238E27FC236}">
                <a16:creationId xmlns:a16="http://schemas.microsoft.com/office/drawing/2014/main" id="{28412329-D60B-492C-8258-4DA18C507383}"/>
              </a:ext>
            </a:extLst>
          </p:cNvPr>
          <p:cNvSpPr>
            <a:spLocks xmlns:a="http://schemas.openxmlformats.org/drawingml/2006/main" noGrp="1"/>
          </p:cNvSpPr>
          <p:nvPr/>
        </p:nvSpPr>
        <p:spPr>
          <a:xfrm xmlns:a="http://schemas.openxmlformats.org/drawingml/2006/main">
            <a:off x="2381250" y="1752600"/>
            <a:ext cx="1466850" cy="1295400"/>
          </a:xfrm>
          <a:prstGeom xmlns:a="http://schemas.openxmlformats.org/drawingml/2006/main" prst="roundRect">
            <a:avLst>
              <a:gd name="adj" fmla="val 13235"/>
            </a:avLst>
          </a:prstGeom>
          <a:solidFill xmlns:a="http://schemas.openxmlformats.org/drawingml/2006/main">
            <a:srgbClr val="EAF5EF"/>
          </a:solidFill>
          <a:ln xmlns:a="http://schemas.openxmlformats.org/drawingml/2006/main" w="9525">
            <a:solidFill>
              <a:srgbClr val="CFE5D9"/>
            </a:solidFill>
            <a:prstDash val="solid"/>
          </a:ln>
        </p:spPr>
      </p:sp>
      <p:sp>
        <p:nvSpPr>
          <p:cNvPr id="16" name="">
            <a:extLst xmlns:a="http://schemas.openxmlformats.org/drawingml/2006/main">
              <a:ext uri="{FF2B5EF4-FFF2-40B4-BE49-F238E27FC236}">
                <a16:creationId xmlns:a16="http://schemas.microsoft.com/office/drawing/2014/main" id="{899B9111-C83D-4F8B-A42A-1D131EB0A0C9}"/>
              </a:ext>
            </a:extLst>
          </p:cNvPr>
          <p:cNvSpPr>
            <a:spLocks xmlns:a="http://schemas.openxmlformats.org/drawingml/2006/main" noGrp="1"/>
          </p:cNvSpPr>
          <p:nvPr/>
        </p:nvSpPr>
        <p:spPr>
          <a:xfrm xmlns:a="http://schemas.openxmlformats.org/drawingml/2006/main">
            <a:off x="2552700" y="1943100"/>
            <a:ext cx="38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75" b="1">
                <a:solidFill>
                  <a:srgbClr val="2E7D5A"/>
                </a:solidFill>
                <a:latin typeface="Aptos"/>
                <a:ea typeface="Aptos"/>
                <a:cs typeface="Aptos"/>
              </a:defRPr>
            </a:pPr>
            <a:r>
              <a:rPr sz="975" b="1">
                <a:solidFill>
                  <a:srgbClr val="2E7D5A"/>
                </a:solidFill>
                <a:latin typeface="Aptos"/>
                <a:ea typeface="Aptos"/>
                <a:cs typeface="Aptos"/>
              </a:rPr>
              <a:t>02</a:t>
            </a:r>
          </a:p>
        </p:txBody>
      </p:sp>
      <p:sp>
        <p:nvSpPr>
          <p:cNvPr id="17" name="">
            <a:extLst xmlns:a="http://schemas.openxmlformats.org/drawingml/2006/main">
              <a:ext uri="{FF2B5EF4-FFF2-40B4-BE49-F238E27FC236}">
                <a16:creationId xmlns:a16="http://schemas.microsoft.com/office/drawing/2014/main" id="{CBFA140E-C544-48ED-AC43-5B1C5184B347}"/>
              </a:ext>
            </a:extLst>
          </p:cNvPr>
          <p:cNvSpPr>
            <a:spLocks xmlns:a="http://schemas.openxmlformats.org/drawingml/2006/main" noGrp="1"/>
          </p:cNvSpPr>
          <p:nvPr/>
        </p:nvSpPr>
        <p:spPr>
          <a:xfrm xmlns:a="http://schemas.openxmlformats.org/drawingml/2006/main">
            <a:off x="2552700" y="2371725"/>
            <a:ext cx="112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275" b="1">
                <a:solidFill>
                  <a:srgbClr val="101827"/>
                </a:solidFill>
                <a:latin typeface="Aptos Display"/>
                <a:ea typeface="Aptos Display"/>
                <a:cs typeface="Aptos Display"/>
              </a:defRPr>
            </a:pPr>
            <a:r>
              <a:rPr sz="1275" b="1">
                <a:solidFill>
                  <a:srgbClr val="101827"/>
                </a:solidFill>
                <a:latin typeface="Aptos Display"/>
                <a:ea typeface="Aptos Display"/>
                <a:cs typeface="Aptos Display"/>
              </a:rPr>
              <a:t>VIBES</a:t>
            </a:r>
          </a:p>
        </p:txBody>
      </p:sp>
      <p:sp>
        <p:nvSpPr>
          <p:cNvPr id="18" name="">
            <a:extLst xmlns:a="http://schemas.openxmlformats.org/drawingml/2006/main">
              <a:ext uri="{FF2B5EF4-FFF2-40B4-BE49-F238E27FC236}">
                <a16:creationId xmlns:a16="http://schemas.microsoft.com/office/drawing/2014/main" id="{BDC7232F-EAD9-4CB9-905C-9DC7F64E3D40}"/>
              </a:ext>
            </a:extLst>
          </p:cNvPr>
          <p:cNvSpPr>
            <a:spLocks xmlns:a="http://schemas.openxmlformats.org/drawingml/2006/main" noGrp="1"/>
          </p:cNvSpPr>
          <p:nvPr/>
        </p:nvSpPr>
        <p:spPr>
          <a:xfrm xmlns:a="http://schemas.openxmlformats.org/drawingml/2006/main">
            <a:off x="3886200" y="225742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A7AEB8"/>
                </a:solidFill>
                <a:latin typeface="Aptos"/>
                <a:ea typeface="Aptos"/>
                <a:cs typeface="Aptos"/>
              </a:defRPr>
            </a:pPr>
            <a:r>
              <a:rPr sz="1650" b="1">
                <a:solidFill>
                  <a:srgbClr val="A7AEB8"/>
                </a:solidFill>
                <a:latin typeface="Aptos"/>
                <a:ea typeface="Aptos"/>
                <a:cs typeface="Aptos"/>
              </a:rPr>
              <a:t>→</a:t>
            </a:r>
          </a:p>
        </p:txBody>
      </p:sp>
      <p:sp>
        <p:nvSpPr>
          <p:cNvPr id="19" name="">
            <a:extLst xmlns:a="http://schemas.openxmlformats.org/drawingml/2006/main">
              <a:ext uri="{FF2B5EF4-FFF2-40B4-BE49-F238E27FC236}">
                <a16:creationId xmlns:a16="http://schemas.microsoft.com/office/drawing/2014/main" id="{AD2F9A63-EC21-466B-8F5E-23D588AD1904}"/>
              </a:ext>
            </a:extLst>
          </p:cNvPr>
          <p:cNvSpPr>
            <a:spLocks xmlns:a="http://schemas.openxmlformats.org/drawingml/2006/main" noGrp="1"/>
          </p:cNvSpPr>
          <p:nvPr/>
        </p:nvSpPr>
        <p:spPr>
          <a:xfrm xmlns:a="http://schemas.openxmlformats.org/drawingml/2006/main">
            <a:off x="4191000" y="1752600"/>
            <a:ext cx="1466850" cy="1295400"/>
          </a:xfrm>
          <a:prstGeom xmlns:a="http://schemas.openxmlformats.org/drawingml/2006/main" prst="roundRect">
            <a:avLst>
              <a:gd name="adj" fmla="val 13235"/>
            </a:avLst>
          </a:prstGeom>
          <a:solidFill xmlns:a="http://schemas.openxmlformats.org/drawingml/2006/main">
            <a:srgbClr val="EAF5EF"/>
          </a:solidFill>
          <a:ln xmlns:a="http://schemas.openxmlformats.org/drawingml/2006/main" w="9525">
            <a:solidFill>
              <a:srgbClr val="CFE5D9"/>
            </a:solidFill>
            <a:prstDash val="solid"/>
          </a:ln>
        </p:spPr>
      </p:sp>
      <p:sp>
        <p:nvSpPr>
          <p:cNvPr id="20" name="">
            <a:extLst xmlns:a="http://schemas.openxmlformats.org/drawingml/2006/main">
              <a:ext uri="{FF2B5EF4-FFF2-40B4-BE49-F238E27FC236}">
                <a16:creationId xmlns:a16="http://schemas.microsoft.com/office/drawing/2014/main" id="{E96F28B6-DF9E-4681-AA65-11079936EF01}"/>
              </a:ext>
            </a:extLst>
          </p:cNvPr>
          <p:cNvSpPr>
            <a:spLocks xmlns:a="http://schemas.openxmlformats.org/drawingml/2006/main" noGrp="1"/>
          </p:cNvSpPr>
          <p:nvPr/>
        </p:nvSpPr>
        <p:spPr>
          <a:xfrm xmlns:a="http://schemas.openxmlformats.org/drawingml/2006/main">
            <a:off x="4362450" y="1943100"/>
            <a:ext cx="38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75" b="1">
                <a:solidFill>
                  <a:srgbClr val="2E7D5A"/>
                </a:solidFill>
                <a:latin typeface="Aptos"/>
                <a:ea typeface="Aptos"/>
                <a:cs typeface="Aptos"/>
              </a:defRPr>
            </a:pPr>
            <a:r>
              <a:rPr sz="975" b="1">
                <a:solidFill>
                  <a:srgbClr val="2E7D5A"/>
                </a:solidFill>
                <a:latin typeface="Aptos"/>
                <a:ea typeface="Aptos"/>
                <a:cs typeface="Aptos"/>
              </a:rPr>
              <a:t>03</a:t>
            </a:r>
          </a:p>
        </p:txBody>
      </p:sp>
      <p:sp>
        <p:nvSpPr>
          <p:cNvPr id="21" name="">
            <a:extLst xmlns:a="http://schemas.openxmlformats.org/drawingml/2006/main">
              <a:ext uri="{FF2B5EF4-FFF2-40B4-BE49-F238E27FC236}">
                <a16:creationId xmlns:a16="http://schemas.microsoft.com/office/drawing/2014/main" id="{FD3BDEE1-DE5E-4D2C-A1A3-DA5900F21E5B}"/>
              </a:ext>
            </a:extLst>
          </p:cNvPr>
          <p:cNvSpPr>
            <a:spLocks xmlns:a="http://schemas.openxmlformats.org/drawingml/2006/main" noGrp="1"/>
          </p:cNvSpPr>
          <p:nvPr/>
        </p:nvSpPr>
        <p:spPr>
          <a:xfrm xmlns:a="http://schemas.openxmlformats.org/drawingml/2006/main">
            <a:off x="4362450" y="2371725"/>
            <a:ext cx="112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275" b="1">
                <a:solidFill>
                  <a:srgbClr val="101827"/>
                </a:solidFill>
                <a:latin typeface="Aptos Display"/>
                <a:ea typeface="Aptos Display"/>
                <a:cs typeface="Aptos Display"/>
              </a:defRPr>
            </a:pPr>
            <a:r>
              <a:rPr sz="1275" b="1">
                <a:solidFill>
                  <a:srgbClr val="101827"/>
                </a:solidFill>
                <a:latin typeface="Aptos Display"/>
                <a:ea typeface="Aptos Display"/>
                <a:cs typeface="Aptos Display"/>
              </a:rPr>
              <a:t>ARCHETYPE</a:t>
            </a:r>
          </a:p>
        </p:txBody>
      </p:sp>
      <p:sp>
        <p:nvSpPr>
          <p:cNvPr id="22" name="">
            <a:extLst xmlns:a="http://schemas.openxmlformats.org/drawingml/2006/main">
              <a:ext uri="{FF2B5EF4-FFF2-40B4-BE49-F238E27FC236}">
                <a16:creationId xmlns:a16="http://schemas.microsoft.com/office/drawing/2014/main" id="{0D7FD035-5905-49A9-891C-17E5B28A4AEC}"/>
              </a:ext>
            </a:extLst>
          </p:cNvPr>
          <p:cNvSpPr>
            <a:spLocks xmlns:a="http://schemas.openxmlformats.org/drawingml/2006/main" noGrp="1"/>
          </p:cNvSpPr>
          <p:nvPr/>
        </p:nvSpPr>
        <p:spPr>
          <a:xfrm xmlns:a="http://schemas.openxmlformats.org/drawingml/2006/main">
            <a:off x="5695950" y="225742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A7AEB8"/>
                </a:solidFill>
                <a:latin typeface="Aptos"/>
                <a:ea typeface="Aptos"/>
                <a:cs typeface="Aptos"/>
              </a:defRPr>
            </a:pPr>
            <a:r>
              <a:rPr sz="1650" b="1">
                <a:solidFill>
                  <a:srgbClr val="A7AEB8"/>
                </a:solidFill>
                <a:latin typeface="Aptos"/>
                <a:ea typeface="Aptos"/>
                <a:cs typeface="Aptos"/>
              </a:rPr>
              <a:t>→</a:t>
            </a:r>
          </a:p>
        </p:txBody>
      </p:sp>
      <p:sp>
        <p:nvSpPr>
          <p:cNvPr id="23" name="">
            <a:extLst xmlns:a="http://schemas.openxmlformats.org/drawingml/2006/main">
              <a:ext uri="{FF2B5EF4-FFF2-40B4-BE49-F238E27FC236}">
                <a16:creationId xmlns:a16="http://schemas.microsoft.com/office/drawing/2014/main" id="{10A07EC5-13A9-4E72-AF35-B7C39E837487}"/>
              </a:ext>
            </a:extLst>
          </p:cNvPr>
          <p:cNvSpPr>
            <a:spLocks xmlns:a="http://schemas.openxmlformats.org/drawingml/2006/main" noGrp="1"/>
          </p:cNvSpPr>
          <p:nvPr/>
        </p:nvSpPr>
        <p:spPr>
          <a:xfrm xmlns:a="http://schemas.openxmlformats.org/drawingml/2006/main">
            <a:off x="6000750" y="1752600"/>
            <a:ext cx="1466850" cy="1295400"/>
          </a:xfrm>
          <a:prstGeom xmlns:a="http://schemas.openxmlformats.org/drawingml/2006/main" prst="roundRect">
            <a:avLst>
              <a:gd name="adj" fmla="val 13235"/>
            </a:avLst>
          </a:prstGeom>
          <a:solidFill xmlns:a="http://schemas.openxmlformats.org/drawingml/2006/main">
            <a:srgbClr val="EAF5EF"/>
          </a:solidFill>
          <a:ln xmlns:a="http://schemas.openxmlformats.org/drawingml/2006/main" w="9525">
            <a:solidFill>
              <a:srgbClr val="CFE5D9"/>
            </a:solidFill>
            <a:prstDash val="solid"/>
          </a:ln>
        </p:spPr>
      </p:sp>
      <p:sp>
        <p:nvSpPr>
          <p:cNvPr id="24" name="">
            <a:extLst xmlns:a="http://schemas.openxmlformats.org/drawingml/2006/main">
              <a:ext uri="{FF2B5EF4-FFF2-40B4-BE49-F238E27FC236}">
                <a16:creationId xmlns:a16="http://schemas.microsoft.com/office/drawing/2014/main" id="{93E87934-D28F-4732-98B3-8F306AE45FDA}"/>
              </a:ext>
            </a:extLst>
          </p:cNvPr>
          <p:cNvSpPr>
            <a:spLocks xmlns:a="http://schemas.openxmlformats.org/drawingml/2006/main" noGrp="1"/>
          </p:cNvSpPr>
          <p:nvPr/>
        </p:nvSpPr>
        <p:spPr>
          <a:xfrm xmlns:a="http://schemas.openxmlformats.org/drawingml/2006/main">
            <a:off x="6172200" y="1943100"/>
            <a:ext cx="38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75" b="1">
                <a:solidFill>
                  <a:srgbClr val="2E7D5A"/>
                </a:solidFill>
                <a:latin typeface="Aptos"/>
                <a:ea typeface="Aptos"/>
                <a:cs typeface="Aptos"/>
              </a:defRPr>
            </a:pPr>
            <a:r>
              <a:rPr sz="975" b="1">
                <a:solidFill>
                  <a:srgbClr val="2E7D5A"/>
                </a:solidFill>
                <a:latin typeface="Aptos"/>
                <a:ea typeface="Aptos"/>
                <a:cs typeface="Aptos"/>
              </a:rPr>
              <a:t>04</a:t>
            </a:r>
          </a:p>
        </p:txBody>
      </p:sp>
      <p:sp>
        <p:nvSpPr>
          <p:cNvPr id="25" name="">
            <a:extLst xmlns:a="http://schemas.openxmlformats.org/drawingml/2006/main">
              <a:ext uri="{FF2B5EF4-FFF2-40B4-BE49-F238E27FC236}">
                <a16:creationId xmlns:a16="http://schemas.microsoft.com/office/drawing/2014/main" id="{295FD425-E96B-4F92-9997-C871492F2C3C}"/>
              </a:ext>
            </a:extLst>
          </p:cNvPr>
          <p:cNvSpPr>
            <a:spLocks xmlns:a="http://schemas.openxmlformats.org/drawingml/2006/main" noGrp="1"/>
          </p:cNvSpPr>
          <p:nvPr/>
        </p:nvSpPr>
        <p:spPr>
          <a:xfrm xmlns:a="http://schemas.openxmlformats.org/drawingml/2006/main">
            <a:off x="6172200" y="2371725"/>
            <a:ext cx="112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275" b="1">
                <a:solidFill>
                  <a:srgbClr val="101827"/>
                </a:solidFill>
                <a:latin typeface="Aptos Display"/>
                <a:ea typeface="Aptos Display"/>
                <a:cs typeface="Aptos Display"/>
              </a:defRPr>
            </a:pPr>
            <a:r>
              <a:rPr sz="1275" b="1">
                <a:solidFill>
                  <a:srgbClr val="101827"/>
                </a:solidFill>
                <a:latin typeface="Aptos Display"/>
                <a:ea typeface="Aptos Display"/>
                <a:cs typeface="Aptos Display"/>
              </a:rPr>
              <a:t>NEIGHBORHOOD</a:t>
            </a:r>
          </a:p>
        </p:txBody>
      </p:sp>
      <p:sp>
        <p:nvSpPr>
          <p:cNvPr id="26" name="">
            <a:extLst xmlns:a="http://schemas.openxmlformats.org/drawingml/2006/main">
              <a:ext uri="{FF2B5EF4-FFF2-40B4-BE49-F238E27FC236}">
                <a16:creationId xmlns:a16="http://schemas.microsoft.com/office/drawing/2014/main" id="{27E2F2DA-34A4-4641-BB45-A6B1D9713A15}"/>
              </a:ext>
            </a:extLst>
          </p:cNvPr>
          <p:cNvSpPr>
            <a:spLocks xmlns:a="http://schemas.openxmlformats.org/drawingml/2006/main" noGrp="1"/>
          </p:cNvSpPr>
          <p:nvPr/>
        </p:nvSpPr>
        <p:spPr>
          <a:xfrm xmlns:a="http://schemas.openxmlformats.org/drawingml/2006/main">
            <a:off x="7505700" y="225742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A7AEB8"/>
                </a:solidFill>
                <a:latin typeface="Aptos"/>
                <a:ea typeface="Aptos"/>
                <a:cs typeface="Aptos"/>
              </a:defRPr>
            </a:pPr>
            <a:r>
              <a:rPr sz="1650" b="1">
                <a:solidFill>
                  <a:srgbClr val="A7AEB8"/>
                </a:solidFill>
                <a:latin typeface="Aptos"/>
                <a:ea typeface="Aptos"/>
                <a:cs typeface="Aptos"/>
              </a:rPr>
              <a:t>→</a:t>
            </a:r>
          </a:p>
        </p:txBody>
      </p:sp>
      <p:sp>
        <p:nvSpPr>
          <p:cNvPr id="27" name="">
            <a:extLst xmlns:a="http://schemas.openxmlformats.org/drawingml/2006/main">
              <a:ext uri="{FF2B5EF4-FFF2-40B4-BE49-F238E27FC236}">
                <a16:creationId xmlns:a16="http://schemas.microsoft.com/office/drawing/2014/main" id="{6162BFAF-DC6E-444B-8C31-EDDCFFB3DCCF}"/>
              </a:ext>
            </a:extLst>
          </p:cNvPr>
          <p:cNvSpPr>
            <a:spLocks xmlns:a="http://schemas.openxmlformats.org/drawingml/2006/main" noGrp="1"/>
          </p:cNvSpPr>
          <p:nvPr/>
        </p:nvSpPr>
        <p:spPr>
          <a:xfrm xmlns:a="http://schemas.openxmlformats.org/drawingml/2006/main">
            <a:off x="7810500" y="1752600"/>
            <a:ext cx="1466850" cy="1295400"/>
          </a:xfrm>
          <a:prstGeom xmlns:a="http://schemas.openxmlformats.org/drawingml/2006/main" prst="roundRect">
            <a:avLst>
              <a:gd name="adj" fmla="val 13235"/>
            </a:avLst>
          </a:prstGeom>
          <a:solidFill xmlns:a="http://schemas.openxmlformats.org/drawingml/2006/main">
            <a:srgbClr val="EAF0FF"/>
          </a:solidFill>
          <a:ln xmlns:a="http://schemas.openxmlformats.org/drawingml/2006/main" w="9525">
            <a:solidFill>
              <a:srgbClr val="C9D7FF"/>
            </a:solidFill>
            <a:prstDash val="solid"/>
          </a:ln>
        </p:spPr>
      </p:sp>
      <p:sp>
        <p:nvSpPr>
          <p:cNvPr id="28" name="">
            <a:extLst xmlns:a="http://schemas.openxmlformats.org/drawingml/2006/main">
              <a:ext uri="{FF2B5EF4-FFF2-40B4-BE49-F238E27FC236}">
                <a16:creationId xmlns:a16="http://schemas.microsoft.com/office/drawing/2014/main" id="{6FCCA01E-81BC-4621-B1A9-BF62DE1088C7}"/>
              </a:ext>
            </a:extLst>
          </p:cNvPr>
          <p:cNvSpPr>
            <a:spLocks xmlns:a="http://schemas.openxmlformats.org/drawingml/2006/main" noGrp="1"/>
          </p:cNvSpPr>
          <p:nvPr/>
        </p:nvSpPr>
        <p:spPr>
          <a:xfrm xmlns:a="http://schemas.openxmlformats.org/drawingml/2006/main">
            <a:off x="7981950" y="1943100"/>
            <a:ext cx="38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75" b="1">
                <a:solidFill>
                  <a:srgbClr val="2563EB"/>
                </a:solidFill>
                <a:latin typeface="Aptos"/>
                <a:ea typeface="Aptos"/>
                <a:cs typeface="Aptos"/>
              </a:defRPr>
            </a:pPr>
            <a:r>
              <a:rPr sz="975" b="1">
                <a:solidFill>
                  <a:srgbClr val="2563EB"/>
                </a:solidFill>
                <a:latin typeface="Aptos"/>
                <a:ea typeface="Aptos"/>
                <a:cs typeface="Aptos"/>
              </a:rPr>
              <a:t>05</a:t>
            </a:r>
          </a:p>
        </p:txBody>
      </p:sp>
      <p:sp>
        <p:nvSpPr>
          <p:cNvPr id="29" name="">
            <a:extLst xmlns:a="http://schemas.openxmlformats.org/drawingml/2006/main">
              <a:ext uri="{FF2B5EF4-FFF2-40B4-BE49-F238E27FC236}">
                <a16:creationId xmlns:a16="http://schemas.microsoft.com/office/drawing/2014/main" id="{8636B5D6-D46B-4C9A-93D6-D6A776A2FBF6}"/>
              </a:ext>
            </a:extLst>
          </p:cNvPr>
          <p:cNvSpPr>
            <a:spLocks xmlns:a="http://schemas.openxmlformats.org/drawingml/2006/main" noGrp="1"/>
          </p:cNvSpPr>
          <p:nvPr/>
        </p:nvSpPr>
        <p:spPr>
          <a:xfrm xmlns:a="http://schemas.openxmlformats.org/drawingml/2006/main">
            <a:off x="7981950" y="2371725"/>
            <a:ext cx="112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275" b="1">
                <a:solidFill>
                  <a:srgbClr val="101827"/>
                </a:solidFill>
                <a:latin typeface="Aptos Display"/>
                <a:ea typeface="Aptos Display"/>
                <a:cs typeface="Aptos Display"/>
              </a:defRPr>
            </a:pPr>
            <a:r>
              <a:rPr sz="1275" b="1">
                <a:solidFill>
                  <a:srgbClr val="101827"/>
                </a:solidFill>
                <a:latin typeface="Aptos Display"/>
                <a:ea typeface="Aptos Display"/>
                <a:cs typeface="Aptos Display"/>
              </a:rPr>
              <a:t>FIRST QUEST</a:t>
            </a:r>
          </a:p>
        </p:txBody>
      </p:sp>
      <p:sp>
        <p:nvSpPr>
          <p:cNvPr id="30" name="">
            <a:extLst xmlns:a="http://schemas.openxmlformats.org/drawingml/2006/main">
              <a:ext uri="{FF2B5EF4-FFF2-40B4-BE49-F238E27FC236}">
                <a16:creationId xmlns:a16="http://schemas.microsoft.com/office/drawing/2014/main" id="{53A98ACA-C1B3-454B-A535-FC3948FB122E}"/>
              </a:ext>
            </a:extLst>
          </p:cNvPr>
          <p:cNvSpPr>
            <a:spLocks xmlns:a="http://schemas.openxmlformats.org/drawingml/2006/main" noGrp="1"/>
          </p:cNvSpPr>
          <p:nvPr/>
        </p:nvSpPr>
        <p:spPr>
          <a:xfrm xmlns:a="http://schemas.openxmlformats.org/drawingml/2006/main">
            <a:off x="9315450" y="225742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A7AEB8"/>
                </a:solidFill>
                <a:latin typeface="Aptos"/>
                <a:ea typeface="Aptos"/>
                <a:cs typeface="Aptos"/>
              </a:defRPr>
            </a:pPr>
            <a:r>
              <a:rPr sz="1650" b="1">
                <a:solidFill>
                  <a:srgbClr val="A7AEB8"/>
                </a:solidFill>
                <a:latin typeface="Aptos"/>
                <a:ea typeface="Aptos"/>
                <a:cs typeface="Aptos"/>
              </a:rPr>
              <a:t>→</a:t>
            </a:r>
          </a:p>
        </p:txBody>
      </p:sp>
      <p:sp>
        <p:nvSpPr>
          <p:cNvPr id="31" name="">
            <a:extLst xmlns:a="http://schemas.openxmlformats.org/drawingml/2006/main">
              <a:ext uri="{FF2B5EF4-FFF2-40B4-BE49-F238E27FC236}">
                <a16:creationId xmlns:a16="http://schemas.microsoft.com/office/drawing/2014/main" id="{B3CAFC79-AFAF-4F45-BB14-0C2ADF72143A}"/>
              </a:ext>
            </a:extLst>
          </p:cNvPr>
          <p:cNvSpPr>
            <a:spLocks xmlns:a="http://schemas.openxmlformats.org/drawingml/2006/main" noGrp="1"/>
          </p:cNvSpPr>
          <p:nvPr/>
        </p:nvSpPr>
        <p:spPr>
          <a:xfrm xmlns:a="http://schemas.openxmlformats.org/drawingml/2006/main">
            <a:off x="9620250" y="1752600"/>
            <a:ext cx="1466850" cy="1295400"/>
          </a:xfrm>
          <a:prstGeom xmlns:a="http://schemas.openxmlformats.org/drawingml/2006/main" prst="roundRect">
            <a:avLst>
              <a:gd name="adj" fmla="val 13235"/>
            </a:avLst>
          </a:prstGeom>
          <a:solidFill xmlns:a="http://schemas.openxmlformats.org/drawingml/2006/main">
            <a:srgbClr val="FFF0ED"/>
          </a:solidFill>
          <a:ln xmlns:a="http://schemas.openxmlformats.org/drawingml/2006/main" w="9525">
            <a:solidFill>
              <a:srgbClr val="FFD0C9"/>
            </a:solidFill>
            <a:prstDash val="solid"/>
          </a:ln>
        </p:spPr>
      </p:sp>
      <p:sp>
        <p:nvSpPr>
          <p:cNvPr id="32" name="">
            <a:extLst xmlns:a="http://schemas.openxmlformats.org/drawingml/2006/main">
              <a:ext uri="{FF2B5EF4-FFF2-40B4-BE49-F238E27FC236}">
                <a16:creationId xmlns:a16="http://schemas.microsoft.com/office/drawing/2014/main" id="{61A3ABEE-9502-4718-9919-8ADB2F05A7D4}"/>
              </a:ext>
            </a:extLst>
          </p:cNvPr>
          <p:cNvSpPr>
            <a:spLocks xmlns:a="http://schemas.openxmlformats.org/drawingml/2006/main" noGrp="1"/>
          </p:cNvSpPr>
          <p:nvPr/>
        </p:nvSpPr>
        <p:spPr>
          <a:xfrm xmlns:a="http://schemas.openxmlformats.org/drawingml/2006/main">
            <a:off x="9791700" y="1943100"/>
            <a:ext cx="38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75" b="1">
                <a:solidFill>
                  <a:srgbClr val="FF6F61"/>
                </a:solidFill>
                <a:latin typeface="Aptos"/>
                <a:ea typeface="Aptos"/>
                <a:cs typeface="Aptos"/>
              </a:defRPr>
            </a:pPr>
            <a:r>
              <a:rPr sz="975" b="1">
                <a:solidFill>
                  <a:srgbClr val="FF6F61"/>
                </a:solidFill>
                <a:latin typeface="Aptos"/>
                <a:ea typeface="Aptos"/>
                <a:cs typeface="Aptos"/>
              </a:rPr>
              <a:t>06</a:t>
            </a:r>
          </a:p>
        </p:txBody>
      </p:sp>
      <p:sp>
        <p:nvSpPr>
          <p:cNvPr id="33" name="">
            <a:extLst xmlns:a="http://schemas.openxmlformats.org/drawingml/2006/main">
              <a:ext uri="{FF2B5EF4-FFF2-40B4-BE49-F238E27FC236}">
                <a16:creationId xmlns:a16="http://schemas.microsoft.com/office/drawing/2014/main" id="{C450EF0A-8281-46BA-B09A-AED240E4CEBE}"/>
              </a:ext>
            </a:extLst>
          </p:cNvPr>
          <p:cNvSpPr>
            <a:spLocks xmlns:a="http://schemas.openxmlformats.org/drawingml/2006/main" noGrp="1"/>
          </p:cNvSpPr>
          <p:nvPr/>
        </p:nvSpPr>
        <p:spPr>
          <a:xfrm xmlns:a="http://schemas.openxmlformats.org/drawingml/2006/main">
            <a:off x="9791700" y="2371725"/>
            <a:ext cx="112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275" b="1">
                <a:solidFill>
                  <a:srgbClr val="101827"/>
                </a:solidFill>
                <a:latin typeface="Aptos Display"/>
                <a:ea typeface="Aptos Display"/>
                <a:cs typeface="Aptos Display"/>
              </a:defRPr>
            </a:pPr>
            <a:r>
              <a:rPr sz="1275" b="1">
                <a:solidFill>
                  <a:srgbClr val="101827"/>
                </a:solidFill>
                <a:latin typeface="Aptos Display"/>
                <a:ea typeface="Aptos Display"/>
                <a:cs typeface="Aptos Display"/>
              </a:rPr>
              <a:t>STARTER PROFILE</a:t>
            </a:r>
          </a:p>
        </p:txBody>
      </p:sp>
      <p:sp>
        <p:nvSpPr>
          <p:cNvPr id="34" name="">
            <a:extLst xmlns:a="http://schemas.openxmlformats.org/drawingml/2006/main">
              <a:ext uri="{FF2B5EF4-FFF2-40B4-BE49-F238E27FC236}">
                <a16:creationId xmlns:a16="http://schemas.microsoft.com/office/drawing/2014/main" id="{60C3E345-CC13-4844-A329-EB144A388A1A}"/>
              </a:ext>
            </a:extLst>
          </p:cNvPr>
          <p:cNvSpPr>
            <a:spLocks xmlns:a="http://schemas.openxmlformats.org/drawingml/2006/main" noGrp="1"/>
          </p:cNvSpPr>
          <p:nvPr/>
        </p:nvSpPr>
        <p:spPr>
          <a:xfrm xmlns:a="http://schemas.openxmlformats.org/drawingml/2006/main">
            <a:off x="571500" y="3371850"/>
            <a:ext cx="5334000" cy="2495550"/>
          </a:xfrm>
          <a:prstGeom xmlns:a="http://schemas.openxmlformats.org/drawingml/2006/main" prst="roundRect">
            <a:avLst>
              <a:gd name="adj" fmla="val 8397"/>
            </a:avLst>
          </a:prstGeom>
          <a:solidFill xmlns:a="http://schemas.openxmlformats.org/drawingml/2006/main">
            <a:srgbClr val="0D1321"/>
          </a:solidFill>
          <a:ln xmlns:a="http://schemas.openxmlformats.org/drawingml/2006/main" w="0">
            <a:solidFill>
              <a:srgbClr val="0D1321"/>
            </a:solidFill>
            <a:prstDash val="solid"/>
          </a:ln>
        </p:spPr>
      </p:sp>
      <p:sp>
        <p:nvSpPr>
          <p:cNvPr id="35" name="">
            <a:extLst xmlns:a="http://schemas.openxmlformats.org/drawingml/2006/main">
              <a:ext uri="{FF2B5EF4-FFF2-40B4-BE49-F238E27FC236}">
                <a16:creationId xmlns:a16="http://schemas.microsoft.com/office/drawing/2014/main" id="{79214941-5B50-4931-A5EC-8508DFF682CF}"/>
              </a:ext>
            </a:extLst>
          </p:cNvPr>
          <p:cNvSpPr>
            <a:spLocks xmlns:a="http://schemas.openxmlformats.org/drawingml/2006/main" noGrp="1"/>
          </p:cNvSpPr>
          <p:nvPr/>
        </p:nvSpPr>
        <p:spPr>
          <a:xfrm xmlns:a="http://schemas.openxmlformats.org/drawingml/2006/main">
            <a:off x="838200" y="36195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F2B94B"/>
                </a:solidFill>
                <a:latin typeface="Aptos"/>
                <a:ea typeface="Aptos"/>
                <a:cs typeface="Aptos"/>
              </a:defRPr>
            </a:pPr>
            <a:r>
              <a:rPr sz="825" b="1">
                <a:solidFill>
                  <a:srgbClr val="F2B94B"/>
                </a:solidFill>
                <a:latin typeface="Aptos"/>
                <a:ea typeface="Aptos"/>
                <a:cs typeface="Aptos"/>
              </a:rPr>
              <a:t>WHAT WORKS</a:t>
            </a:r>
          </a:p>
        </p:txBody>
      </p:sp>
      <p:sp>
        <p:nvSpPr>
          <p:cNvPr id="36" name="">
            <a:extLst xmlns:a="http://schemas.openxmlformats.org/drawingml/2006/main">
              <a:ext uri="{FF2B5EF4-FFF2-40B4-BE49-F238E27FC236}">
                <a16:creationId xmlns:a16="http://schemas.microsoft.com/office/drawing/2014/main" id="{7EDB2616-AE6D-432B-8037-FF4CA1882ABA}"/>
              </a:ext>
            </a:extLst>
          </p:cNvPr>
          <p:cNvSpPr>
            <a:spLocks xmlns:a="http://schemas.openxmlformats.org/drawingml/2006/main" noGrp="1"/>
          </p:cNvSpPr>
          <p:nvPr/>
        </p:nvSpPr>
        <p:spPr>
          <a:xfrm xmlns:a="http://schemas.openxmlformats.org/drawingml/2006/main">
            <a:off x="838200" y="4010025"/>
            <a:ext cx="428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A distinctive identity journey</a:t>
            </a:r>
          </a:p>
        </p:txBody>
      </p:sp>
      <p:sp>
        <p:nvSpPr>
          <p:cNvPr id="37" name="">
            <a:extLst xmlns:a="http://schemas.openxmlformats.org/drawingml/2006/main">
              <a:ext uri="{FF2B5EF4-FFF2-40B4-BE49-F238E27FC236}">
                <a16:creationId xmlns:a16="http://schemas.microsoft.com/office/drawing/2014/main" id="{DC8435BB-3928-4482-9300-77B80386A31F}"/>
              </a:ext>
            </a:extLst>
          </p:cNvPr>
          <p:cNvSpPr>
            <a:spLocks xmlns:a="http://schemas.openxmlformats.org/drawingml/2006/main" noGrp="1"/>
          </p:cNvSpPr>
          <p:nvPr/>
        </p:nvSpPr>
        <p:spPr>
          <a:xfrm xmlns:a="http://schemas.openxmlformats.org/drawingml/2006/main">
            <a:off x="838200" y="4543425"/>
            <a:ext cx="4286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a:solidFill>
                  <a:srgbClr val="B9C1CD"/>
                </a:solidFill>
                <a:latin typeface="Aptos"/>
                <a:ea typeface="Aptos"/>
                <a:cs typeface="Aptos"/>
              </a:defRPr>
            </a:pPr>
            <a:r>
              <a:rPr sz="1275" b="0">
                <a:solidFill>
                  <a:srgbClr val="B9C1CD"/>
                </a:solidFill>
                <a:latin typeface="Aptos"/>
                <a:ea typeface="Aptos"/>
                <a:cs typeface="Aptos"/>
              </a:rPr>
              <a:t>• Guest choices persist locally</a:t>
            </a:r>
          </a:p>
          <a:p xmlns:a="http://schemas.openxmlformats.org/drawingml/2006/main">
            <a:pPr algn="l">
              <a:lnSpc>
                <a:spcPct val="112000"/>
              </a:lnSpc>
              <a:buNone/>
              <a:defRPr sz="1275" b="0">
                <a:solidFill>
                  <a:srgbClr val="B9C1CD"/>
                </a:solidFill>
                <a:latin typeface="Aptos"/>
                <a:ea typeface="Aptos"/>
                <a:cs typeface="Aptos"/>
              </a:defRPr>
            </a:pPr>
            <a:r>
              <a:rPr sz="1275" b="0">
                <a:solidFill>
                  <a:srgbClr val="B9C1CD"/>
                </a:solidFill>
                <a:latin typeface="Aptos"/>
                <a:ea typeface="Aptos"/>
                <a:cs typeface="Aptos"/>
              </a:rPr>
              <a:t>• Account creation preserves destination</a:t>
            </a:r>
          </a:p>
          <a:p xmlns:a="http://schemas.openxmlformats.org/drawingml/2006/main">
            <a:pPr algn="l">
              <a:lnSpc>
                <a:spcPct val="112000"/>
              </a:lnSpc>
              <a:buNone/>
              <a:defRPr sz="1275" b="0">
                <a:solidFill>
                  <a:srgbClr val="B9C1CD"/>
                </a:solidFill>
                <a:latin typeface="Aptos"/>
                <a:ea typeface="Aptos"/>
                <a:cs typeface="Aptos"/>
              </a:defRPr>
            </a:pPr>
            <a:r>
              <a:rPr sz="1275" b="0">
                <a:solidFill>
                  <a:srgbClr val="B9C1CD"/>
                </a:solidFill>
                <a:latin typeface="Aptos"/>
                <a:ea typeface="Aptos"/>
                <a:cs typeface="Aptos"/>
              </a:rPr>
              <a:t>• Terms, privacy and marketing consent are separated</a:t>
            </a:r>
          </a:p>
          <a:p xmlns:a="http://schemas.openxmlformats.org/drawingml/2006/main">
            <a:pPr algn="l">
              <a:lnSpc>
                <a:spcPct val="112000"/>
              </a:lnSpc>
              <a:buNone/>
              <a:defRPr sz="1275" b="0">
                <a:solidFill>
                  <a:srgbClr val="B9C1CD"/>
                </a:solidFill>
                <a:latin typeface="Aptos"/>
                <a:ea typeface="Aptos"/>
                <a:cs typeface="Aptos"/>
              </a:defRPr>
            </a:pPr>
            <a:r>
              <a:rPr sz="1275" b="0">
                <a:solidFill>
                  <a:srgbClr val="B9C1CD"/>
                </a:solidFill>
                <a:latin typeface="Aptos"/>
                <a:ea typeface="Aptos"/>
                <a:cs typeface="Aptos"/>
              </a:rPr>
              <a:t>• Missing profiles self-heal after authentication</a:t>
            </a:r>
          </a:p>
        </p:txBody>
      </p:sp>
      <p:sp>
        <p:nvSpPr>
          <p:cNvPr id="38" name="">
            <a:extLst xmlns:a="http://schemas.openxmlformats.org/drawingml/2006/main">
              <a:ext uri="{FF2B5EF4-FFF2-40B4-BE49-F238E27FC236}">
                <a16:creationId xmlns:a16="http://schemas.microsoft.com/office/drawing/2014/main" id="{5CDC8E88-B055-4D9E-B1A6-9349BB262C9E}"/>
              </a:ext>
            </a:extLst>
          </p:cNvPr>
          <p:cNvSpPr>
            <a:spLocks xmlns:a="http://schemas.openxmlformats.org/drawingml/2006/main" noGrp="1"/>
          </p:cNvSpPr>
          <p:nvPr/>
        </p:nvSpPr>
        <p:spPr>
          <a:xfrm xmlns:a="http://schemas.openxmlformats.org/drawingml/2006/main">
            <a:off x="6096000" y="3371850"/>
            <a:ext cx="5505450" cy="2495550"/>
          </a:xfrm>
          <a:prstGeom xmlns:a="http://schemas.openxmlformats.org/drawingml/2006/main" prst="roundRect">
            <a:avLst>
              <a:gd name="adj" fmla="val 8397"/>
            </a:avLst>
          </a:prstGeom>
          <a:solidFill xmlns:a="http://schemas.openxmlformats.org/drawingml/2006/main">
            <a:srgbClr val="FF6F61"/>
          </a:solidFill>
          <a:ln xmlns:a="http://schemas.openxmlformats.org/drawingml/2006/main" w="0">
            <a:solidFill>
              <a:srgbClr val="FF6F61"/>
            </a:solidFill>
            <a:prstDash val="solid"/>
          </a:ln>
        </p:spPr>
      </p:sp>
      <p:sp>
        <p:nvSpPr>
          <p:cNvPr id="39" name="">
            <a:extLst xmlns:a="http://schemas.openxmlformats.org/drawingml/2006/main">
              <a:ext uri="{FF2B5EF4-FFF2-40B4-BE49-F238E27FC236}">
                <a16:creationId xmlns:a16="http://schemas.microsoft.com/office/drawing/2014/main" id="{089F3368-D9F3-4CCF-91A8-97EBAF3B6DCC}"/>
              </a:ext>
            </a:extLst>
          </p:cNvPr>
          <p:cNvSpPr>
            <a:spLocks xmlns:a="http://schemas.openxmlformats.org/drawingml/2006/main" noGrp="1"/>
          </p:cNvSpPr>
          <p:nvPr/>
        </p:nvSpPr>
        <p:spPr>
          <a:xfrm xmlns:a="http://schemas.openxmlformats.org/drawingml/2006/main">
            <a:off x="6362700" y="36195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0D1321"/>
                </a:solidFill>
                <a:latin typeface="Aptos"/>
                <a:ea typeface="Aptos"/>
                <a:cs typeface="Aptos"/>
              </a:defRPr>
            </a:pPr>
            <a:r>
              <a:rPr sz="825" b="1">
                <a:solidFill>
                  <a:srgbClr val="0D1321"/>
                </a:solidFill>
                <a:latin typeface="Aptos"/>
                <a:ea typeface="Aptos"/>
                <a:cs typeface="Aptos"/>
              </a:rPr>
              <a:t>WHAT BREAKS TRUST</a:t>
            </a:r>
          </a:p>
        </p:txBody>
      </p:sp>
      <p:sp>
        <p:nvSpPr>
          <p:cNvPr id="40" name="">
            <a:extLst xmlns:a="http://schemas.openxmlformats.org/drawingml/2006/main">
              <a:ext uri="{FF2B5EF4-FFF2-40B4-BE49-F238E27FC236}">
                <a16:creationId xmlns:a16="http://schemas.microsoft.com/office/drawing/2014/main" id="{775E7861-86A1-459D-9DDD-5310AAC20F1B}"/>
              </a:ext>
            </a:extLst>
          </p:cNvPr>
          <p:cNvSpPr>
            <a:spLocks xmlns:a="http://schemas.openxmlformats.org/drawingml/2006/main" noGrp="1"/>
          </p:cNvSpPr>
          <p:nvPr/>
        </p:nvSpPr>
        <p:spPr>
          <a:xfrm xmlns:a="http://schemas.openxmlformats.org/drawingml/2006/main">
            <a:off x="6362700" y="4010025"/>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250" b="1">
                <a:solidFill>
                  <a:srgbClr val="0D1321"/>
                </a:solidFill>
                <a:latin typeface="Aptos Display"/>
                <a:ea typeface="Aptos Display"/>
                <a:cs typeface="Aptos Display"/>
              </a:defRPr>
            </a:pPr>
            <a:r>
              <a:rPr sz="2250" b="1">
                <a:solidFill>
                  <a:srgbClr val="0D1321"/>
                </a:solidFill>
                <a:latin typeface="Aptos Display"/>
                <a:ea typeface="Aptos Display"/>
                <a:cs typeface="Aptos Display"/>
              </a:rPr>
              <a:t>The first reward is not real yet</a:t>
            </a:r>
          </a:p>
        </p:txBody>
      </p:sp>
      <p:sp>
        <p:nvSpPr>
          <p:cNvPr id="41" name="">
            <a:extLst xmlns:a="http://schemas.openxmlformats.org/drawingml/2006/main">
              <a:ext uri="{FF2B5EF4-FFF2-40B4-BE49-F238E27FC236}">
                <a16:creationId xmlns:a16="http://schemas.microsoft.com/office/drawing/2014/main" id="{33C8FA00-3C23-464A-8B1B-28BDD51A7873}"/>
              </a:ext>
            </a:extLst>
          </p:cNvPr>
          <p:cNvSpPr>
            <a:spLocks xmlns:a="http://schemas.openxmlformats.org/drawingml/2006/main" noGrp="1"/>
          </p:cNvSpPr>
          <p:nvPr/>
        </p:nvSpPr>
        <p:spPr>
          <a:xfrm xmlns:a="http://schemas.openxmlformats.org/drawingml/2006/main">
            <a:off x="6362700" y="4543425"/>
            <a:ext cx="4762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0000"/>
              </a:lnSpc>
              <a:buNone/>
              <a:defRPr sz="1275" b="0">
                <a:solidFill>
                  <a:srgbClr val="4C201C"/>
                </a:solidFill>
                <a:latin typeface="Aptos"/>
                <a:ea typeface="Aptos"/>
                <a:cs typeface="Aptos"/>
              </a:defRPr>
            </a:pPr>
            <a:r>
              <a:rPr sz="1275" b="0">
                <a:solidFill>
                  <a:srgbClr val="4C201C"/>
                </a:solidFill>
                <a:latin typeface="Aptos"/>
                <a:ea typeface="Aptos"/>
                <a:cs typeface="Aptos"/>
              </a:rPr>
              <a:t>The first quest preview is generated from static mock data. The profile writes 100 XP at Level 1, even though the curve makes 100 XP Level 2. Earned value then lands in the wrong player table for key UI surfaces.</a:t>
            </a:r>
          </a:p>
        </p:txBody>
      </p:sp>
    </p:spTree>
    <p:extLst>
      <p:ext uri="{BB962C8B-B14F-4D97-AF65-F5344CB8AC3E}">
        <p14:creationId xmlns:p14="http://schemas.microsoft.com/office/powerpoint/2010/main" val="1517236042"/>
      </p:ext>
    </p:extLst>
  </p:cSld>
</p:sld>
</file>

<file path=ppt/slides/slide7.xml><?xml version="1.0" encoding="utf-8"?>
<p:sld xmlns:p="http://schemas.openxmlformats.org/presentationml/2006/main">
  <p:cSld>
    <p:bg>
      <p:bgPr>
        <a:solidFill xmlns:a="http://schemas.openxmlformats.org/drawingml/2006/main">
          <a:srgbClr val="F2E8D5"/>
        </a:solidFill>
      </p:bgPr>
    </p:bg>
    <p:spTree>
      <p:nvGrpSpPr>
        <p:cNvPr id="1" name=""/>
        <p:cNvGrpSpPr/>
        <p:nvPr/>
      </p:nvGrpSpPr>
      <p:grpSpPr>
        <a:xfrm xmlns:a="http://schemas.openxmlformats.org/drawingml/2006/main"/>
      </p:grpSpPr>
      <p:sp>
        <p:nvSpPr>
          <p:cNvPr id="60" name="">
            <a:extLst xmlns:a="http://schemas.openxmlformats.org/drawingml/2006/main">
              <a:ext uri="{FF2B5EF4-FFF2-40B4-BE49-F238E27FC236}">
                <a16:creationId xmlns:a16="http://schemas.microsoft.com/office/drawing/2014/main" id="{42EAFFE9-19A3-4C3D-A665-8E7CD9CC02AA}"/>
              </a:ext>
            </a:extLst>
          </p:cNvPr>
          <p:cNvSpPr>
            <a:spLocks xmlns:a="http://schemas.openxmlformats.org/drawingml/2006/main" noGrp="1"/>
          </p:cNvSpPr>
          <p:nvPr/>
        </p:nvSpPr>
        <p:spPr>
          <a:xfrm xmlns:a="http://schemas.openxmlformats.org/drawingml/2006/main">
            <a:off x="552450" y="419100"/>
            <a:ext cx="514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a:solidFill>
                  <a:srgbClr val="2563EB"/>
                </a:solidFill>
                <a:latin typeface="Aptos"/>
                <a:ea typeface="Aptos"/>
                <a:cs typeface="Aptos"/>
              </a:defRPr>
            </a:pPr>
            <a:r>
              <a:rPr sz="900" b="1">
                <a:solidFill>
                  <a:srgbClr val="2563EB"/>
                </a:solidFill>
                <a:latin typeface="Aptos"/>
                <a:ea typeface="Aptos"/>
                <a:cs typeface="Aptos"/>
              </a:rPr>
              <a:t>07</a:t>
            </a:r>
          </a:p>
        </p:txBody>
      </p:sp>
      <p:sp>
        <p:nvSpPr>
          <p:cNvPr id="2" name="">
            <a:extLst xmlns:a="http://schemas.openxmlformats.org/drawingml/2006/main">
              <a:ext uri="{FF2B5EF4-FFF2-40B4-BE49-F238E27FC236}">
                <a16:creationId xmlns:a16="http://schemas.microsoft.com/office/drawing/2014/main" id="{8F077322-3F6C-49DC-8E52-29B0B116DB97}"/>
              </a:ext>
            </a:extLst>
          </p:cNvPr>
          <p:cNvSpPr>
            <a:spLocks xmlns:a="http://schemas.openxmlformats.org/drawingml/2006/main" noGrp="1"/>
          </p:cNvSpPr>
          <p:nvPr/>
        </p:nvSpPr>
        <p:spPr>
          <a:xfrm xmlns:a="http://schemas.openxmlformats.org/drawingml/2006/main">
            <a:off x="1104900" y="542925"/>
            <a:ext cx="476250" cy="0"/>
          </a:xfrm>
          <a:prstGeom xmlns:a="http://schemas.openxmlformats.org/drawingml/2006/main" prst="line">
            <a:avLst/>
          </a:prstGeom>
          <a:noFill xmlns:a="http://schemas.openxmlformats.org/drawingml/2006/main"/>
          <a:ln xmlns:a="http://schemas.openxmlformats.org/drawingml/2006/main" w="9525">
            <a:solidFill>
              <a:srgbClr val="CBD1DA"/>
            </a:solidFill>
            <a:prstDash val="solid"/>
          </a:ln>
        </p:spPr>
      </p:sp>
      <p:sp>
        <p:nvSpPr>
          <p:cNvPr id="3" name="">
            <a:extLst xmlns:a="http://schemas.openxmlformats.org/drawingml/2006/main">
              <a:ext uri="{FF2B5EF4-FFF2-40B4-BE49-F238E27FC236}">
                <a16:creationId xmlns:a16="http://schemas.microsoft.com/office/drawing/2014/main" id="{BB504F4A-130F-4324-A93C-48F85D1CC5F5}"/>
              </a:ext>
            </a:extLst>
          </p:cNvPr>
          <p:cNvSpPr>
            <a:spLocks xmlns:a="http://schemas.openxmlformats.org/drawingml/2006/main" noGrp="1"/>
          </p:cNvSpPr>
          <p:nvPr/>
        </p:nvSpPr>
        <p:spPr>
          <a:xfrm xmlns:a="http://schemas.openxmlformats.org/drawingml/2006/main">
            <a:off x="1733550" y="323850"/>
            <a:ext cx="704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375" b="1">
                <a:solidFill>
                  <a:srgbClr val="101827"/>
                </a:solidFill>
                <a:latin typeface="Aptos Display"/>
                <a:ea typeface="Aptos Display"/>
                <a:cs typeface="Aptos Display"/>
              </a:defRPr>
            </a:pPr>
            <a:r>
              <a:rPr sz="3375" b="1">
                <a:solidFill>
                  <a:srgbClr val="101827"/>
                </a:solidFill>
                <a:latin typeface="Aptos Display"/>
                <a:ea typeface="Aptos Display"/>
                <a:cs typeface="Aptos Display"/>
              </a:rPr>
              <a:t>Readiness matrix</a:t>
            </a:r>
          </a:p>
        </p:txBody>
      </p:sp>
      <p:sp>
        <p:nvSpPr>
          <p:cNvPr id="4" name="">
            <a:extLst xmlns:a="http://schemas.openxmlformats.org/drawingml/2006/main">
              <a:ext uri="{FF2B5EF4-FFF2-40B4-BE49-F238E27FC236}">
                <a16:creationId xmlns:a16="http://schemas.microsoft.com/office/drawing/2014/main" id="{83391BBA-33EE-4FA9-A347-A0E049F5B928}"/>
              </a:ext>
            </a:extLst>
          </p:cNvPr>
          <p:cNvSpPr>
            <a:spLocks xmlns:a="http://schemas.openxmlformats.org/drawingml/2006/main" noGrp="1"/>
          </p:cNvSpPr>
          <p:nvPr/>
        </p:nvSpPr>
        <p:spPr>
          <a:xfrm xmlns:a="http://schemas.openxmlformats.org/drawingml/2006/main">
            <a:off x="1752600" y="866775"/>
            <a:ext cx="7715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0">
                <a:solidFill>
                  <a:srgbClr val="626A78"/>
                </a:solidFill>
                <a:latin typeface="Aptos"/>
                <a:ea typeface="Aptos"/>
                <a:cs typeface="Aptos"/>
              </a:defRPr>
            </a:pPr>
            <a:r>
              <a:rPr sz="1350" b="0">
                <a:solidFill>
                  <a:srgbClr val="626A78"/>
                </a:solidFill>
                <a:latin typeface="Aptos"/>
                <a:ea typeface="Aptos"/>
                <a:cs typeface="Aptos"/>
              </a:rPr>
              <a:t>Product surface area is ahead of operational maturity. Stabilize the lowest bars first.</a:t>
            </a:r>
          </a:p>
        </p:txBody>
      </p:sp>
      <p:sp>
        <p:nvSpPr>
          <p:cNvPr id="5" name="">
            <a:extLst xmlns:a="http://schemas.openxmlformats.org/drawingml/2006/main">
              <a:ext uri="{FF2B5EF4-FFF2-40B4-BE49-F238E27FC236}">
                <a16:creationId xmlns:a16="http://schemas.microsoft.com/office/drawing/2014/main" id="{73EC2CB8-0A62-4BD1-BC93-EC625C5F53F0}"/>
              </a:ext>
            </a:extLst>
          </p:cNvPr>
          <p:cNvSpPr>
            <a:spLocks xmlns:a="http://schemas.openxmlformats.org/drawingml/2006/main" noGrp="1"/>
          </p:cNvSpPr>
          <p:nvPr/>
        </p:nvSpPr>
        <p:spPr>
          <a:xfrm xmlns:a="http://schemas.openxmlformats.org/drawingml/2006/main">
            <a:off x="11210925" y="381000"/>
            <a:ext cx="275082" cy="325755"/>
          </a:xfrm>
          <a:prstGeom xmlns:a="http://schemas.openxmlformats.org/drawingml/2006/main" prst="roundRect">
            <a:avLst>
              <a:gd name="adj" fmla="val 47368"/>
            </a:avLst>
          </a:prstGeom>
          <a:noFill xmlns:a="http://schemas.openxmlformats.org/drawingml/2006/main"/>
          <a:ln xmlns:a="http://schemas.openxmlformats.org/drawingml/2006/main" w="28956">
            <a:solidFill>
              <a:srgbClr val="0D1321"/>
            </a:solidFill>
            <a:prstDash val="solid"/>
          </a:ln>
        </p:spPr>
      </p:sp>
      <p:sp>
        <p:nvSpPr>
          <p:cNvPr id="6" name="">
            <a:extLst xmlns:a="http://schemas.openxmlformats.org/drawingml/2006/main">
              <a:ext uri="{FF2B5EF4-FFF2-40B4-BE49-F238E27FC236}">
                <a16:creationId xmlns:a16="http://schemas.microsoft.com/office/drawing/2014/main" id="{B41BA71F-D2A3-43F5-A160-9ABAEC5A3660}"/>
              </a:ext>
            </a:extLst>
          </p:cNvPr>
          <p:cNvSpPr>
            <a:spLocks xmlns:a="http://schemas.openxmlformats.org/drawingml/2006/main" noGrp="1"/>
          </p:cNvSpPr>
          <p:nvPr/>
        </p:nvSpPr>
        <p:spPr>
          <a:xfrm xmlns:a="http://schemas.openxmlformats.org/drawingml/2006/main">
            <a:off x="11247120" y="598170"/>
            <a:ext cx="202692" cy="130302"/>
          </a:xfrm>
          <a:prstGeom xmlns:a="http://schemas.openxmlformats.org/drawingml/2006/main" prst="triangle">
            <a:avLst/>
          </a:prstGeom>
          <a:solidFill xmlns:a="http://schemas.openxmlformats.org/drawingml/2006/main">
            <a:srgbClr val="0D1321"/>
          </a:solidFill>
          <a:ln xmlns:a="http://schemas.openxmlformats.org/drawingml/2006/main" w="0">
            <a:solidFill>
              <a:srgbClr val="0D1321"/>
            </a:solidFill>
            <a:prstDash val="solid"/>
          </a:ln>
        </p:spPr>
      </p:sp>
      <p:sp>
        <p:nvSpPr>
          <p:cNvPr id="7" name="">
            <a:extLst xmlns:a="http://schemas.openxmlformats.org/drawingml/2006/main">
              <a:ext uri="{FF2B5EF4-FFF2-40B4-BE49-F238E27FC236}">
                <a16:creationId xmlns:a16="http://schemas.microsoft.com/office/drawing/2014/main" id="{11DBACE9-465F-4D0E-B74D-A0363EA67D1B}"/>
              </a:ext>
            </a:extLst>
          </p:cNvPr>
          <p:cNvSpPr>
            <a:spLocks xmlns:a="http://schemas.openxmlformats.org/drawingml/2006/main" noGrp="1"/>
          </p:cNvSpPr>
          <p:nvPr/>
        </p:nvSpPr>
        <p:spPr>
          <a:xfrm xmlns:a="http://schemas.openxmlformats.org/drawingml/2006/main">
            <a:off x="11290554" y="424434"/>
            <a:ext cx="115824" cy="1158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627" b="1">
                <a:solidFill>
                  <a:srgbClr val="0D1321"/>
                </a:solidFill>
                <a:latin typeface="Aptos"/>
                <a:ea typeface="Aptos"/>
                <a:cs typeface="Aptos"/>
              </a:defRPr>
            </a:pPr>
            <a:r>
              <a:rPr sz="627" b="1">
                <a:solidFill>
                  <a:srgbClr val="0D1321"/>
                </a:solidFill>
                <a:latin typeface="Aptos"/>
                <a:ea typeface="Aptos"/>
                <a:cs typeface="Aptos"/>
              </a:rPr>
              <a:t>✦</a:t>
            </a:r>
          </a:p>
        </p:txBody>
      </p:sp>
      <p:sp>
        <p:nvSpPr>
          <p:cNvPr id="8" name="">
            <a:extLst xmlns:a="http://schemas.openxmlformats.org/drawingml/2006/main">
              <a:ext uri="{FF2B5EF4-FFF2-40B4-BE49-F238E27FC236}">
                <a16:creationId xmlns:a16="http://schemas.microsoft.com/office/drawing/2014/main" id="{9A5B1BC9-D53A-4905-86E4-3E90D9E91C4F}"/>
              </a:ext>
            </a:extLst>
          </p:cNvPr>
          <p:cNvSpPr>
            <a:spLocks xmlns:a="http://schemas.openxmlformats.org/drawingml/2006/main" noGrp="1"/>
          </p:cNvSpPr>
          <p:nvPr/>
        </p:nvSpPr>
        <p:spPr>
          <a:xfrm xmlns:a="http://schemas.openxmlformats.org/drawingml/2006/main">
            <a:off x="10144125" y="828675"/>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200" b="1">
                <a:solidFill>
                  <a:srgbClr val="0D1321"/>
                </a:solidFill>
                <a:latin typeface="Aptos"/>
                <a:ea typeface="Aptos"/>
                <a:cs typeface="Aptos"/>
              </a:defRPr>
            </a:pPr>
            <a:r>
              <a:rPr sz="1200" b="1">
                <a:solidFill>
                  <a:srgbClr val="0D1321"/>
                </a:solidFill>
                <a:latin typeface="Aptos"/>
                <a:ea typeface="Aptos"/>
                <a:cs typeface="Aptos"/>
              </a:rPr>
              <a:t>sidequests</a:t>
            </a:r>
          </a:p>
        </p:txBody>
      </p:sp>
      <p:sp>
        <p:nvSpPr>
          <p:cNvPr id="9" name="">
            <a:extLst xmlns:a="http://schemas.openxmlformats.org/drawingml/2006/main">
              <a:ext uri="{FF2B5EF4-FFF2-40B4-BE49-F238E27FC236}">
                <a16:creationId xmlns:a16="http://schemas.microsoft.com/office/drawing/2014/main" id="{44B30540-2E02-47D0-BD96-7DF114CE2328}"/>
              </a:ext>
            </a:extLst>
          </p:cNvPr>
          <p:cNvSpPr>
            <a:spLocks xmlns:a="http://schemas.openxmlformats.org/drawingml/2006/main" noGrp="1"/>
          </p:cNvSpPr>
          <p:nvPr/>
        </p:nvSpPr>
        <p:spPr>
          <a:xfrm xmlns:a="http://schemas.openxmlformats.org/drawingml/2006/main">
            <a:off x="552450" y="6543675"/>
            <a:ext cx="4000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675" b="0">
                <a:solidFill>
                  <a:srgbClr val="9AA1AD"/>
                </a:solidFill>
                <a:latin typeface="Aptos"/>
                <a:ea typeface="Aptos"/>
                <a:cs typeface="Aptos"/>
              </a:defRPr>
            </a:pPr>
            <a:r>
              <a:rPr sz="675" b="0">
                <a:solidFill>
                  <a:srgbClr val="9AA1AD"/>
                </a:solidFill>
                <a:latin typeface="Aptos"/>
                <a:ea typeface="Aptos"/>
                <a:cs typeface="Aptos"/>
              </a:rPr>
              <a:t>Development &amp; launch readiness · 12 Aug 2026</a:t>
            </a:r>
          </a:p>
        </p:txBody>
      </p:sp>
      <p:sp>
        <p:nvSpPr>
          <p:cNvPr id="10" name="">
            <a:extLst xmlns:a="http://schemas.openxmlformats.org/drawingml/2006/main">
              <a:ext uri="{FF2B5EF4-FFF2-40B4-BE49-F238E27FC236}">
                <a16:creationId xmlns:a16="http://schemas.microsoft.com/office/drawing/2014/main" id="{04026F3A-FDDF-45B3-BE56-8C5A487717C9}"/>
              </a:ext>
            </a:extLst>
          </p:cNvPr>
          <p:cNvSpPr>
            <a:spLocks xmlns:a="http://schemas.openxmlformats.org/drawingml/2006/main" noGrp="1"/>
          </p:cNvSpPr>
          <p:nvPr/>
        </p:nvSpPr>
        <p:spPr>
          <a:xfrm xmlns:a="http://schemas.openxmlformats.org/drawingml/2006/main">
            <a:off x="11239500" y="6543675"/>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675" b="0">
                <a:solidFill>
                  <a:srgbClr val="9AA1AD"/>
                </a:solidFill>
                <a:latin typeface="Aptos"/>
                <a:ea typeface="Aptos"/>
                <a:cs typeface="Aptos"/>
              </a:defRPr>
            </a:pPr>
            <a:r>
              <a:rPr sz="675" b="0">
                <a:solidFill>
                  <a:srgbClr val="9AA1AD"/>
                </a:solidFill>
                <a:latin typeface="Aptos"/>
                <a:ea typeface="Aptos"/>
                <a:cs typeface="Aptos"/>
              </a:rPr>
              <a:t>7</a:t>
            </a:r>
          </a:p>
        </p:txBody>
      </p:sp>
      <p:sp>
        <p:nvSpPr>
          <p:cNvPr id="11" name="">
            <a:extLst xmlns:a="http://schemas.openxmlformats.org/drawingml/2006/main">
              <a:ext uri="{FF2B5EF4-FFF2-40B4-BE49-F238E27FC236}">
                <a16:creationId xmlns:a16="http://schemas.microsoft.com/office/drawing/2014/main" id="{3FE90155-ADE5-4308-939B-774CC02B8F75}"/>
              </a:ext>
            </a:extLst>
          </p:cNvPr>
          <p:cNvSpPr>
            <a:spLocks xmlns:a="http://schemas.openxmlformats.org/drawingml/2006/main" noGrp="1"/>
          </p:cNvSpPr>
          <p:nvPr/>
        </p:nvSpPr>
        <p:spPr>
          <a:xfrm xmlns:a="http://schemas.openxmlformats.org/drawingml/2006/main">
            <a:off x="685800" y="15621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a:solidFill>
                  <a:srgbClr val="101827"/>
                </a:solidFill>
                <a:latin typeface="Aptos"/>
                <a:ea typeface="Aptos"/>
                <a:cs typeface="Aptos"/>
              </a:defRPr>
            </a:pPr>
            <a:r>
              <a:rPr sz="1200" b="1">
                <a:solidFill>
                  <a:srgbClr val="101827"/>
                </a:solidFill>
                <a:latin typeface="Aptos"/>
                <a:ea typeface="Aptos"/>
                <a:cs typeface="Aptos"/>
              </a:rPr>
              <a:t>Architecture</a:t>
            </a:r>
          </a:p>
        </p:txBody>
      </p:sp>
      <p:sp>
        <p:nvSpPr>
          <p:cNvPr id="12" name="">
            <a:extLst xmlns:a="http://schemas.openxmlformats.org/drawingml/2006/main">
              <a:ext uri="{FF2B5EF4-FFF2-40B4-BE49-F238E27FC236}">
                <a16:creationId xmlns:a16="http://schemas.microsoft.com/office/drawing/2014/main" id="{9FE6898A-F805-4CD6-AEE9-8609E7A0AB63}"/>
              </a:ext>
            </a:extLst>
          </p:cNvPr>
          <p:cNvSpPr>
            <a:spLocks xmlns:a="http://schemas.openxmlformats.org/drawingml/2006/main" noGrp="1"/>
          </p:cNvSpPr>
          <p:nvPr/>
        </p:nvSpPr>
        <p:spPr>
          <a:xfrm xmlns:a="http://schemas.openxmlformats.org/drawingml/2006/main">
            <a:off x="2781300" y="1590675"/>
            <a:ext cx="6762750" cy="152400"/>
          </a:xfrm>
          <a:prstGeom xmlns:a="http://schemas.openxmlformats.org/drawingml/2006/main" prst="roundRect">
            <a:avLst>
              <a:gd name="adj" fmla="val 50000"/>
            </a:avLst>
          </a:prstGeom>
          <a:solidFill xmlns:a="http://schemas.openxmlformats.org/drawingml/2006/main">
            <a:srgbClr val="D8DCE3"/>
          </a:solidFill>
          <a:ln xmlns:a="http://schemas.openxmlformats.org/drawingml/2006/main" w="0">
            <a:solidFill>
              <a:srgbClr val="D8DCE3"/>
            </a:solidFill>
            <a:prstDash val="solid"/>
          </a:ln>
        </p:spPr>
      </p:sp>
      <p:sp>
        <p:nvSpPr>
          <p:cNvPr id="13" name="">
            <a:extLst xmlns:a="http://schemas.openxmlformats.org/drawingml/2006/main">
              <a:ext uri="{FF2B5EF4-FFF2-40B4-BE49-F238E27FC236}">
                <a16:creationId xmlns:a16="http://schemas.microsoft.com/office/drawing/2014/main" id="{460CE458-770A-4AD0-A655-6452EBB3E36C}"/>
              </a:ext>
            </a:extLst>
          </p:cNvPr>
          <p:cNvSpPr>
            <a:spLocks xmlns:a="http://schemas.openxmlformats.org/drawingml/2006/main" noGrp="1"/>
          </p:cNvSpPr>
          <p:nvPr/>
        </p:nvSpPr>
        <p:spPr>
          <a:xfrm xmlns:a="http://schemas.openxmlformats.org/drawingml/2006/main">
            <a:off x="2781300" y="1590675"/>
            <a:ext cx="5072063" cy="152400"/>
          </a:xfrm>
          <a:prstGeom xmlns:a="http://schemas.openxmlformats.org/drawingml/2006/main" prst="roundRect">
            <a:avLst>
              <a:gd name="adj" fmla="val 50000"/>
            </a:avLst>
          </a:prstGeom>
          <a:solidFill xmlns:a="http://schemas.openxmlformats.org/drawingml/2006/main">
            <a:srgbClr val="2E7D5A"/>
          </a:solidFill>
          <a:ln xmlns:a="http://schemas.openxmlformats.org/drawingml/2006/main" w="0">
            <a:solidFill>
              <a:srgbClr val="2E7D5A"/>
            </a:solidFill>
            <a:prstDash val="solid"/>
          </a:ln>
        </p:spPr>
      </p:sp>
      <p:sp>
        <p:nvSpPr>
          <p:cNvPr id="14" name="">
            <a:extLst xmlns:a="http://schemas.openxmlformats.org/drawingml/2006/main">
              <a:ext uri="{FF2B5EF4-FFF2-40B4-BE49-F238E27FC236}">
                <a16:creationId xmlns:a16="http://schemas.microsoft.com/office/drawing/2014/main" id="{F14B63D8-06EA-4B4D-B48C-BAA68406AD47}"/>
              </a:ext>
            </a:extLst>
          </p:cNvPr>
          <p:cNvSpPr>
            <a:spLocks xmlns:a="http://schemas.openxmlformats.org/drawingml/2006/main" noGrp="1"/>
          </p:cNvSpPr>
          <p:nvPr/>
        </p:nvSpPr>
        <p:spPr>
          <a:xfrm xmlns:a="http://schemas.openxmlformats.org/drawingml/2006/main">
            <a:off x="9715500" y="15240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350" b="1">
                <a:solidFill>
                  <a:srgbClr val="2E7D5A"/>
                </a:solidFill>
                <a:latin typeface="Aptos"/>
                <a:ea typeface="Aptos"/>
                <a:cs typeface="Aptos"/>
              </a:defRPr>
            </a:pPr>
            <a:r>
              <a:rPr sz="1350" b="1">
                <a:solidFill>
                  <a:srgbClr val="2E7D5A"/>
                </a:solidFill>
                <a:latin typeface="Aptos"/>
                <a:ea typeface="Aptos"/>
                <a:cs typeface="Aptos"/>
              </a:rPr>
              <a:t>75</a:t>
            </a:r>
          </a:p>
        </p:txBody>
      </p:sp>
      <p:sp>
        <p:nvSpPr>
          <p:cNvPr id="15" name="">
            <a:extLst xmlns:a="http://schemas.openxmlformats.org/drawingml/2006/main">
              <a:ext uri="{FF2B5EF4-FFF2-40B4-BE49-F238E27FC236}">
                <a16:creationId xmlns:a16="http://schemas.microsoft.com/office/drawing/2014/main" id="{FD24AFC4-55F6-4B98-86F9-3A390EF543AA}"/>
              </a:ext>
            </a:extLst>
          </p:cNvPr>
          <p:cNvSpPr>
            <a:spLocks xmlns:a="http://schemas.openxmlformats.org/drawingml/2006/main" noGrp="1"/>
          </p:cNvSpPr>
          <p:nvPr/>
        </p:nvSpPr>
        <p:spPr>
          <a:xfrm xmlns:a="http://schemas.openxmlformats.org/drawingml/2006/main">
            <a:off x="10210800" y="157162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0">
                <a:solidFill>
                  <a:srgbClr val="626A78"/>
                </a:solidFill>
                <a:latin typeface="Aptos"/>
                <a:ea typeface="Aptos"/>
                <a:cs typeface="Aptos"/>
              </a:defRPr>
            </a:pPr>
            <a:r>
              <a:rPr sz="825" b="0">
                <a:solidFill>
                  <a:srgbClr val="626A78"/>
                </a:solidFill>
                <a:latin typeface="Aptos"/>
                <a:ea typeface="Aptos"/>
                <a:cs typeface="Aptos"/>
              </a:rPr>
              <a:t>/100</a:t>
            </a:r>
          </a:p>
        </p:txBody>
      </p:sp>
      <p:sp>
        <p:nvSpPr>
          <p:cNvPr id="16" name="">
            <a:extLst xmlns:a="http://schemas.openxmlformats.org/drawingml/2006/main">
              <a:ext uri="{FF2B5EF4-FFF2-40B4-BE49-F238E27FC236}">
                <a16:creationId xmlns:a16="http://schemas.microsoft.com/office/drawing/2014/main" id="{278A33C4-FDA7-4096-B0B7-EF3B96A5F944}"/>
              </a:ext>
            </a:extLst>
          </p:cNvPr>
          <p:cNvSpPr>
            <a:spLocks xmlns:a="http://schemas.openxmlformats.org/drawingml/2006/main" noGrp="1"/>
          </p:cNvSpPr>
          <p:nvPr/>
        </p:nvSpPr>
        <p:spPr>
          <a:xfrm xmlns:a="http://schemas.openxmlformats.org/drawingml/2006/main">
            <a:off x="685800" y="20383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a:solidFill>
                  <a:srgbClr val="101827"/>
                </a:solidFill>
                <a:latin typeface="Aptos"/>
                <a:ea typeface="Aptos"/>
                <a:cs typeface="Aptos"/>
              </a:defRPr>
            </a:pPr>
            <a:r>
              <a:rPr sz="1200" b="1">
                <a:solidFill>
                  <a:srgbClr val="101827"/>
                </a:solidFill>
                <a:latin typeface="Aptos"/>
                <a:ea typeface="Aptos"/>
                <a:cs typeface="Aptos"/>
              </a:rPr>
              <a:t>UX + onboarding</a:t>
            </a:r>
          </a:p>
        </p:txBody>
      </p:sp>
      <p:sp>
        <p:nvSpPr>
          <p:cNvPr id="17" name="">
            <a:extLst xmlns:a="http://schemas.openxmlformats.org/drawingml/2006/main">
              <a:ext uri="{FF2B5EF4-FFF2-40B4-BE49-F238E27FC236}">
                <a16:creationId xmlns:a16="http://schemas.microsoft.com/office/drawing/2014/main" id="{F2A39A1B-17E1-4749-A1CA-48D534193BA4}"/>
              </a:ext>
            </a:extLst>
          </p:cNvPr>
          <p:cNvSpPr>
            <a:spLocks xmlns:a="http://schemas.openxmlformats.org/drawingml/2006/main" noGrp="1"/>
          </p:cNvSpPr>
          <p:nvPr/>
        </p:nvSpPr>
        <p:spPr>
          <a:xfrm xmlns:a="http://schemas.openxmlformats.org/drawingml/2006/main">
            <a:off x="2781300" y="2066925"/>
            <a:ext cx="6762750" cy="152400"/>
          </a:xfrm>
          <a:prstGeom xmlns:a="http://schemas.openxmlformats.org/drawingml/2006/main" prst="roundRect">
            <a:avLst>
              <a:gd name="adj" fmla="val 50000"/>
            </a:avLst>
          </a:prstGeom>
          <a:solidFill xmlns:a="http://schemas.openxmlformats.org/drawingml/2006/main">
            <a:srgbClr val="D8DCE3"/>
          </a:solidFill>
          <a:ln xmlns:a="http://schemas.openxmlformats.org/drawingml/2006/main" w="0">
            <a:solidFill>
              <a:srgbClr val="D8DCE3"/>
            </a:solidFill>
            <a:prstDash val="solid"/>
          </a:ln>
        </p:spPr>
      </p:sp>
      <p:sp>
        <p:nvSpPr>
          <p:cNvPr id="18" name="">
            <a:extLst xmlns:a="http://schemas.openxmlformats.org/drawingml/2006/main">
              <a:ext uri="{FF2B5EF4-FFF2-40B4-BE49-F238E27FC236}">
                <a16:creationId xmlns:a16="http://schemas.microsoft.com/office/drawing/2014/main" id="{C6815518-AC70-42D6-A46A-43B66D5E8E63}"/>
              </a:ext>
            </a:extLst>
          </p:cNvPr>
          <p:cNvSpPr>
            <a:spLocks xmlns:a="http://schemas.openxmlformats.org/drawingml/2006/main" noGrp="1"/>
          </p:cNvSpPr>
          <p:nvPr/>
        </p:nvSpPr>
        <p:spPr>
          <a:xfrm xmlns:a="http://schemas.openxmlformats.org/drawingml/2006/main">
            <a:off x="2781300" y="2066925"/>
            <a:ext cx="4057650" cy="152400"/>
          </a:xfrm>
          <a:prstGeom xmlns:a="http://schemas.openxmlformats.org/drawingml/2006/main" prst="roundRect">
            <a:avLst>
              <a:gd name="adj" fmla="val 50000"/>
            </a:avLst>
          </a:prstGeom>
          <a:solidFill xmlns:a="http://schemas.openxmlformats.org/drawingml/2006/main">
            <a:srgbClr val="2E7D5A"/>
          </a:solidFill>
          <a:ln xmlns:a="http://schemas.openxmlformats.org/drawingml/2006/main" w="0">
            <a:solidFill>
              <a:srgbClr val="2E7D5A"/>
            </a:solidFill>
            <a:prstDash val="solid"/>
          </a:ln>
        </p:spPr>
      </p:sp>
      <p:sp>
        <p:nvSpPr>
          <p:cNvPr id="19" name="">
            <a:extLst xmlns:a="http://schemas.openxmlformats.org/drawingml/2006/main">
              <a:ext uri="{FF2B5EF4-FFF2-40B4-BE49-F238E27FC236}">
                <a16:creationId xmlns:a16="http://schemas.microsoft.com/office/drawing/2014/main" id="{369EA0CA-F0EE-4086-ABFB-D1B65F8BA73E}"/>
              </a:ext>
            </a:extLst>
          </p:cNvPr>
          <p:cNvSpPr>
            <a:spLocks xmlns:a="http://schemas.openxmlformats.org/drawingml/2006/main" noGrp="1"/>
          </p:cNvSpPr>
          <p:nvPr/>
        </p:nvSpPr>
        <p:spPr>
          <a:xfrm xmlns:a="http://schemas.openxmlformats.org/drawingml/2006/main">
            <a:off x="9715500" y="200025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350" b="1">
                <a:solidFill>
                  <a:srgbClr val="2E7D5A"/>
                </a:solidFill>
                <a:latin typeface="Aptos"/>
                <a:ea typeface="Aptos"/>
                <a:cs typeface="Aptos"/>
              </a:defRPr>
            </a:pPr>
            <a:r>
              <a:rPr sz="1350" b="1">
                <a:solidFill>
                  <a:srgbClr val="2E7D5A"/>
                </a:solidFill>
                <a:latin typeface="Aptos"/>
                <a:ea typeface="Aptos"/>
                <a:cs typeface="Aptos"/>
              </a:rPr>
              <a:t>60</a:t>
            </a:r>
          </a:p>
        </p:txBody>
      </p:sp>
      <p:sp>
        <p:nvSpPr>
          <p:cNvPr id="20" name="">
            <a:extLst xmlns:a="http://schemas.openxmlformats.org/drawingml/2006/main">
              <a:ext uri="{FF2B5EF4-FFF2-40B4-BE49-F238E27FC236}">
                <a16:creationId xmlns:a16="http://schemas.microsoft.com/office/drawing/2014/main" id="{4781A6F7-3C56-477A-8303-11BBE162B9F3}"/>
              </a:ext>
            </a:extLst>
          </p:cNvPr>
          <p:cNvSpPr>
            <a:spLocks xmlns:a="http://schemas.openxmlformats.org/drawingml/2006/main" noGrp="1"/>
          </p:cNvSpPr>
          <p:nvPr/>
        </p:nvSpPr>
        <p:spPr>
          <a:xfrm xmlns:a="http://schemas.openxmlformats.org/drawingml/2006/main">
            <a:off x="10210800" y="204787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0">
                <a:solidFill>
                  <a:srgbClr val="626A78"/>
                </a:solidFill>
                <a:latin typeface="Aptos"/>
                <a:ea typeface="Aptos"/>
                <a:cs typeface="Aptos"/>
              </a:defRPr>
            </a:pPr>
            <a:r>
              <a:rPr sz="825" b="0">
                <a:solidFill>
                  <a:srgbClr val="626A78"/>
                </a:solidFill>
                <a:latin typeface="Aptos"/>
                <a:ea typeface="Aptos"/>
                <a:cs typeface="Aptos"/>
              </a:rPr>
              <a:t>/100</a:t>
            </a:r>
          </a:p>
        </p:txBody>
      </p:sp>
      <p:sp>
        <p:nvSpPr>
          <p:cNvPr id="21" name="">
            <a:extLst xmlns:a="http://schemas.openxmlformats.org/drawingml/2006/main">
              <a:ext uri="{FF2B5EF4-FFF2-40B4-BE49-F238E27FC236}">
                <a16:creationId xmlns:a16="http://schemas.microsoft.com/office/drawing/2014/main" id="{692DD170-32E3-4C5F-8ED3-38F57912F82B}"/>
              </a:ext>
            </a:extLst>
          </p:cNvPr>
          <p:cNvSpPr>
            <a:spLocks xmlns:a="http://schemas.openxmlformats.org/drawingml/2006/main" noGrp="1"/>
          </p:cNvSpPr>
          <p:nvPr/>
        </p:nvSpPr>
        <p:spPr>
          <a:xfrm xmlns:a="http://schemas.openxmlformats.org/drawingml/2006/main">
            <a:off x="685800" y="25146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a:solidFill>
                  <a:srgbClr val="101827"/>
                </a:solidFill>
                <a:latin typeface="Aptos"/>
                <a:ea typeface="Aptos"/>
                <a:cs typeface="Aptos"/>
              </a:defRPr>
            </a:pPr>
            <a:r>
              <a:rPr sz="1200" b="1">
                <a:solidFill>
                  <a:srgbClr val="101827"/>
                </a:solidFill>
                <a:latin typeface="Aptos"/>
                <a:ea typeface="Aptos"/>
                <a:cs typeface="Aptos"/>
              </a:rPr>
              <a:t>Core quest loop</a:t>
            </a:r>
          </a:p>
        </p:txBody>
      </p:sp>
      <p:sp>
        <p:nvSpPr>
          <p:cNvPr id="22" name="">
            <a:extLst xmlns:a="http://schemas.openxmlformats.org/drawingml/2006/main">
              <a:ext uri="{FF2B5EF4-FFF2-40B4-BE49-F238E27FC236}">
                <a16:creationId xmlns:a16="http://schemas.microsoft.com/office/drawing/2014/main" id="{52F80CE4-5C59-41A5-9026-459618B54DAF}"/>
              </a:ext>
            </a:extLst>
          </p:cNvPr>
          <p:cNvSpPr>
            <a:spLocks xmlns:a="http://schemas.openxmlformats.org/drawingml/2006/main" noGrp="1"/>
          </p:cNvSpPr>
          <p:nvPr/>
        </p:nvSpPr>
        <p:spPr>
          <a:xfrm xmlns:a="http://schemas.openxmlformats.org/drawingml/2006/main">
            <a:off x="2781300" y="2543175"/>
            <a:ext cx="6762750" cy="152400"/>
          </a:xfrm>
          <a:prstGeom xmlns:a="http://schemas.openxmlformats.org/drawingml/2006/main" prst="roundRect">
            <a:avLst>
              <a:gd name="adj" fmla="val 50000"/>
            </a:avLst>
          </a:prstGeom>
          <a:solidFill xmlns:a="http://schemas.openxmlformats.org/drawingml/2006/main">
            <a:srgbClr val="D8DCE3"/>
          </a:solidFill>
          <a:ln xmlns:a="http://schemas.openxmlformats.org/drawingml/2006/main" w="0">
            <a:solidFill>
              <a:srgbClr val="D8DCE3"/>
            </a:solidFill>
            <a:prstDash val="solid"/>
          </a:ln>
        </p:spPr>
      </p:sp>
      <p:sp>
        <p:nvSpPr>
          <p:cNvPr id="23" name="">
            <a:extLst xmlns:a="http://schemas.openxmlformats.org/drawingml/2006/main">
              <a:ext uri="{FF2B5EF4-FFF2-40B4-BE49-F238E27FC236}">
                <a16:creationId xmlns:a16="http://schemas.microsoft.com/office/drawing/2014/main" id="{8709742F-37F3-43E0-8C4D-60B7B7F10026}"/>
              </a:ext>
            </a:extLst>
          </p:cNvPr>
          <p:cNvSpPr>
            <a:spLocks xmlns:a="http://schemas.openxmlformats.org/drawingml/2006/main" noGrp="1"/>
          </p:cNvSpPr>
          <p:nvPr/>
        </p:nvSpPr>
        <p:spPr>
          <a:xfrm xmlns:a="http://schemas.openxmlformats.org/drawingml/2006/main">
            <a:off x="2781300" y="2543175"/>
            <a:ext cx="3719513" cy="152400"/>
          </a:xfrm>
          <a:prstGeom xmlns:a="http://schemas.openxmlformats.org/drawingml/2006/main" prst="roundRect">
            <a:avLst>
              <a:gd name="adj" fmla="val 50000"/>
            </a:avLst>
          </a:prstGeom>
          <a:solidFill xmlns:a="http://schemas.openxmlformats.org/drawingml/2006/main">
            <a:srgbClr val="F2B94B"/>
          </a:solidFill>
          <a:ln xmlns:a="http://schemas.openxmlformats.org/drawingml/2006/main" w="0">
            <a:solidFill>
              <a:srgbClr val="F2B94B"/>
            </a:solidFill>
            <a:prstDash val="solid"/>
          </a:ln>
        </p:spPr>
      </p:sp>
      <p:sp>
        <p:nvSpPr>
          <p:cNvPr id="24" name="">
            <a:extLst xmlns:a="http://schemas.openxmlformats.org/drawingml/2006/main">
              <a:ext uri="{FF2B5EF4-FFF2-40B4-BE49-F238E27FC236}">
                <a16:creationId xmlns:a16="http://schemas.microsoft.com/office/drawing/2014/main" id="{279A80FE-5DC7-4CAE-B81B-1C01A1390107}"/>
              </a:ext>
            </a:extLst>
          </p:cNvPr>
          <p:cNvSpPr>
            <a:spLocks xmlns:a="http://schemas.openxmlformats.org/drawingml/2006/main" noGrp="1"/>
          </p:cNvSpPr>
          <p:nvPr/>
        </p:nvSpPr>
        <p:spPr>
          <a:xfrm xmlns:a="http://schemas.openxmlformats.org/drawingml/2006/main">
            <a:off x="9715500" y="24765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350" b="1">
                <a:solidFill>
                  <a:srgbClr val="F2B94B"/>
                </a:solidFill>
                <a:latin typeface="Aptos"/>
                <a:ea typeface="Aptos"/>
                <a:cs typeface="Aptos"/>
              </a:defRPr>
            </a:pPr>
            <a:r>
              <a:rPr sz="1350" b="1">
                <a:solidFill>
                  <a:srgbClr val="F2B94B"/>
                </a:solidFill>
                <a:latin typeface="Aptos"/>
                <a:ea typeface="Aptos"/>
                <a:cs typeface="Aptos"/>
              </a:rPr>
              <a:t>55</a:t>
            </a:r>
          </a:p>
        </p:txBody>
      </p:sp>
      <p:sp>
        <p:nvSpPr>
          <p:cNvPr id="25" name="">
            <a:extLst xmlns:a="http://schemas.openxmlformats.org/drawingml/2006/main">
              <a:ext uri="{FF2B5EF4-FFF2-40B4-BE49-F238E27FC236}">
                <a16:creationId xmlns:a16="http://schemas.microsoft.com/office/drawing/2014/main" id="{A88EFAB6-7BCB-45CD-996C-0D99BA32E380}"/>
              </a:ext>
            </a:extLst>
          </p:cNvPr>
          <p:cNvSpPr>
            <a:spLocks xmlns:a="http://schemas.openxmlformats.org/drawingml/2006/main" noGrp="1"/>
          </p:cNvSpPr>
          <p:nvPr/>
        </p:nvSpPr>
        <p:spPr>
          <a:xfrm xmlns:a="http://schemas.openxmlformats.org/drawingml/2006/main">
            <a:off x="10210800" y="252412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0">
                <a:solidFill>
                  <a:srgbClr val="626A78"/>
                </a:solidFill>
                <a:latin typeface="Aptos"/>
                <a:ea typeface="Aptos"/>
                <a:cs typeface="Aptos"/>
              </a:defRPr>
            </a:pPr>
            <a:r>
              <a:rPr sz="825" b="0">
                <a:solidFill>
                  <a:srgbClr val="626A78"/>
                </a:solidFill>
                <a:latin typeface="Aptos"/>
                <a:ea typeface="Aptos"/>
                <a:cs typeface="Aptos"/>
              </a:rPr>
              <a:t>/100</a:t>
            </a:r>
          </a:p>
        </p:txBody>
      </p:sp>
      <p:sp>
        <p:nvSpPr>
          <p:cNvPr id="26" name="">
            <a:extLst xmlns:a="http://schemas.openxmlformats.org/drawingml/2006/main">
              <a:ext uri="{FF2B5EF4-FFF2-40B4-BE49-F238E27FC236}">
                <a16:creationId xmlns:a16="http://schemas.microsoft.com/office/drawing/2014/main" id="{0A38F9FA-D690-457D-BA84-81DF87C25AAA}"/>
              </a:ext>
            </a:extLst>
          </p:cNvPr>
          <p:cNvSpPr>
            <a:spLocks xmlns:a="http://schemas.openxmlformats.org/drawingml/2006/main" noGrp="1"/>
          </p:cNvSpPr>
          <p:nvPr/>
        </p:nvSpPr>
        <p:spPr>
          <a:xfrm xmlns:a="http://schemas.openxmlformats.org/drawingml/2006/main">
            <a:off x="685800" y="29908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a:solidFill>
                  <a:srgbClr val="101827"/>
                </a:solidFill>
                <a:latin typeface="Aptos"/>
                <a:ea typeface="Aptos"/>
                <a:cs typeface="Aptos"/>
              </a:defRPr>
            </a:pPr>
            <a:r>
              <a:rPr sz="1200" b="1">
                <a:solidFill>
                  <a:srgbClr val="101827"/>
                </a:solidFill>
                <a:latin typeface="Aptos"/>
                <a:ea typeface="Aptos"/>
                <a:cs typeface="Aptos"/>
              </a:rPr>
              <a:t>Miami content</a:t>
            </a:r>
          </a:p>
        </p:txBody>
      </p:sp>
      <p:sp>
        <p:nvSpPr>
          <p:cNvPr id="27" name="">
            <a:extLst xmlns:a="http://schemas.openxmlformats.org/drawingml/2006/main">
              <a:ext uri="{FF2B5EF4-FFF2-40B4-BE49-F238E27FC236}">
                <a16:creationId xmlns:a16="http://schemas.microsoft.com/office/drawing/2014/main" id="{F903902C-2C94-4C97-B1B8-5E0C42C0AC73}"/>
              </a:ext>
            </a:extLst>
          </p:cNvPr>
          <p:cNvSpPr>
            <a:spLocks xmlns:a="http://schemas.openxmlformats.org/drawingml/2006/main" noGrp="1"/>
          </p:cNvSpPr>
          <p:nvPr/>
        </p:nvSpPr>
        <p:spPr>
          <a:xfrm xmlns:a="http://schemas.openxmlformats.org/drawingml/2006/main">
            <a:off x="2781300" y="3019425"/>
            <a:ext cx="6762750" cy="152400"/>
          </a:xfrm>
          <a:prstGeom xmlns:a="http://schemas.openxmlformats.org/drawingml/2006/main" prst="roundRect">
            <a:avLst>
              <a:gd name="adj" fmla="val 50000"/>
            </a:avLst>
          </a:prstGeom>
          <a:solidFill xmlns:a="http://schemas.openxmlformats.org/drawingml/2006/main">
            <a:srgbClr val="D8DCE3"/>
          </a:solidFill>
          <a:ln xmlns:a="http://schemas.openxmlformats.org/drawingml/2006/main" w="0">
            <a:solidFill>
              <a:srgbClr val="D8DCE3"/>
            </a:solidFill>
            <a:prstDash val="solid"/>
          </a:ln>
        </p:spPr>
      </p:sp>
      <p:sp>
        <p:nvSpPr>
          <p:cNvPr id="28" name="">
            <a:extLst xmlns:a="http://schemas.openxmlformats.org/drawingml/2006/main">
              <a:ext uri="{FF2B5EF4-FFF2-40B4-BE49-F238E27FC236}">
                <a16:creationId xmlns:a16="http://schemas.microsoft.com/office/drawing/2014/main" id="{D3108A86-4C58-46BE-A8B3-528BEB4E9631}"/>
              </a:ext>
            </a:extLst>
          </p:cNvPr>
          <p:cNvSpPr>
            <a:spLocks xmlns:a="http://schemas.openxmlformats.org/drawingml/2006/main" noGrp="1"/>
          </p:cNvSpPr>
          <p:nvPr/>
        </p:nvSpPr>
        <p:spPr>
          <a:xfrm xmlns:a="http://schemas.openxmlformats.org/drawingml/2006/main">
            <a:off x="2781300" y="3019425"/>
            <a:ext cx="3719513" cy="152400"/>
          </a:xfrm>
          <a:prstGeom xmlns:a="http://schemas.openxmlformats.org/drawingml/2006/main" prst="roundRect">
            <a:avLst>
              <a:gd name="adj" fmla="val 50000"/>
            </a:avLst>
          </a:prstGeom>
          <a:solidFill xmlns:a="http://schemas.openxmlformats.org/drawingml/2006/main">
            <a:srgbClr val="F2B94B"/>
          </a:solidFill>
          <a:ln xmlns:a="http://schemas.openxmlformats.org/drawingml/2006/main" w="0">
            <a:solidFill>
              <a:srgbClr val="F2B94B"/>
            </a:solidFill>
            <a:prstDash val="solid"/>
          </a:ln>
        </p:spPr>
      </p:sp>
      <p:sp>
        <p:nvSpPr>
          <p:cNvPr id="29" name="">
            <a:extLst xmlns:a="http://schemas.openxmlformats.org/drawingml/2006/main">
              <a:ext uri="{FF2B5EF4-FFF2-40B4-BE49-F238E27FC236}">
                <a16:creationId xmlns:a16="http://schemas.microsoft.com/office/drawing/2014/main" id="{F9A30C19-848E-4749-9D83-4CA2EB0EF5D3}"/>
              </a:ext>
            </a:extLst>
          </p:cNvPr>
          <p:cNvSpPr>
            <a:spLocks xmlns:a="http://schemas.openxmlformats.org/drawingml/2006/main" noGrp="1"/>
          </p:cNvSpPr>
          <p:nvPr/>
        </p:nvSpPr>
        <p:spPr>
          <a:xfrm xmlns:a="http://schemas.openxmlformats.org/drawingml/2006/main">
            <a:off x="9715500" y="295275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350" b="1">
                <a:solidFill>
                  <a:srgbClr val="F2B94B"/>
                </a:solidFill>
                <a:latin typeface="Aptos"/>
                <a:ea typeface="Aptos"/>
                <a:cs typeface="Aptos"/>
              </a:defRPr>
            </a:pPr>
            <a:r>
              <a:rPr sz="1350" b="1">
                <a:solidFill>
                  <a:srgbClr val="F2B94B"/>
                </a:solidFill>
                <a:latin typeface="Aptos"/>
                <a:ea typeface="Aptos"/>
                <a:cs typeface="Aptos"/>
              </a:rPr>
              <a:t>55</a:t>
            </a:r>
          </a:p>
        </p:txBody>
      </p:sp>
      <p:sp>
        <p:nvSpPr>
          <p:cNvPr id="30" name="">
            <a:extLst xmlns:a="http://schemas.openxmlformats.org/drawingml/2006/main">
              <a:ext uri="{FF2B5EF4-FFF2-40B4-BE49-F238E27FC236}">
                <a16:creationId xmlns:a16="http://schemas.microsoft.com/office/drawing/2014/main" id="{874201AA-3AD3-4160-8D76-8F4CD53ACD77}"/>
              </a:ext>
            </a:extLst>
          </p:cNvPr>
          <p:cNvSpPr>
            <a:spLocks xmlns:a="http://schemas.openxmlformats.org/drawingml/2006/main" noGrp="1"/>
          </p:cNvSpPr>
          <p:nvPr/>
        </p:nvSpPr>
        <p:spPr>
          <a:xfrm xmlns:a="http://schemas.openxmlformats.org/drawingml/2006/main">
            <a:off x="10210800" y="300037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0">
                <a:solidFill>
                  <a:srgbClr val="626A78"/>
                </a:solidFill>
                <a:latin typeface="Aptos"/>
                <a:ea typeface="Aptos"/>
                <a:cs typeface="Aptos"/>
              </a:defRPr>
            </a:pPr>
            <a:r>
              <a:rPr sz="825" b="0">
                <a:solidFill>
                  <a:srgbClr val="626A78"/>
                </a:solidFill>
                <a:latin typeface="Aptos"/>
                <a:ea typeface="Aptos"/>
                <a:cs typeface="Aptos"/>
              </a:rPr>
              <a:t>/100</a:t>
            </a:r>
          </a:p>
        </p:txBody>
      </p:sp>
      <p:sp>
        <p:nvSpPr>
          <p:cNvPr id="31" name="">
            <a:extLst xmlns:a="http://schemas.openxmlformats.org/drawingml/2006/main">
              <a:ext uri="{FF2B5EF4-FFF2-40B4-BE49-F238E27FC236}">
                <a16:creationId xmlns:a16="http://schemas.microsoft.com/office/drawing/2014/main" id="{4CBB632A-E8BB-49B6-A1BD-1F6D11B1C09A}"/>
              </a:ext>
            </a:extLst>
          </p:cNvPr>
          <p:cNvSpPr>
            <a:spLocks xmlns:a="http://schemas.openxmlformats.org/drawingml/2006/main" noGrp="1"/>
          </p:cNvSpPr>
          <p:nvPr/>
        </p:nvSpPr>
        <p:spPr>
          <a:xfrm xmlns:a="http://schemas.openxmlformats.org/drawingml/2006/main">
            <a:off x="685800" y="34671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a:solidFill>
                  <a:srgbClr val="101827"/>
                </a:solidFill>
                <a:latin typeface="Aptos"/>
                <a:ea typeface="Aptos"/>
                <a:cs typeface="Aptos"/>
              </a:defRPr>
            </a:pPr>
            <a:r>
              <a:rPr sz="1200" b="1">
                <a:solidFill>
                  <a:srgbClr val="101827"/>
                </a:solidFill>
                <a:latin typeface="Aptos"/>
                <a:ea typeface="Aptos"/>
                <a:cs typeface="Aptos"/>
              </a:rPr>
              <a:t>Legal + compliance</a:t>
            </a:r>
          </a:p>
        </p:txBody>
      </p:sp>
      <p:sp>
        <p:nvSpPr>
          <p:cNvPr id="32" name="">
            <a:extLst xmlns:a="http://schemas.openxmlformats.org/drawingml/2006/main">
              <a:ext uri="{FF2B5EF4-FFF2-40B4-BE49-F238E27FC236}">
                <a16:creationId xmlns:a16="http://schemas.microsoft.com/office/drawing/2014/main" id="{E735CD5F-1197-4E51-83DF-FCFBED7ECAAD}"/>
              </a:ext>
            </a:extLst>
          </p:cNvPr>
          <p:cNvSpPr>
            <a:spLocks xmlns:a="http://schemas.openxmlformats.org/drawingml/2006/main" noGrp="1"/>
          </p:cNvSpPr>
          <p:nvPr/>
        </p:nvSpPr>
        <p:spPr>
          <a:xfrm xmlns:a="http://schemas.openxmlformats.org/drawingml/2006/main">
            <a:off x="2781300" y="3495675"/>
            <a:ext cx="6762750" cy="152400"/>
          </a:xfrm>
          <a:prstGeom xmlns:a="http://schemas.openxmlformats.org/drawingml/2006/main" prst="roundRect">
            <a:avLst>
              <a:gd name="adj" fmla="val 50000"/>
            </a:avLst>
          </a:prstGeom>
          <a:solidFill xmlns:a="http://schemas.openxmlformats.org/drawingml/2006/main">
            <a:srgbClr val="D8DCE3"/>
          </a:solidFill>
          <a:ln xmlns:a="http://schemas.openxmlformats.org/drawingml/2006/main" w="0">
            <a:solidFill>
              <a:srgbClr val="D8DCE3"/>
            </a:solidFill>
            <a:prstDash val="solid"/>
          </a:ln>
        </p:spPr>
      </p:sp>
      <p:sp>
        <p:nvSpPr>
          <p:cNvPr id="33" name="">
            <a:extLst xmlns:a="http://schemas.openxmlformats.org/drawingml/2006/main">
              <a:ext uri="{FF2B5EF4-FFF2-40B4-BE49-F238E27FC236}">
                <a16:creationId xmlns:a16="http://schemas.microsoft.com/office/drawing/2014/main" id="{86513326-FDE0-470A-B8ED-2E0EF42810B7}"/>
              </a:ext>
            </a:extLst>
          </p:cNvPr>
          <p:cNvSpPr>
            <a:spLocks xmlns:a="http://schemas.openxmlformats.org/drawingml/2006/main" noGrp="1"/>
          </p:cNvSpPr>
          <p:nvPr/>
        </p:nvSpPr>
        <p:spPr>
          <a:xfrm xmlns:a="http://schemas.openxmlformats.org/drawingml/2006/main">
            <a:off x="2781300" y="3495675"/>
            <a:ext cx="3043238" cy="152400"/>
          </a:xfrm>
          <a:prstGeom xmlns:a="http://schemas.openxmlformats.org/drawingml/2006/main" prst="roundRect">
            <a:avLst>
              <a:gd name="adj" fmla="val 50000"/>
            </a:avLst>
          </a:prstGeom>
          <a:solidFill xmlns:a="http://schemas.openxmlformats.org/drawingml/2006/main">
            <a:srgbClr val="F2B94B"/>
          </a:solidFill>
          <a:ln xmlns:a="http://schemas.openxmlformats.org/drawingml/2006/main" w="0">
            <a:solidFill>
              <a:srgbClr val="F2B94B"/>
            </a:solidFill>
            <a:prstDash val="solid"/>
          </a:ln>
        </p:spPr>
      </p:sp>
      <p:sp>
        <p:nvSpPr>
          <p:cNvPr id="34" name="">
            <a:extLst xmlns:a="http://schemas.openxmlformats.org/drawingml/2006/main">
              <a:ext uri="{FF2B5EF4-FFF2-40B4-BE49-F238E27FC236}">
                <a16:creationId xmlns:a16="http://schemas.microsoft.com/office/drawing/2014/main" id="{8A0A2800-2AC0-4FA1-95C3-8F8A69E2FF37}"/>
              </a:ext>
            </a:extLst>
          </p:cNvPr>
          <p:cNvSpPr>
            <a:spLocks xmlns:a="http://schemas.openxmlformats.org/drawingml/2006/main" noGrp="1"/>
          </p:cNvSpPr>
          <p:nvPr/>
        </p:nvSpPr>
        <p:spPr>
          <a:xfrm xmlns:a="http://schemas.openxmlformats.org/drawingml/2006/main">
            <a:off x="9715500" y="34290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350" b="1">
                <a:solidFill>
                  <a:srgbClr val="F2B94B"/>
                </a:solidFill>
                <a:latin typeface="Aptos"/>
                <a:ea typeface="Aptos"/>
                <a:cs typeface="Aptos"/>
              </a:defRPr>
            </a:pPr>
            <a:r>
              <a:rPr sz="1350" b="1">
                <a:solidFill>
                  <a:srgbClr val="F2B94B"/>
                </a:solidFill>
                <a:latin typeface="Aptos"/>
                <a:ea typeface="Aptos"/>
                <a:cs typeface="Aptos"/>
              </a:rPr>
              <a:t>45</a:t>
            </a:r>
          </a:p>
        </p:txBody>
      </p:sp>
      <p:sp>
        <p:nvSpPr>
          <p:cNvPr id="35" name="">
            <a:extLst xmlns:a="http://schemas.openxmlformats.org/drawingml/2006/main">
              <a:ext uri="{FF2B5EF4-FFF2-40B4-BE49-F238E27FC236}">
                <a16:creationId xmlns:a16="http://schemas.microsoft.com/office/drawing/2014/main" id="{D03B0489-9EC8-49EC-958D-D54C60AA073D}"/>
              </a:ext>
            </a:extLst>
          </p:cNvPr>
          <p:cNvSpPr>
            <a:spLocks xmlns:a="http://schemas.openxmlformats.org/drawingml/2006/main" noGrp="1"/>
          </p:cNvSpPr>
          <p:nvPr/>
        </p:nvSpPr>
        <p:spPr>
          <a:xfrm xmlns:a="http://schemas.openxmlformats.org/drawingml/2006/main">
            <a:off x="10210800" y="347662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0">
                <a:solidFill>
                  <a:srgbClr val="626A78"/>
                </a:solidFill>
                <a:latin typeface="Aptos"/>
                <a:ea typeface="Aptos"/>
                <a:cs typeface="Aptos"/>
              </a:defRPr>
            </a:pPr>
            <a:r>
              <a:rPr sz="825" b="0">
                <a:solidFill>
                  <a:srgbClr val="626A78"/>
                </a:solidFill>
                <a:latin typeface="Aptos"/>
                <a:ea typeface="Aptos"/>
                <a:cs typeface="Aptos"/>
              </a:rPr>
              <a:t>/100</a:t>
            </a:r>
          </a:p>
        </p:txBody>
      </p:sp>
      <p:sp>
        <p:nvSpPr>
          <p:cNvPr id="36" name="">
            <a:extLst xmlns:a="http://schemas.openxmlformats.org/drawingml/2006/main">
              <a:ext uri="{FF2B5EF4-FFF2-40B4-BE49-F238E27FC236}">
                <a16:creationId xmlns:a16="http://schemas.microsoft.com/office/drawing/2014/main" id="{7F165C2C-E41C-4458-8872-0B96C69D6256}"/>
              </a:ext>
            </a:extLst>
          </p:cNvPr>
          <p:cNvSpPr>
            <a:spLocks xmlns:a="http://schemas.openxmlformats.org/drawingml/2006/main" noGrp="1"/>
          </p:cNvSpPr>
          <p:nvPr/>
        </p:nvSpPr>
        <p:spPr>
          <a:xfrm xmlns:a="http://schemas.openxmlformats.org/drawingml/2006/main">
            <a:off x="685800" y="39433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a:solidFill>
                  <a:srgbClr val="101827"/>
                </a:solidFill>
                <a:latin typeface="Aptos"/>
                <a:ea typeface="Aptos"/>
                <a:cs typeface="Aptos"/>
              </a:defRPr>
            </a:pPr>
            <a:r>
              <a:rPr sz="1200" b="1">
                <a:solidFill>
                  <a:srgbClr val="101827"/>
                </a:solidFill>
                <a:latin typeface="Aptos"/>
                <a:ea typeface="Aptos"/>
                <a:cs typeface="Aptos"/>
              </a:rPr>
              <a:t>XP + points</a:t>
            </a:r>
          </a:p>
        </p:txBody>
      </p:sp>
      <p:sp>
        <p:nvSpPr>
          <p:cNvPr id="37" name="">
            <a:extLst xmlns:a="http://schemas.openxmlformats.org/drawingml/2006/main">
              <a:ext uri="{FF2B5EF4-FFF2-40B4-BE49-F238E27FC236}">
                <a16:creationId xmlns:a16="http://schemas.microsoft.com/office/drawing/2014/main" id="{7A42B19D-1488-46AD-BB45-96FD71544567}"/>
              </a:ext>
            </a:extLst>
          </p:cNvPr>
          <p:cNvSpPr>
            <a:spLocks xmlns:a="http://schemas.openxmlformats.org/drawingml/2006/main" noGrp="1"/>
          </p:cNvSpPr>
          <p:nvPr/>
        </p:nvSpPr>
        <p:spPr>
          <a:xfrm xmlns:a="http://schemas.openxmlformats.org/drawingml/2006/main">
            <a:off x="2781300" y="3971925"/>
            <a:ext cx="6762750" cy="152400"/>
          </a:xfrm>
          <a:prstGeom xmlns:a="http://schemas.openxmlformats.org/drawingml/2006/main" prst="roundRect">
            <a:avLst>
              <a:gd name="adj" fmla="val 50000"/>
            </a:avLst>
          </a:prstGeom>
          <a:solidFill xmlns:a="http://schemas.openxmlformats.org/drawingml/2006/main">
            <a:srgbClr val="D8DCE3"/>
          </a:solidFill>
          <a:ln xmlns:a="http://schemas.openxmlformats.org/drawingml/2006/main" w="0">
            <a:solidFill>
              <a:srgbClr val="D8DCE3"/>
            </a:solidFill>
            <a:prstDash val="solid"/>
          </a:ln>
        </p:spPr>
      </p:sp>
      <p:sp>
        <p:nvSpPr>
          <p:cNvPr id="38" name="">
            <a:extLst xmlns:a="http://schemas.openxmlformats.org/drawingml/2006/main">
              <a:ext uri="{FF2B5EF4-FFF2-40B4-BE49-F238E27FC236}">
                <a16:creationId xmlns:a16="http://schemas.microsoft.com/office/drawing/2014/main" id="{990AC8DE-733B-49DD-BEBA-43462F983DE3}"/>
              </a:ext>
            </a:extLst>
          </p:cNvPr>
          <p:cNvSpPr>
            <a:spLocks xmlns:a="http://schemas.openxmlformats.org/drawingml/2006/main" noGrp="1"/>
          </p:cNvSpPr>
          <p:nvPr/>
        </p:nvSpPr>
        <p:spPr>
          <a:xfrm xmlns:a="http://schemas.openxmlformats.org/drawingml/2006/main">
            <a:off x="2781300" y="3971925"/>
            <a:ext cx="3043238" cy="15240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solidFill>
              <a:srgbClr val="FF6F61"/>
            </a:solidFill>
            <a:prstDash val="solid"/>
          </a:ln>
        </p:spPr>
      </p:sp>
      <p:sp>
        <p:nvSpPr>
          <p:cNvPr id="39" name="">
            <a:extLst xmlns:a="http://schemas.openxmlformats.org/drawingml/2006/main">
              <a:ext uri="{FF2B5EF4-FFF2-40B4-BE49-F238E27FC236}">
                <a16:creationId xmlns:a16="http://schemas.microsoft.com/office/drawing/2014/main" id="{1AAEC1D9-048A-47DD-9199-48AA817C97E6}"/>
              </a:ext>
            </a:extLst>
          </p:cNvPr>
          <p:cNvSpPr>
            <a:spLocks xmlns:a="http://schemas.openxmlformats.org/drawingml/2006/main" noGrp="1"/>
          </p:cNvSpPr>
          <p:nvPr/>
        </p:nvSpPr>
        <p:spPr>
          <a:xfrm xmlns:a="http://schemas.openxmlformats.org/drawingml/2006/main">
            <a:off x="9715500" y="390525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350" b="1">
                <a:solidFill>
                  <a:srgbClr val="FF6F61"/>
                </a:solidFill>
                <a:latin typeface="Aptos"/>
                <a:ea typeface="Aptos"/>
                <a:cs typeface="Aptos"/>
              </a:defRPr>
            </a:pPr>
            <a:r>
              <a:rPr sz="1350" b="1">
                <a:solidFill>
                  <a:srgbClr val="FF6F61"/>
                </a:solidFill>
                <a:latin typeface="Aptos"/>
                <a:ea typeface="Aptos"/>
                <a:cs typeface="Aptos"/>
              </a:rPr>
              <a:t>45</a:t>
            </a:r>
          </a:p>
        </p:txBody>
      </p:sp>
      <p:sp>
        <p:nvSpPr>
          <p:cNvPr id="40" name="">
            <a:extLst xmlns:a="http://schemas.openxmlformats.org/drawingml/2006/main">
              <a:ext uri="{FF2B5EF4-FFF2-40B4-BE49-F238E27FC236}">
                <a16:creationId xmlns:a16="http://schemas.microsoft.com/office/drawing/2014/main" id="{49F91286-3F45-4A46-869A-861BE2F48F5E}"/>
              </a:ext>
            </a:extLst>
          </p:cNvPr>
          <p:cNvSpPr>
            <a:spLocks xmlns:a="http://schemas.openxmlformats.org/drawingml/2006/main" noGrp="1"/>
          </p:cNvSpPr>
          <p:nvPr/>
        </p:nvSpPr>
        <p:spPr>
          <a:xfrm xmlns:a="http://schemas.openxmlformats.org/drawingml/2006/main">
            <a:off x="10210800" y="395287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0">
                <a:solidFill>
                  <a:srgbClr val="626A78"/>
                </a:solidFill>
                <a:latin typeface="Aptos"/>
                <a:ea typeface="Aptos"/>
                <a:cs typeface="Aptos"/>
              </a:defRPr>
            </a:pPr>
            <a:r>
              <a:rPr sz="825" b="0">
                <a:solidFill>
                  <a:srgbClr val="626A78"/>
                </a:solidFill>
                <a:latin typeface="Aptos"/>
                <a:ea typeface="Aptos"/>
                <a:cs typeface="Aptos"/>
              </a:rPr>
              <a:t>/100</a:t>
            </a:r>
          </a:p>
        </p:txBody>
      </p:sp>
      <p:sp>
        <p:nvSpPr>
          <p:cNvPr id="41" name="">
            <a:extLst xmlns:a="http://schemas.openxmlformats.org/drawingml/2006/main">
              <a:ext uri="{FF2B5EF4-FFF2-40B4-BE49-F238E27FC236}">
                <a16:creationId xmlns:a16="http://schemas.microsoft.com/office/drawing/2014/main" id="{A28B5CDD-B843-4551-9D82-D2F9441312C7}"/>
              </a:ext>
            </a:extLst>
          </p:cNvPr>
          <p:cNvSpPr>
            <a:spLocks xmlns:a="http://schemas.openxmlformats.org/drawingml/2006/main" noGrp="1"/>
          </p:cNvSpPr>
          <p:nvPr/>
        </p:nvSpPr>
        <p:spPr>
          <a:xfrm xmlns:a="http://schemas.openxmlformats.org/drawingml/2006/main">
            <a:off x="685800" y="44196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a:solidFill>
                  <a:srgbClr val="101827"/>
                </a:solidFill>
                <a:latin typeface="Aptos"/>
                <a:ea typeface="Aptos"/>
                <a:cs typeface="Aptos"/>
              </a:defRPr>
            </a:pPr>
            <a:r>
              <a:rPr sz="1200" b="1">
                <a:solidFill>
                  <a:srgbClr val="101827"/>
                </a:solidFill>
                <a:latin typeface="Aptos"/>
                <a:ea typeface="Aptos"/>
                <a:cs typeface="Aptos"/>
              </a:rPr>
              <a:t>Marketing + GTM</a:t>
            </a:r>
          </a:p>
        </p:txBody>
      </p:sp>
      <p:sp>
        <p:nvSpPr>
          <p:cNvPr id="42" name="">
            <a:extLst xmlns:a="http://schemas.openxmlformats.org/drawingml/2006/main">
              <a:ext uri="{FF2B5EF4-FFF2-40B4-BE49-F238E27FC236}">
                <a16:creationId xmlns:a16="http://schemas.microsoft.com/office/drawing/2014/main" id="{5C756465-A5FE-4324-9640-48694598924F}"/>
              </a:ext>
            </a:extLst>
          </p:cNvPr>
          <p:cNvSpPr>
            <a:spLocks xmlns:a="http://schemas.openxmlformats.org/drawingml/2006/main" noGrp="1"/>
          </p:cNvSpPr>
          <p:nvPr/>
        </p:nvSpPr>
        <p:spPr>
          <a:xfrm xmlns:a="http://schemas.openxmlformats.org/drawingml/2006/main">
            <a:off x="2781300" y="4448175"/>
            <a:ext cx="6762750" cy="152400"/>
          </a:xfrm>
          <a:prstGeom xmlns:a="http://schemas.openxmlformats.org/drawingml/2006/main" prst="roundRect">
            <a:avLst>
              <a:gd name="adj" fmla="val 50000"/>
            </a:avLst>
          </a:prstGeom>
          <a:solidFill xmlns:a="http://schemas.openxmlformats.org/drawingml/2006/main">
            <a:srgbClr val="D8DCE3"/>
          </a:solidFill>
          <a:ln xmlns:a="http://schemas.openxmlformats.org/drawingml/2006/main" w="0">
            <a:solidFill>
              <a:srgbClr val="D8DCE3"/>
            </a:solidFill>
            <a:prstDash val="solid"/>
          </a:ln>
        </p:spPr>
      </p:sp>
      <p:sp>
        <p:nvSpPr>
          <p:cNvPr id="43" name="">
            <a:extLst xmlns:a="http://schemas.openxmlformats.org/drawingml/2006/main">
              <a:ext uri="{FF2B5EF4-FFF2-40B4-BE49-F238E27FC236}">
                <a16:creationId xmlns:a16="http://schemas.microsoft.com/office/drawing/2014/main" id="{713E5433-B282-4E19-A56F-99E671A851E8}"/>
              </a:ext>
            </a:extLst>
          </p:cNvPr>
          <p:cNvSpPr>
            <a:spLocks xmlns:a="http://schemas.openxmlformats.org/drawingml/2006/main" noGrp="1"/>
          </p:cNvSpPr>
          <p:nvPr/>
        </p:nvSpPr>
        <p:spPr>
          <a:xfrm xmlns:a="http://schemas.openxmlformats.org/drawingml/2006/main">
            <a:off x="2781300" y="4448175"/>
            <a:ext cx="2366963" cy="15240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solidFill>
              <a:srgbClr val="FF6F61"/>
            </a:solidFill>
            <a:prstDash val="solid"/>
          </a:ln>
        </p:spPr>
      </p:sp>
      <p:sp>
        <p:nvSpPr>
          <p:cNvPr id="44" name="">
            <a:extLst xmlns:a="http://schemas.openxmlformats.org/drawingml/2006/main">
              <a:ext uri="{FF2B5EF4-FFF2-40B4-BE49-F238E27FC236}">
                <a16:creationId xmlns:a16="http://schemas.microsoft.com/office/drawing/2014/main" id="{C89D3940-58F8-4787-97D6-75FFE1E194CA}"/>
              </a:ext>
            </a:extLst>
          </p:cNvPr>
          <p:cNvSpPr>
            <a:spLocks xmlns:a="http://schemas.openxmlformats.org/drawingml/2006/main" noGrp="1"/>
          </p:cNvSpPr>
          <p:nvPr/>
        </p:nvSpPr>
        <p:spPr>
          <a:xfrm xmlns:a="http://schemas.openxmlformats.org/drawingml/2006/main">
            <a:off x="9715500" y="43815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350" b="1">
                <a:solidFill>
                  <a:srgbClr val="FF6F61"/>
                </a:solidFill>
                <a:latin typeface="Aptos"/>
                <a:ea typeface="Aptos"/>
                <a:cs typeface="Aptos"/>
              </a:defRPr>
            </a:pPr>
            <a:r>
              <a:rPr sz="1350" b="1">
                <a:solidFill>
                  <a:srgbClr val="FF6F61"/>
                </a:solidFill>
                <a:latin typeface="Aptos"/>
                <a:ea typeface="Aptos"/>
                <a:cs typeface="Aptos"/>
              </a:rPr>
              <a:t>35</a:t>
            </a:r>
          </a:p>
        </p:txBody>
      </p:sp>
      <p:sp>
        <p:nvSpPr>
          <p:cNvPr id="45" name="">
            <a:extLst xmlns:a="http://schemas.openxmlformats.org/drawingml/2006/main">
              <a:ext uri="{FF2B5EF4-FFF2-40B4-BE49-F238E27FC236}">
                <a16:creationId xmlns:a16="http://schemas.microsoft.com/office/drawing/2014/main" id="{F36E9836-DE07-42E7-97CD-E0765A118947}"/>
              </a:ext>
            </a:extLst>
          </p:cNvPr>
          <p:cNvSpPr>
            <a:spLocks xmlns:a="http://schemas.openxmlformats.org/drawingml/2006/main" noGrp="1"/>
          </p:cNvSpPr>
          <p:nvPr/>
        </p:nvSpPr>
        <p:spPr>
          <a:xfrm xmlns:a="http://schemas.openxmlformats.org/drawingml/2006/main">
            <a:off x="10210800" y="442912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0">
                <a:solidFill>
                  <a:srgbClr val="626A78"/>
                </a:solidFill>
                <a:latin typeface="Aptos"/>
                <a:ea typeface="Aptos"/>
                <a:cs typeface="Aptos"/>
              </a:defRPr>
            </a:pPr>
            <a:r>
              <a:rPr sz="825" b="0">
                <a:solidFill>
                  <a:srgbClr val="626A78"/>
                </a:solidFill>
                <a:latin typeface="Aptos"/>
                <a:ea typeface="Aptos"/>
                <a:cs typeface="Aptos"/>
              </a:rPr>
              <a:t>/100</a:t>
            </a:r>
          </a:p>
        </p:txBody>
      </p:sp>
      <p:sp>
        <p:nvSpPr>
          <p:cNvPr id="46" name="">
            <a:extLst xmlns:a="http://schemas.openxmlformats.org/drawingml/2006/main">
              <a:ext uri="{FF2B5EF4-FFF2-40B4-BE49-F238E27FC236}">
                <a16:creationId xmlns:a16="http://schemas.microsoft.com/office/drawing/2014/main" id="{CBBE6391-3AC7-46AF-984C-90BCCC2AFC21}"/>
              </a:ext>
            </a:extLst>
          </p:cNvPr>
          <p:cNvSpPr>
            <a:spLocks xmlns:a="http://schemas.openxmlformats.org/drawingml/2006/main" noGrp="1"/>
          </p:cNvSpPr>
          <p:nvPr/>
        </p:nvSpPr>
        <p:spPr>
          <a:xfrm xmlns:a="http://schemas.openxmlformats.org/drawingml/2006/main">
            <a:off x="685800" y="48958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a:solidFill>
                  <a:srgbClr val="101827"/>
                </a:solidFill>
                <a:latin typeface="Aptos"/>
                <a:ea typeface="Aptos"/>
                <a:cs typeface="Aptos"/>
              </a:defRPr>
            </a:pPr>
            <a:r>
              <a:rPr sz="1200" b="1">
                <a:solidFill>
                  <a:srgbClr val="101827"/>
                </a:solidFill>
                <a:latin typeface="Aptos"/>
                <a:ea typeface="Aptos"/>
                <a:cs typeface="Aptos"/>
              </a:rPr>
              <a:t>Partner operations</a:t>
            </a:r>
          </a:p>
        </p:txBody>
      </p:sp>
      <p:sp>
        <p:nvSpPr>
          <p:cNvPr id="47" name="">
            <a:extLst xmlns:a="http://schemas.openxmlformats.org/drawingml/2006/main">
              <a:ext uri="{FF2B5EF4-FFF2-40B4-BE49-F238E27FC236}">
                <a16:creationId xmlns:a16="http://schemas.microsoft.com/office/drawing/2014/main" id="{B35AC1BF-F5FC-4FDA-B5E9-9E7E006678EE}"/>
              </a:ext>
            </a:extLst>
          </p:cNvPr>
          <p:cNvSpPr>
            <a:spLocks xmlns:a="http://schemas.openxmlformats.org/drawingml/2006/main" noGrp="1"/>
          </p:cNvSpPr>
          <p:nvPr/>
        </p:nvSpPr>
        <p:spPr>
          <a:xfrm xmlns:a="http://schemas.openxmlformats.org/drawingml/2006/main">
            <a:off x="2781300" y="4924425"/>
            <a:ext cx="6762750" cy="152400"/>
          </a:xfrm>
          <a:prstGeom xmlns:a="http://schemas.openxmlformats.org/drawingml/2006/main" prst="roundRect">
            <a:avLst>
              <a:gd name="adj" fmla="val 50000"/>
            </a:avLst>
          </a:prstGeom>
          <a:solidFill xmlns:a="http://schemas.openxmlformats.org/drawingml/2006/main">
            <a:srgbClr val="D8DCE3"/>
          </a:solidFill>
          <a:ln xmlns:a="http://schemas.openxmlformats.org/drawingml/2006/main" w="0">
            <a:solidFill>
              <a:srgbClr val="D8DCE3"/>
            </a:solidFill>
            <a:prstDash val="solid"/>
          </a:ln>
        </p:spPr>
      </p:sp>
      <p:sp>
        <p:nvSpPr>
          <p:cNvPr id="48" name="">
            <a:extLst xmlns:a="http://schemas.openxmlformats.org/drawingml/2006/main">
              <a:ext uri="{FF2B5EF4-FFF2-40B4-BE49-F238E27FC236}">
                <a16:creationId xmlns:a16="http://schemas.microsoft.com/office/drawing/2014/main" id="{F37B2935-648A-4CA3-AFE8-C1073694508D}"/>
              </a:ext>
            </a:extLst>
          </p:cNvPr>
          <p:cNvSpPr>
            <a:spLocks xmlns:a="http://schemas.openxmlformats.org/drawingml/2006/main" noGrp="1"/>
          </p:cNvSpPr>
          <p:nvPr/>
        </p:nvSpPr>
        <p:spPr>
          <a:xfrm xmlns:a="http://schemas.openxmlformats.org/drawingml/2006/main">
            <a:off x="2781300" y="4924425"/>
            <a:ext cx="2366963" cy="15240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solidFill>
              <a:srgbClr val="FF6F61"/>
            </a:solidFill>
            <a:prstDash val="solid"/>
          </a:ln>
        </p:spPr>
      </p:sp>
      <p:sp>
        <p:nvSpPr>
          <p:cNvPr id="49" name="">
            <a:extLst xmlns:a="http://schemas.openxmlformats.org/drawingml/2006/main">
              <a:ext uri="{FF2B5EF4-FFF2-40B4-BE49-F238E27FC236}">
                <a16:creationId xmlns:a16="http://schemas.microsoft.com/office/drawing/2014/main" id="{6B215528-73A0-4110-85F4-4BA56F999D2C}"/>
              </a:ext>
            </a:extLst>
          </p:cNvPr>
          <p:cNvSpPr>
            <a:spLocks xmlns:a="http://schemas.openxmlformats.org/drawingml/2006/main" noGrp="1"/>
          </p:cNvSpPr>
          <p:nvPr/>
        </p:nvSpPr>
        <p:spPr>
          <a:xfrm xmlns:a="http://schemas.openxmlformats.org/drawingml/2006/main">
            <a:off x="9715500" y="485775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350" b="1">
                <a:solidFill>
                  <a:srgbClr val="FF6F61"/>
                </a:solidFill>
                <a:latin typeface="Aptos"/>
                <a:ea typeface="Aptos"/>
                <a:cs typeface="Aptos"/>
              </a:defRPr>
            </a:pPr>
            <a:r>
              <a:rPr sz="1350" b="1">
                <a:solidFill>
                  <a:srgbClr val="FF6F61"/>
                </a:solidFill>
                <a:latin typeface="Aptos"/>
                <a:ea typeface="Aptos"/>
                <a:cs typeface="Aptos"/>
              </a:rPr>
              <a:t>35</a:t>
            </a:r>
          </a:p>
        </p:txBody>
      </p:sp>
      <p:sp>
        <p:nvSpPr>
          <p:cNvPr id="50" name="">
            <a:extLst xmlns:a="http://schemas.openxmlformats.org/drawingml/2006/main">
              <a:ext uri="{FF2B5EF4-FFF2-40B4-BE49-F238E27FC236}">
                <a16:creationId xmlns:a16="http://schemas.microsoft.com/office/drawing/2014/main" id="{50E0C69D-BCD4-4B0B-99C2-0D5A0574B6E6}"/>
              </a:ext>
            </a:extLst>
          </p:cNvPr>
          <p:cNvSpPr>
            <a:spLocks xmlns:a="http://schemas.openxmlformats.org/drawingml/2006/main" noGrp="1"/>
          </p:cNvSpPr>
          <p:nvPr/>
        </p:nvSpPr>
        <p:spPr>
          <a:xfrm xmlns:a="http://schemas.openxmlformats.org/drawingml/2006/main">
            <a:off x="10210800" y="490537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0">
                <a:solidFill>
                  <a:srgbClr val="626A78"/>
                </a:solidFill>
                <a:latin typeface="Aptos"/>
                <a:ea typeface="Aptos"/>
                <a:cs typeface="Aptos"/>
              </a:defRPr>
            </a:pPr>
            <a:r>
              <a:rPr sz="825" b="0">
                <a:solidFill>
                  <a:srgbClr val="626A78"/>
                </a:solidFill>
                <a:latin typeface="Aptos"/>
                <a:ea typeface="Aptos"/>
                <a:cs typeface="Aptos"/>
              </a:rPr>
              <a:t>/100</a:t>
            </a:r>
          </a:p>
        </p:txBody>
      </p:sp>
      <p:sp>
        <p:nvSpPr>
          <p:cNvPr id="51" name="">
            <a:extLst xmlns:a="http://schemas.openxmlformats.org/drawingml/2006/main">
              <a:ext uri="{FF2B5EF4-FFF2-40B4-BE49-F238E27FC236}">
                <a16:creationId xmlns:a16="http://schemas.microsoft.com/office/drawing/2014/main" id="{4D2B3EBF-1F97-43B2-BC48-4A2BEEA95CD9}"/>
              </a:ext>
            </a:extLst>
          </p:cNvPr>
          <p:cNvSpPr>
            <a:spLocks xmlns:a="http://schemas.openxmlformats.org/drawingml/2006/main" noGrp="1"/>
          </p:cNvSpPr>
          <p:nvPr/>
        </p:nvSpPr>
        <p:spPr>
          <a:xfrm xmlns:a="http://schemas.openxmlformats.org/drawingml/2006/main">
            <a:off x="685800" y="53721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a:solidFill>
                  <a:srgbClr val="101827"/>
                </a:solidFill>
                <a:latin typeface="Aptos"/>
                <a:ea typeface="Aptos"/>
                <a:cs typeface="Aptos"/>
              </a:defRPr>
            </a:pPr>
            <a:r>
              <a:rPr sz="1200" b="1">
                <a:solidFill>
                  <a:srgbClr val="101827"/>
                </a:solidFill>
                <a:latin typeface="Aptos"/>
                <a:ea typeface="Aptos"/>
                <a:cs typeface="Aptos"/>
              </a:rPr>
              <a:t>Launch operations</a:t>
            </a:r>
          </a:p>
        </p:txBody>
      </p:sp>
      <p:sp>
        <p:nvSpPr>
          <p:cNvPr id="52" name="">
            <a:extLst xmlns:a="http://schemas.openxmlformats.org/drawingml/2006/main">
              <a:ext uri="{FF2B5EF4-FFF2-40B4-BE49-F238E27FC236}">
                <a16:creationId xmlns:a16="http://schemas.microsoft.com/office/drawing/2014/main" id="{A6AE1035-EE0B-40F9-8946-B1DD220F16A4}"/>
              </a:ext>
            </a:extLst>
          </p:cNvPr>
          <p:cNvSpPr>
            <a:spLocks xmlns:a="http://schemas.openxmlformats.org/drawingml/2006/main" noGrp="1"/>
          </p:cNvSpPr>
          <p:nvPr/>
        </p:nvSpPr>
        <p:spPr>
          <a:xfrm xmlns:a="http://schemas.openxmlformats.org/drawingml/2006/main">
            <a:off x="2781300" y="5400675"/>
            <a:ext cx="6762750" cy="152400"/>
          </a:xfrm>
          <a:prstGeom xmlns:a="http://schemas.openxmlformats.org/drawingml/2006/main" prst="roundRect">
            <a:avLst>
              <a:gd name="adj" fmla="val 50000"/>
            </a:avLst>
          </a:prstGeom>
          <a:solidFill xmlns:a="http://schemas.openxmlformats.org/drawingml/2006/main">
            <a:srgbClr val="D8DCE3"/>
          </a:solidFill>
          <a:ln xmlns:a="http://schemas.openxmlformats.org/drawingml/2006/main" w="0">
            <a:solidFill>
              <a:srgbClr val="D8DCE3"/>
            </a:solidFill>
            <a:prstDash val="solid"/>
          </a:ln>
        </p:spPr>
      </p:sp>
      <p:sp>
        <p:nvSpPr>
          <p:cNvPr id="53" name="">
            <a:extLst xmlns:a="http://schemas.openxmlformats.org/drawingml/2006/main">
              <a:ext uri="{FF2B5EF4-FFF2-40B4-BE49-F238E27FC236}">
                <a16:creationId xmlns:a16="http://schemas.microsoft.com/office/drawing/2014/main" id="{717AC2BB-187F-46A2-9192-12B1E7AF7FCF}"/>
              </a:ext>
            </a:extLst>
          </p:cNvPr>
          <p:cNvSpPr>
            <a:spLocks xmlns:a="http://schemas.openxmlformats.org/drawingml/2006/main" noGrp="1"/>
          </p:cNvSpPr>
          <p:nvPr/>
        </p:nvSpPr>
        <p:spPr>
          <a:xfrm xmlns:a="http://schemas.openxmlformats.org/drawingml/2006/main">
            <a:off x="2781300" y="5400675"/>
            <a:ext cx="1352550" cy="152400"/>
          </a:xfrm>
          <a:prstGeom xmlns:a="http://schemas.openxmlformats.org/drawingml/2006/main" prst="roundRect">
            <a:avLst>
              <a:gd name="adj" fmla="val 50000"/>
            </a:avLst>
          </a:prstGeom>
          <a:solidFill xmlns:a="http://schemas.openxmlformats.org/drawingml/2006/main">
            <a:srgbClr val="FF6F61"/>
          </a:solidFill>
          <a:ln xmlns:a="http://schemas.openxmlformats.org/drawingml/2006/main" w="0">
            <a:solidFill>
              <a:srgbClr val="FF6F61"/>
            </a:solidFill>
            <a:prstDash val="solid"/>
          </a:ln>
        </p:spPr>
      </p:sp>
      <p:sp>
        <p:nvSpPr>
          <p:cNvPr id="54" name="">
            <a:extLst xmlns:a="http://schemas.openxmlformats.org/drawingml/2006/main">
              <a:ext uri="{FF2B5EF4-FFF2-40B4-BE49-F238E27FC236}">
                <a16:creationId xmlns:a16="http://schemas.microsoft.com/office/drawing/2014/main" id="{B82F0F60-0969-4173-ACD8-7C4B59B9F18B}"/>
              </a:ext>
            </a:extLst>
          </p:cNvPr>
          <p:cNvSpPr>
            <a:spLocks xmlns:a="http://schemas.openxmlformats.org/drawingml/2006/main" noGrp="1"/>
          </p:cNvSpPr>
          <p:nvPr/>
        </p:nvSpPr>
        <p:spPr>
          <a:xfrm xmlns:a="http://schemas.openxmlformats.org/drawingml/2006/main">
            <a:off x="9715500" y="53340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350" b="1">
                <a:solidFill>
                  <a:srgbClr val="FF6F61"/>
                </a:solidFill>
                <a:latin typeface="Aptos"/>
                <a:ea typeface="Aptos"/>
                <a:cs typeface="Aptos"/>
              </a:defRPr>
            </a:pPr>
            <a:r>
              <a:rPr sz="1350" b="1">
                <a:solidFill>
                  <a:srgbClr val="FF6F61"/>
                </a:solidFill>
                <a:latin typeface="Aptos"/>
                <a:ea typeface="Aptos"/>
                <a:cs typeface="Aptos"/>
              </a:rPr>
              <a:t>20</a:t>
            </a:r>
          </a:p>
        </p:txBody>
      </p:sp>
      <p:sp>
        <p:nvSpPr>
          <p:cNvPr id="55" name="">
            <a:extLst xmlns:a="http://schemas.openxmlformats.org/drawingml/2006/main">
              <a:ext uri="{FF2B5EF4-FFF2-40B4-BE49-F238E27FC236}">
                <a16:creationId xmlns:a16="http://schemas.microsoft.com/office/drawing/2014/main" id="{8BF55AE8-6DD8-4BBB-8BCC-F3228BA14482}"/>
              </a:ext>
            </a:extLst>
          </p:cNvPr>
          <p:cNvSpPr>
            <a:spLocks xmlns:a="http://schemas.openxmlformats.org/drawingml/2006/main" noGrp="1"/>
          </p:cNvSpPr>
          <p:nvPr/>
        </p:nvSpPr>
        <p:spPr>
          <a:xfrm xmlns:a="http://schemas.openxmlformats.org/drawingml/2006/main">
            <a:off x="10210800" y="538162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0">
                <a:solidFill>
                  <a:srgbClr val="626A78"/>
                </a:solidFill>
                <a:latin typeface="Aptos"/>
                <a:ea typeface="Aptos"/>
                <a:cs typeface="Aptos"/>
              </a:defRPr>
            </a:pPr>
            <a:r>
              <a:rPr sz="825" b="0">
                <a:solidFill>
                  <a:srgbClr val="626A78"/>
                </a:solidFill>
                <a:latin typeface="Aptos"/>
                <a:ea typeface="Aptos"/>
                <a:cs typeface="Aptos"/>
              </a:rPr>
              <a:t>/100</a:t>
            </a:r>
          </a:p>
        </p:txBody>
      </p:sp>
      <p:sp>
        <p:nvSpPr>
          <p:cNvPr id="56" name="">
            <a:extLst xmlns:a="http://schemas.openxmlformats.org/drawingml/2006/main">
              <a:ext uri="{FF2B5EF4-FFF2-40B4-BE49-F238E27FC236}">
                <a16:creationId xmlns:a16="http://schemas.microsoft.com/office/drawing/2014/main" id="{55FE71EB-D048-4D01-990E-119D9B49939D}"/>
              </a:ext>
            </a:extLst>
          </p:cNvPr>
          <p:cNvSpPr>
            <a:spLocks xmlns:a="http://schemas.openxmlformats.org/drawingml/2006/main" noGrp="1"/>
          </p:cNvSpPr>
          <p:nvPr/>
        </p:nvSpPr>
        <p:spPr>
          <a:xfrm xmlns:a="http://schemas.openxmlformats.org/drawingml/2006/main">
            <a:off x="10744200" y="1524000"/>
            <a:ext cx="876300" cy="3962400"/>
          </a:xfrm>
          <a:prstGeom xmlns:a="http://schemas.openxmlformats.org/drawingml/2006/main" prst="roundRect">
            <a:avLst>
              <a:gd name="adj" fmla="val 19565"/>
            </a:avLst>
          </a:prstGeom>
          <a:solidFill xmlns:a="http://schemas.openxmlformats.org/drawingml/2006/main">
            <a:srgbClr val="0D1321"/>
          </a:solidFill>
          <a:ln xmlns:a="http://schemas.openxmlformats.org/drawingml/2006/main" w="0">
            <a:solidFill>
              <a:srgbClr val="0D1321"/>
            </a:solidFill>
            <a:prstDash val="solid"/>
          </a:ln>
        </p:spPr>
      </p:sp>
      <p:sp>
        <p:nvSpPr>
          <p:cNvPr id="57" name="">
            <a:extLst xmlns:a="http://schemas.openxmlformats.org/drawingml/2006/main">
              <a:ext uri="{FF2B5EF4-FFF2-40B4-BE49-F238E27FC236}">
                <a16:creationId xmlns:a16="http://schemas.microsoft.com/office/drawing/2014/main" id="{DFE6CCCA-95B7-4CFA-87D7-D50194AF411C}"/>
              </a:ext>
            </a:extLst>
          </p:cNvPr>
          <p:cNvSpPr>
            <a:spLocks xmlns:a="http://schemas.openxmlformats.org/drawingml/2006/main" noGrp="1"/>
          </p:cNvSpPr>
          <p:nvPr/>
        </p:nvSpPr>
        <p:spPr>
          <a:xfrm xmlns:a="http://schemas.openxmlformats.org/drawingml/2006/main">
            <a:off x="10896600" y="1790700"/>
            <a:ext cx="571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1125" b="1">
                <a:solidFill>
                  <a:srgbClr val="F2B94B"/>
                </a:solidFill>
                <a:latin typeface="Aptos"/>
                <a:ea typeface="Aptos"/>
                <a:cs typeface="Aptos"/>
              </a:defRPr>
            </a:pPr>
            <a:r>
              <a:rPr sz="1125" b="1">
                <a:solidFill>
                  <a:srgbClr val="F2B94B"/>
                </a:solidFill>
                <a:latin typeface="Aptos"/>
                <a:ea typeface="Aptos"/>
                <a:cs typeface="Aptos"/>
              </a:rPr>
              <a:t>WHAT</a:t>
            </a:r>
          </a:p>
          <a:p xmlns:a="http://schemas.openxmlformats.org/drawingml/2006/main">
            <a:pPr algn="ctr">
              <a:lnSpc>
                <a:spcPct val="112000"/>
              </a:lnSpc>
              <a:buNone/>
              <a:defRPr sz="1125" b="1">
                <a:solidFill>
                  <a:srgbClr val="F2B94B"/>
                </a:solidFill>
                <a:latin typeface="Aptos"/>
                <a:ea typeface="Aptos"/>
                <a:cs typeface="Aptos"/>
              </a:defRPr>
            </a:pPr>
            <a:r>
              <a:rPr sz="1125" b="1">
                <a:solidFill>
                  <a:srgbClr val="F2B94B"/>
                </a:solidFill>
                <a:latin typeface="Aptos"/>
                <a:ea typeface="Aptos"/>
                <a:cs typeface="Aptos"/>
              </a:rPr>
              <a:t>THE</a:t>
            </a:r>
          </a:p>
          <a:p xmlns:a="http://schemas.openxmlformats.org/drawingml/2006/main">
            <a:pPr algn="ctr">
              <a:lnSpc>
                <a:spcPct val="112000"/>
              </a:lnSpc>
              <a:buNone/>
              <a:defRPr sz="1125" b="1">
                <a:solidFill>
                  <a:srgbClr val="F2B94B"/>
                </a:solidFill>
                <a:latin typeface="Aptos"/>
                <a:ea typeface="Aptos"/>
                <a:cs typeface="Aptos"/>
              </a:defRPr>
            </a:pPr>
            <a:r>
              <a:rPr sz="1125" b="1">
                <a:solidFill>
                  <a:srgbClr val="F2B94B"/>
                </a:solidFill>
                <a:latin typeface="Aptos"/>
                <a:ea typeface="Aptos"/>
                <a:cs typeface="Aptos"/>
              </a:rPr>
              <a:t>SCORE</a:t>
            </a:r>
          </a:p>
          <a:p xmlns:a="http://schemas.openxmlformats.org/drawingml/2006/main">
            <a:pPr algn="ctr">
              <a:lnSpc>
                <a:spcPct val="112000"/>
              </a:lnSpc>
              <a:buNone/>
              <a:defRPr sz="1125" b="1">
                <a:solidFill>
                  <a:srgbClr val="F2B94B"/>
                </a:solidFill>
                <a:latin typeface="Aptos"/>
                <a:ea typeface="Aptos"/>
                <a:cs typeface="Aptos"/>
              </a:defRPr>
            </a:pPr>
            <a:r>
              <a:rPr sz="1125" b="1">
                <a:solidFill>
                  <a:srgbClr val="F2B94B"/>
                </a:solidFill>
                <a:latin typeface="Aptos"/>
                <a:ea typeface="Aptos"/>
                <a:cs typeface="Aptos"/>
              </a:rPr>
              <a:t>MEANS</a:t>
            </a:r>
          </a:p>
        </p:txBody>
      </p:sp>
      <p:sp>
        <p:nvSpPr>
          <p:cNvPr id="58" name="">
            <a:extLst xmlns:a="http://schemas.openxmlformats.org/drawingml/2006/main">
              <a:ext uri="{FF2B5EF4-FFF2-40B4-BE49-F238E27FC236}">
                <a16:creationId xmlns:a16="http://schemas.microsoft.com/office/drawing/2014/main" id="{64930C79-C2D4-439A-928B-3CE816F610EF}"/>
              </a:ext>
            </a:extLst>
          </p:cNvPr>
          <p:cNvSpPr>
            <a:spLocks xmlns:a="http://schemas.openxmlformats.org/drawingml/2006/main" noGrp="1"/>
          </p:cNvSpPr>
          <p:nvPr/>
        </p:nvSpPr>
        <p:spPr>
          <a:xfrm xmlns:a="http://schemas.openxmlformats.org/drawingml/2006/main">
            <a:off x="10896600" y="3305175"/>
            <a:ext cx="5715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975" b="1">
                <a:solidFill>
                  <a:srgbClr val="FFFFFF"/>
                </a:solidFill>
                <a:latin typeface="Aptos"/>
                <a:ea typeface="Aptos"/>
                <a:cs typeface="Aptos"/>
              </a:defRPr>
            </a:pPr>
            <a:r>
              <a:rPr sz="975" b="1">
                <a:solidFill>
                  <a:srgbClr val="FFFFFF"/>
                </a:solidFill>
                <a:latin typeface="Aptos"/>
                <a:ea typeface="Aptos"/>
                <a:cs typeface="Aptos"/>
              </a:rPr>
              <a:t>Built</a:t>
            </a:r>
          </a:p>
          <a:p xmlns:a="http://schemas.openxmlformats.org/drawingml/2006/main">
            <a:r>
              <a:t/>
            </a:r>
          </a:p>
          <a:p xmlns:a="http://schemas.openxmlformats.org/drawingml/2006/main">
            <a:pPr algn="ctr">
              <a:lnSpc>
                <a:spcPct val="105000"/>
              </a:lnSpc>
              <a:buNone/>
              <a:defRPr sz="975" b="1">
                <a:solidFill>
                  <a:srgbClr val="FFFFFF"/>
                </a:solidFill>
                <a:latin typeface="Aptos"/>
                <a:ea typeface="Aptos"/>
                <a:cs typeface="Aptos"/>
              </a:defRPr>
            </a:pPr>
            <a:r>
              <a:rPr sz="975" b="1">
                <a:solidFill>
                  <a:srgbClr val="FFFFFF"/>
                </a:solidFill>
                <a:latin typeface="Aptos"/>
                <a:ea typeface="Aptos"/>
                <a:cs typeface="Aptos"/>
              </a:rPr>
              <a:t>Partial</a:t>
            </a:r>
          </a:p>
          <a:p xmlns:a="http://schemas.openxmlformats.org/drawingml/2006/main">
            <a:r>
              <a:t/>
            </a:r>
          </a:p>
          <a:p xmlns:a="http://schemas.openxmlformats.org/drawingml/2006/main">
            <a:pPr algn="ctr">
              <a:lnSpc>
                <a:spcPct val="105000"/>
              </a:lnSpc>
              <a:buNone/>
              <a:defRPr sz="975" b="1">
                <a:solidFill>
                  <a:srgbClr val="FFFFFF"/>
                </a:solidFill>
                <a:latin typeface="Aptos"/>
                <a:ea typeface="Aptos"/>
                <a:cs typeface="Aptos"/>
              </a:defRPr>
            </a:pPr>
            <a:r>
              <a:rPr sz="975" b="1">
                <a:solidFill>
                  <a:srgbClr val="FFFFFF"/>
                </a:solidFill>
                <a:latin typeface="Aptos"/>
                <a:ea typeface="Aptos"/>
                <a:cs typeface="Aptos"/>
              </a:rPr>
              <a:t>Blocked</a:t>
            </a:r>
          </a:p>
          <a:p xmlns:a="http://schemas.openxmlformats.org/drawingml/2006/main">
            <a:r>
              <a:t/>
            </a:r>
          </a:p>
          <a:p xmlns:a="http://schemas.openxmlformats.org/drawingml/2006/main">
            <a:pPr algn="ctr">
              <a:lnSpc>
                <a:spcPct val="105000"/>
              </a:lnSpc>
              <a:buNone/>
              <a:defRPr sz="975" b="1">
                <a:solidFill>
                  <a:srgbClr val="FFFFFF"/>
                </a:solidFill>
                <a:latin typeface="Aptos"/>
                <a:ea typeface="Aptos"/>
                <a:cs typeface="Aptos"/>
              </a:defRPr>
            </a:pPr>
            <a:r>
              <a:rPr sz="975" b="1">
                <a:solidFill>
                  <a:srgbClr val="FFFFFF"/>
                </a:solidFill>
                <a:latin typeface="Aptos"/>
                <a:ea typeface="Aptos"/>
                <a:cs typeface="Aptos"/>
              </a:rPr>
              <a:t>Verify</a:t>
            </a:r>
          </a:p>
        </p:txBody>
      </p:sp>
      <p:sp>
        <p:nvSpPr>
          <p:cNvPr id="59" name="">
            <a:extLst xmlns:a="http://schemas.openxmlformats.org/drawingml/2006/main">
              <a:ext uri="{FF2B5EF4-FFF2-40B4-BE49-F238E27FC236}">
                <a16:creationId xmlns:a16="http://schemas.microsoft.com/office/drawing/2014/main" id="{3C2B004D-FDE6-4E23-AFE8-6AFA25DC3029}"/>
              </a:ext>
            </a:extLst>
          </p:cNvPr>
          <p:cNvSpPr>
            <a:spLocks xmlns:a="http://schemas.openxmlformats.org/drawingml/2006/main" noGrp="1"/>
          </p:cNvSpPr>
          <p:nvPr/>
        </p:nvSpPr>
        <p:spPr>
          <a:xfrm xmlns:a="http://schemas.openxmlformats.org/drawingml/2006/main">
            <a:off x="685800" y="6019800"/>
            <a:ext cx="895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75" b="0">
                <a:solidFill>
                  <a:srgbClr val="626A78"/>
                </a:solidFill>
                <a:latin typeface="Aptos"/>
                <a:ea typeface="Aptos"/>
                <a:cs typeface="Aptos"/>
              </a:defRPr>
            </a:pPr>
            <a:r>
              <a:rPr sz="975" b="0">
                <a:solidFill>
                  <a:srgbClr val="626A78"/>
                </a:solidFill>
                <a:latin typeface="Aptos"/>
                <a:ea typeface="Aptos"/>
                <a:cs typeface="Aptos"/>
              </a:rPr>
              <a:t>Rubric based on mounted code, live configuration and operational proof—not volume of files or feature concepts.</a:t>
            </a:r>
          </a:p>
        </p:txBody>
      </p:sp>
    </p:spTree>
    <p:extLst>
      <p:ext uri="{BB962C8B-B14F-4D97-AF65-F5344CB8AC3E}">
        <p14:creationId xmlns:p14="http://schemas.microsoft.com/office/powerpoint/2010/main" val="1314659006"/>
      </p:ext>
    </p:extLst>
  </p:cSld>
</p:sld>
</file>

<file path=ppt/slides/slide8.xml><?xml version="1.0" encoding="utf-8"?>
<p:sld xmlns:p="http://schemas.openxmlformats.org/presentationml/2006/main">
  <p:cSld>
    <p:bg>
      <p:bgPr>
        <a:solidFill xmlns:a="http://schemas.openxmlformats.org/drawingml/2006/main">
          <a:srgbClr val="0D1321"/>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7325290D-2420-43E7-BF83-96962BF0B4DB}"/>
              </a:ext>
            </a:extLst>
          </p:cNvPr>
          <p:cNvSpPr>
            <a:spLocks xmlns:a="http://schemas.openxmlformats.org/drawingml/2006/main" noGrp="1"/>
          </p:cNvSpPr>
          <p:nvPr/>
        </p:nvSpPr>
        <p:spPr>
          <a:xfrm xmlns:a="http://schemas.openxmlformats.org/drawingml/2006/main">
            <a:off x="552450" y="419100"/>
            <a:ext cx="514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a:solidFill>
                  <a:srgbClr val="F2B94B"/>
                </a:solidFill>
                <a:latin typeface="Aptos"/>
                <a:ea typeface="Aptos"/>
                <a:cs typeface="Aptos"/>
              </a:defRPr>
            </a:pPr>
            <a:r>
              <a:rPr sz="900" b="1">
                <a:solidFill>
                  <a:srgbClr val="F2B94B"/>
                </a:solidFill>
                <a:latin typeface="Aptos"/>
                <a:ea typeface="Aptos"/>
                <a:cs typeface="Aptos"/>
              </a:rPr>
              <a:t>08</a:t>
            </a:r>
          </a:p>
        </p:txBody>
      </p:sp>
      <p:sp>
        <p:nvSpPr>
          <p:cNvPr id="2" name="">
            <a:extLst xmlns:a="http://schemas.openxmlformats.org/drawingml/2006/main">
              <a:ext uri="{FF2B5EF4-FFF2-40B4-BE49-F238E27FC236}">
                <a16:creationId xmlns:a16="http://schemas.microsoft.com/office/drawing/2014/main" id="{8426C479-5A7C-44F4-AAAC-2A52B7868E7F}"/>
              </a:ext>
            </a:extLst>
          </p:cNvPr>
          <p:cNvSpPr>
            <a:spLocks xmlns:a="http://schemas.openxmlformats.org/drawingml/2006/main" noGrp="1"/>
          </p:cNvSpPr>
          <p:nvPr/>
        </p:nvSpPr>
        <p:spPr>
          <a:xfrm xmlns:a="http://schemas.openxmlformats.org/drawingml/2006/main">
            <a:off x="1104900" y="542925"/>
            <a:ext cx="476250" cy="0"/>
          </a:xfrm>
          <a:prstGeom xmlns:a="http://schemas.openxmlformats.org/drawingml/2006/main" prst="line">
            <a:avLst/>
          </a:prstGeom>
          <a:noFill xmlns:a="http://schemas.openxmlformats.org/drawingml/2006/main"/>
          <a:ln xmlns:a="http://schemas.openxmlformats.org/drawingml/2006/main" w="9525">
            <a:solidFill>
              <a:srgbClr val="425066"/>
            </a:solidFill>
            <a:prstDash val="solid"/>
          </a:ln>
        </p:spPr>
      </p:sp>
      <p:sp>
        <p:nvSpPr>
          <p:cNvPr id="3" name="">
            <a:extLst xmlns:a="http://schemas.openxmlformats.org/drawingml/2006/main">
              <a:ext uri="{FF2B5EF4-FFF2-40B4-BE49-F238E27FC236}">
                <a16:creationId xmlns:a16="http://schemas.microsoft.com/office/drawing/2014/main" id="{E0746DAB-6A5A-486A-A04D-9FD6B5C6987D}"/>
              </a:ext>
            </a:extLst>
          </p:cNvPr>
          <p:cNvSpPr>
            <a:spLocks xmlns:a="http://schemas.openxmlformats.org/drawingml/2006/main" noGrp="1"/>
          </p:cNvSpPr>
          <p:nvPr/>
        </p:nvSpPr>
        <p:spPr>
          <a:xfrm xmlns:a="http://schemas.openxmlformats.org/drawingml/2006/main">
            <a:off x="1733550" y="323850"/>
            <a:ext cx="704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375" b="1">
                <a:solidFill>
                  <a:srgbClr val="FFFFFF"/>
                </a:solidFill>
                <a:latin typeface="Aptos Display"/>
                <a:ea typeface="Aptos Display"/>
                <a:cs typeface="Aptos Display"/>
              </a:defRPr>
            </a:pPr>
            <a:r>
              <a:rPr sz="3375" b="1">
                <a:solidFill>
                  <a:srgbClr val="FFFFFF"/>
                </a:solidFill>
                <a:latin typeface="Aptos Display"/>
                <a:ea typeface="Aptos Display"/>
                <a:cs typeface="Aptos Display"/>
              </a:rPr>
              <a:t>GTM: win a neighborhood first</a:t>
            </a:r>
          </a:p>
        </p:txBody>
      </p:sp>
      <p:sp>
        <p:nvSpPr>
          <p:cNvPr id="4" name="">
            <a:extLst xmlns:a="http://schemas.openxmlformats.org/drawingml/2006/main">
              <a:ext uri="{FF2B5EF4-FFF2-40B4-BE49-F238E27FC236}">
                <a16:creationId xmlns:a16="http://schemas.microsoft.com/office/drawing/2014/main" id="{55B29E2F-CB29-4141-B50F-0BD1B8E89D3A}"/>
              </a:ext>
            </a:extLst>
          </p:cNvPr>
          <p:cNvSpPr>
            <a:spLocks xmlns:a="http://schemas.openxmlformats.org/drawingml/2006/main" noGrp="1"/>
          </p:cNvSpPr>
          <p:nvPr/>
        </p:nvSpPr>
        <p:spPr>
          <a:xfrm xmlns:a="http://schemas.openxmlformats.org/drawingml/2006/main">
            <a:off x="1752600" y="866775"/>
            <a:ext cx="7715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0">
                <a:solidFill>
                  <a:srgbClr val="AEB7C6"/>
                </a:solidFill>
                <a:latin typeface="Aptos"/>
                <a:ea typeface="Aptos"/>
                <a:cs typeface="Aptos"/>
              </a:defRPr>
            </a:pPr>
            <a:r>
              <a:rPr sz="1350" b="0">
                <a:solidFill>
                  <a:srgbClr val="AEB7C6"/>
                </a:solidFill>
                <a:latin typeface="Aptos"/>
                <a:ea typeface="Aptos"/>
                <a:cs typeface="Aptos"/>
              </a:rPr>
              <a:t>Concentrate partners, quests and collateral so the first cohort can feel density in one afternoon.</a:t>
            </a:r>
          </a:p>
        </p:txBody>
      </p:sp>
      <p:sp>
        <p:nvSpPr>
          <p:cNvPr id="5" name="">
            <a:extLst xmlns:a="http://schemas.openxmlformats.org/drawingml/2006/main">
              <a:ext uri="{FF2B5EF4-FFF2-40B4-BE49-F238E27FC236}">
                <a16:creationId xmlns:a16="http://schemas.microsoft.com/office/drawing/2014/main" id="{EC79CACA-4E3D-4C30-AAAD-B269C25E8AC8}"/>
              </a:ext>
            </a:extLst>
          </p:cNvPr>
          <p:cNvSpPr>
            <a:spLocks xmlns:a="http://schemas.openxmlformats.org/drawingml/2006/main" noGrp="1"/>
          </p:cNvSpPr>
          <p:nvPr/>
        </p:nvSpPr>
        <p:spPr>
          <a:xfrm xmlns:a="http://schemas.openxmlformats.org/drawingml/2006/main">
            <a:off x="11210925" y="381000"/>
            <a:ext cx="275082" cy="325755"/>
          </a:xfrm>
          <a:prstGeom xmlns:a="http://schemas.openxmlformats.org/drawingml/2006/main" prst="roundRect">
            <a:avLst>
              <a:gd name="adj" fmla="val 47368"/>
            </a:avLst>
          </a:prstGeom>
          <a:noFill xmlns:a="http://schemas.openxmlformats.org/drawingml/2006/main"/>
          <a:ln xmlns:a="http://schemas.openxmlformats.org/drawingml/2006/main" w="28956">
            <a:solidFill>
              <a:srgbClr val="FFFFFF"/>
            </a:solidFill>
            <a:prstDash val="solid"/>
          </a:ln>
        </p:spPr>
      </p:sp>
      <p:sp>
        <p:nvSpPr>
          <p:cNvPr id="6" name="">
            <a:extLst xmlns:a="http://schemas.openxmlformats.org/drawingml/2006/main">
              <a:ext uri="{FF2B5EF4-FFF2-40B4-BE49-F238E27FC236}">
                <a16:creationId xmlns:a16="http://schemas.microsoft.com/office/drawing/2014/main" id="{438DDEA9-108E-4381-AFB1-CEF1A3DA2E95}"/>
              </a:ext>
            </a:extLst>
          </p:cNvPr>
          <p:cNvSpPr>
            <a:spLocks xmlns:a="http://schemas.openxmlformats.org/drawingml/2006/main" noGrp="1"/>
          </p:cNvSpPr>
          <p:nvPr/>
        </p:nvSpPr>
        <p:spPr>
          <a:xfrm xmlns:a="http://schemas.openxmlformats.org/drawingml/2006/main">
            <a:off x="11247120" y="598170"/>
            <a:ext cx="202692" cy="130302"/>
          </a:xfrm>
          <a:prstGeom xmlns:a="http://schemas.openxmlformats.org/drawingml/2006/main" prst="triangle">
            <a:avLst/>
          </a:prstGeom>
          <a:solidFill xmlns:a="http://schemas.openxmlformats.org/drawingml/2006/main">
            <a:srgbClr val="FFFFFF"/>
          </a:solidFill>
          <a:ln xmlns:a="http://schemas.openxmlformats.org/drawingml/2006/main" w="0">
            <a:solidFill>
              <a:srgbClr val="FFFFFF"/>
            </a:solidFill>
            <a:prstDash val="solid"/>
          </a:ln>
        </p:spPr>
      </p:sp>
      <p:sp>
        <p:nvSpPr>
          <p:cNvPr id="7" name="">
            <a:extLst xmlns:a="http://schemas.openxmlformats.org/drawingml/2006/main">
              <a:ext uri="{FF2B5EF4-FFF2-40B4-BE49-F238E27FC236}">
                <a16:creationId xmlns:a16="http://schemas.microsoft.com/office/drawing/2014/main" id="{B971B045-EBA9-41FD-B403-EF0F9EF87DD2}"/>
              </a:ext>
            </a:extLst>
          </p:cNvPr>
          <p:cNvSpPr>
            <a:spLocks xmlns:a="http://schemas.openxmlformats.org/drawingml/2006/main" noGrp="1"/>
          </p:cNvSpPr>
          <p:nvPr/>
        </p:nvSpPr>
        <p:spPr>
          <a:xfrm xmlns:a="http://schemas.openxmlformats.org/drawingml/2006/main">
            <a:off x="11290554" y="424434"/>
            <a:ext cx="115824" cy="1158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627" b="1">
                <a:solidFill>
                  <a:srgbClr val="FFFFFF"/>
                </a:solidFill>
                <a:latin typeface="Aptos"/>
                <a:ea typeface="Aptos"/>
                <a:cs typeface="Aptos"/>
              </a:defRPr>
            </a:pPr>
            <a:r>
              <a:rPr sz="627" b="1">
                <a:solidFill>
                  <a:srgbClr val="FFFFFF"/>
                </a:solidFill>
                <a:latin typeface="Aptos"/>
                <a:ea typeface="Aptos"/>
                <a:cs typeface="Aptos"/>
              </a:rPr>
              <a:t>✦</a:t>
            </a:r>
          </a:p>
        </p:txBody>
      </p:sp>
      <p:sp>
        <p:nvSpPr>
          <p:cNvPr id="8" name="">
            <a:extLst xmlns:a="http://schemas.openxmlformats.org/drawingml/2006/main">
              <a:ext uri="{FF2B5EF4-FFF2-40B4-BE49-F238E27FC236}">
                <a16:creationId xmlns:a16="http://schemas.microsoft.com/office/drawing/2014/main" id="{6D36BD8F-B8A6-4891-84BA-EF1CD6CD9D0F}"/>
              </a:ext>
            </a:extLst>
          </p:cNvPr>
          <p:cNvSpPr>
            <a:spLocks xmlns:a="http://schemas.openxmlformats.org/drawingml/2006/main" noGrp="1"/>
          </p:cNvSpPr>
          <p:nvPr/>
        </p:nvSpPr>
        <p:spPr>
          <a:xfrm xmlns:a="http://schemas.openxmlformats.org/drawingml/2006/main">
            <a:off x="10144125" y="828675"/>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200" b="1">
                <a:solidFill>
                  <a:srgbClr val="FFFFFF"/>
                </a:solidFill>
                <a:latin typeface="Aptos"/>
                <a:ea typeface="Aptos"/>
                <a:cs typeface="Aptos"/>
              </a:defRPr>
            </a:pPr>
            <a:r>
              <a:rPr sz="1200" b="1">
                <a:solidFill>
                  <a:srgbClr val="FFFFFF"/>
                </a:solidFill>
                <a:latin typeface="Aptos"/>
                <a:ea typeface="Aptos"/>
                <a:cs typeface="Aptos"/>
              </a:rPr>
              <a:t>sidequests</a:t>
            </a:r>
          </a:p>
        </p:txBody>
      </p:sp>
      <p:sp>
        <p:nvSpPr>
          <p:cNvPr id="9" name="">
            <a:extLst xmlns:a="http://schemas.openxmlformats.org/drawingml/2006/main">
              <a:ext uri="{FF2B5EF4-FFF2-40B4-BE49-F238E27FC236}">
                <a16:creationId xmlns:a16="http://schemas.microsoft.com/office/drawing/2014/main" id="{74874C2B-FE4F-4432-B940-F10FE76FC57F}"/>
              </a:ext>
            </a:extLst>
          </p:cNvPr>
          <p:cNvSpPr>
            <a:spLocks xmlns:a="http://schemas.openxmlformats.org/drawingml/2006/main" noGrp="1"/>
          </p:cNvSpPr>
          <p:nvPr/>
        </p:nvSpPr>
        <p:spPr>
          <a:xfrm xmlns:a="http://schemas.openxmlformats.org/drawingml/2006/main">
            <a:off x="552450" y="6543675"/>
            <a:ext cx="4000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675" b="0">
                <a:solidFill>
                  <a:srgbClr val="647083"/>
                </a:solidFill>
                <a:latin typeface="Aptos"/>
                <a:ea typeface="Aptos"/>
                <a:cs typeface="Aptos"/>
              </a:defRPr>
            </a:pPr>
            <a:r>
              <a:rPr sz="675" b="0">
                <a:solidFill>
                  <a:srgbClr val="647083"/>
                </a:solidFill>
                <a:latin typeface="Aptos"/>
                <a:ea typeface="Aptos"/>
                <a:cs typeface="Aptos"/>
              </a:rPr>
              <a:t>Development &amp; launch readiness · 12 Aug 2026</a:t>
            </a:r>
          </a:p>
        </p:txBody>
      </p:sp>
      <p:sp>
        <p:nvSpPr>
          <p:cNvPr id="10" name="">
            <a:extLst xmlns:a="http://schemas.openxmlformats.org/drawingml/2006/main">
              <a:ext uri="{FF2B5EF4-FFF2-40B4-BE49-F238E27FC236}">
                <a16:creationId xmlns:a16="http://schemas.microsoft.com/office/drawing/2014/main" id="{C5C3A6D4-7144-493C-8D4E-E6B97DB97C31}"/>
              </a:ext>
            </a:extLst>
          </p:cNvPr>
          <p:cNvSpPr>
            <a:spLocks xmlns:a="http://schemas.openxmlformats.org/drawingml/2006/main" noGrp="1"/>
          </p:cNvSpPr>
          <p:nvPr/>
        </p:nvSpPr>
        <p:spPr>
          <a:xfrm xmlns:a="http://schemas.openxmlformats.org/drawingml/2006/main">
            <a:off x="11239500" y="6543675"/>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675" b="0">
                <a:solidFill>
                  <a:srgbClr val="647083"/>
                </a:solidFill>
                <a:latin typeface="Aptos"/>
                <a:ea typeface="Aptos"/>
                <a:cs typeface="Aptos"/>
              </a:defRPr>
            </a:pPr>
            <a:r>
              <a:rPr sz="675" b="0">
                <a:solidFill>
                  <a:srgbClr val="647083"/>
                </a:solidFill>
                <a:latin typeface="Aptos"/>
                <a:ea typeface="Aptos"/>
                <a:cs typeface="Aptos"/>
              </a:rPr>
              <a:t>8</a:t>
            </a:r>
          </a:p>
        </p:txBody>
      </p:sp>
      <p:sp>
        <p:nvSpPr>
          <p:cNvPr id="11" name="">
            <a:extLst xmlns:a="http://schemas.openxmlformats.org/drawingml/2006/main">
              <a:ext uri="{FF2B5EF4-FFF2-40B4-BE49-F238E27FC236}">
                <a16:creationId xmlns:a16="http://schemas.microsoft.com/office/drawing/2014/main" id="{971A7C16-B7CB-4E3D-8E97-11E5D800CB78}"/>
              </a:ext>
            </a:extLst>
          </p:cNvPr>
          <p:cNvSpPr>
            <a:spLocks xmlns:a="http://schemas.openxmlformats.org/drawingml/2006/main" noGrp="1"/>
          </p:cNvSpPr>
          <p:nvPr/>
        </p:nvSpPr>
        <p:spPr>
          <a:xfrm xmlns:a="http://schemas.openxmlformats.org/drawingml/2006/main">
            <a:off x="590550" y="1504950"/>
            <a:ext cx="5334000" cy="4591050"/>
          </a:xfrm>
          <a:prstGeom xmlns:a="http://schemas.openxmlformats.org/drawingml/2006/main" prst="roundRect">
            <a:avLst>
              <a:gd name="adj" fmla="val 4979"/>
            </a:avLst>
          </a:prstGeom>
          <a:solidFill xmlns:a="http://schemas.openxmlformats.org/drawingml/2006/main">
            <a:srgbClr val="151F30"/>
          </a:solidFill>
          <a:ln xmlns:a="http://schemas.openxmlformats.org/drawingml/2006/main" w="9525">
            <a:solidFill>
              <a:srgbClr val="2A374A"/>
            </a:solidFill>
            <a:prstDash val="solid"/>
          </a:ln>
        </p:spPr>
      </p:sp>
      <p:sp>
        <p:nvSpPr>
          <p:cNvPr id="12" name="">
            <a:extLst xmlns:a="http://schemas.openxmlformats.org/drawingml/2006/main">
              <a:ext uri="{FF2B5EF4-FFF2-40B4-BE49-F238E27FC236}">
                <a16:creationId xmlns:a16="http://schemas.microsoft.com/office/drawing/2014/main" id="{FFF4010D-E6CA-4796-9804-664CD5EECAE0}"/>
              </a:ext>
            </a:extLst>
          </p:cNvPr>
          <p:cNvSpPr>
            <a:spLocks xmlns:a="http://schemas.openxmlformats.org/drawingml/2006/main" noGrp="1"/>
          </p:cNvSpPr>
          <p:nvPr/>
        </p:nvSpPr>
        <p:spPr>
          <a:xfrm xmlns:a="http://schemas.openxmlformats.org/drawingml/2006/main">
            <a:off x="876300" y="179070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F2B94B"/>
                </a:solidFill>
                <a:latin typeface="Aptos"/>
                <a:ea typeface="Aptos"/>
                <a:cs typeface="Aptos"/>
              </a:defRPr>
            </a:pPr>
            <a:r>
              <a:rPr sz="825" b="1">
                <a:solidFill>
                  <a:srgbClr val="F2B94B"/>
                </a:solidFill>
                <a:latin typeface="Aptos"/>
                <a:ea typeface="Aptos"/>
                <a:cs typeface="Aptos"/>
              </a:rPr>
              <a:t>RECOMMENDED WEDGE</a:t>
            </a:r>
          </a:p>
        </p:txBody>
      </p:sp>
      <p:sp>
        <p:nvSpPr>
          <p:cNvPr id="13" name="">
            <a:extLst xmlns:a="http://schemas.openxmlformats.org/drawingml/2006/main">
              <a:ext uri="{FF2B5EF4-FFF2-40B4-BE49-F238E27FC236}">
                <a16:creationId xmlns:a16="http://schemas.microsoft.com/office/drawing/2014/main" id="{428BFED9-B955-4914-8EE1-D26CA5543DFB}"/>
              </a:ext>
            </a:extLst>
          </p:cNvPr>
          <p:cNvSpPr>
            <a:spLocks xmlns:a="http://schemas.openxmlformats.org/drawingml/2006/main" noGrp="1"/>
          </p:cNvSpPr>
          <p:nvPr/>
        </p:nvSpPr>
        <p:spPr>
          <a:xfrm xmlns:a="http://schemas.openxmlformats.org/drawingml/2006/main">
            <a:off x="876300" y="2152650"/>
            <a:ext cx="4000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703"/>
          </a:bodyPr>
          <a:lstStyle xmlns:a="http://schemas.openxmlformats.org/drawingml/2006/main"/>
          <a:p xmlns:a="http://schemas.openxmlformats.org/drawingml/2006/main">
            <a:pPr algn="l">
              <a:lnSpc>
                <a:spcPct val="105000"/>
              </a:lnSpc>
              <a:buNone/>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Wynwood + one</a:t>
            </a:r>
          </a:p>
          <a:p xmlns:a="http://schemas.openxmlformats.org/drawingml/2006/main">
            <a:pPr algn="l">
              <a:lnSpc>
                <a:spcPct val="105000"/>
              </a:lnSpc>
              <a:buNone/>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adjacent cluster</a:t>
            </a:r>
          </a:p>
        </p:txBody>
      </p:sp>
      <p:sp>
        <p:nvSpPr>
          <p:cNvPr id="14" name="">
            <a:extLst xmlns:a="http://schemas.openxmlformats.org/drawingml/2006/main">
              <a:ext uri="{FF2B5EF4-FFF2-40B4-BE49-F238E27FC236}">
                <a16:creationId xmlns:a16="http://schemas.microsoft.com/office/drawing/2014/main" id="{36D05B10-C2F5-4FB6-BBB2-629FCA120906}"/>
              </a:ext>
            </a:extLst>
          </p:cNvPr>
          <p:cNvSpPr>
            <a:spLocks xmlns:a="http://schemas.openxmlformats.org/drawingml/2006/main" noGrp="1"/>
          </p:cNvSpPr>
          <p:nvPr/>
        </p:nvSpPr>
        <p:spPr>
          <a:xfrm xmlns:a="http://schemas.openxmlformats.org/drawingml/2006/main">
            <a:off x="876300" y="3286125"/>
            <a:ext cx="4095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0">
                <a:solidFill>
                  <a:srgbClr val="B0B9C7"/>
                </a:solidFill>
                <a:latin typeface="Aptos"/>
                <a:ea typeface="Aptos"/>
                <a:cs typeface="Aptos"/>
              </a:defRPr>
            </a:pPr>
            <a:r>
              <a:rPr sz="1500" b="0">
                <a:solidFill>
                  <a:srgbClr val="B0B9C7"/>
                </a:solidFill>
                <a:latin typeface="Aptos"/>
                <a:ea typeface="Aptos"/>
                <a:cs typeface="Aptos"/>
              </a:rPr>
              <a:t>8–12 contracted venues · 3 creator/community guides · 25–50 founding explorers</a:t>
            </a:r>
          </a:p>
        </p:txBody>
      </p:sp>
      <p:sp>
        <p:nvSpPr>
          <p:cNvPr id="15" name="">
            <a:extLst xmlns:a="http://schemas.openxmlformats.org/drawingml/2006/main">
              <a:ext uri="{FF2B5EF4-FFF2-40B4-BE49-F238E27FC236}">
                <a16:creationId xmlns:a16="http://schemas.microsoft.com/office/drawing/2014/main" id="{BB3E9B76-B25D-4159-9727-442E8F8E6D5E}"/>
              </a:ext>
            </a:extLst>
          </p:cNvPr>
          <p:cNvSpPr>
            <a:spLocks xmlns:a="http://schemas.openxmlformats.org/drawingml/2006/main" noGrp="1"/>
          </p:cNvSpPr>
          <p:nvPr/>
        </p:nvSpPr>
        <p:spPr>
          <a:xfrm xmlns:a="http://schemas.openxmlformats.org/drawingml/2006/main">
            <a:off x="876300" y="4476750"/>
            <a:ext cx="114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400" b="1">
                <a:solidFill>
                  <a:srgbClr val="FFFFFF"/>
                </a:solidFill>
                <a:latin typeface="Aptos Display"/>
                <a:ea typeface="Aptos Display"/>
                <a:cs typeface="Aptos Display"/>
              </a:defRPr>
            </a:pPr>
            <a:r>
              <a:rPr sz="2400" b="1">
                <a:solidFill>
                  <a:srgbClr val="FFFFFF"/>
                </a:solidFill>
                <a:latin typeface="Aptos Display"/>
                <a:ea typeface="Aptos Display"/>
                <a:cs typeface="Aptos Display"/>
              </a:rPr>
              <a:t>50</a:t>
            </a:r>
          </a:p>
        </p:txBody>
      </p:sp>
      <p:sp>
        <p:nvSpPr>
          <p:cNvPr id="16" name="">
            <a:extLst xmlns:a="http://schemas.openxmlformats.org/drawingml/2006/main">
              <a:ext uri="{FF2B5EF4-FFF2-40B4-BE49-F238E27FC236}">
                <a16:creationId xmlns:a16="http://schemas.microsoft.com/office/drawing/2014/main" id="{3A9732C2-B850-4BF0-8273-12DA2C765A4B}"/>
              </a:ext>
            </a:extLst>
          </p:cNvPr>
          <p:cNvSpPr>
            <a:spLocks xmlns:a="http://schemas.openxmlformats.org/drawingml/2006/main" noGrp="1"/>
          </p:cNvSpPr>
          <p:nvPr/>
        </p:nvSpPr>
        <p:spPr>
          <a:xfrm xmlns:a="http://schemas.openxmlformats.org/drawingml/2006/main">
            <a:off x="876300" y="4924425"/>
            <a:ext cx="114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0">
                <a:solidFill>
                  <a:srgbClr val="7F8B9E"/>
                </a:solidFill>
                <a:latin typeface="Aptos"/>
                <a:ea typeface="Aptos"/>
                <a:cs typeface="Aptos"/>
              </a:defRPr>
            </a:pPr>
            <a:r>
              <a:rPr sz="825" b="0">
                <a:solidFill>
                  <a:srgbClr val="7F8B9E"/>
                </a:solidFill>
                <a:latin typeface="Aptos"/>
                <a:ea typeface="Aptos"/>
                <a:cs typeface="Aptos"/>
              </a:rPr>
              <a:t>qualified venues</a:t>
            </a:r>
          </a:p>
        </p:txBody>
      </p:sp>
      <p:sp>
        <p:nvSpPr>
          <p:cNvPr id="17" name="">
            <a:extLst xmlns:a="http://schemas.openxmlformats.org/drawingml/2006/main">
              <a:ext uri="{FF2B5EF4-FFF2-40B4-BE49-F238E27FC236}">
                <a16:creationId xmlns:a16="http://schemas.microsoft.com/office/drawing/2014/main" id="{A4CF5CA0-5E0A-4D3D-A3E9-9F04CC721619}"/>
              </a:ext>
            </a:extLst>
          </p:cNvPr>
          <p:cNvSpPr>
            <a:spLocks xmlns:a="http://schemas.openxmlformats.org/drawingml/2006/main" noGrp="1"/>
          </p:cNvSpPr>
          <p:nvPr/>
        </p:nvSpPr>
        <p:spPr>
          <a:xfrm xmlns:a="http://schemas.openxmlformats.org/drawingml/2006/main">
            <a:off x="2000250" y="457200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618"/>
          </a:bodyPr>
          <a:lstStyle xmlns:a="http://schemas.openxmlformats.org/drawingml/2006/main"/>
          <a:p xmlns:a="http://schemas.openxmlformats.org/drawingml/2006/main">
            <a:pPr algn="l">
              <a:lnSpc>
                <a:spcPct val="105000"/>
              </a:lnSpc>
              <a:buNone/>
              <a:defRPr sz="1725" b="1">
                <a:solidFill>
                  <a:srgbClr val="58667C"/>
                </a:solidFill>
                <a:latin typeface="Aptos"/>
                <a:ea typeface="Aptos"/>
                <a:cs typeface="Aptos"/>
              </a:defRPr>
            </a:pPr>
            <a:r>
              <a:rPr sz="1725" b="1">
                <a:solidFill>
                  <a:srgbClr val="58667C"/>
                </a:solidFill>
                <a:latin typeface="Aptos"/>
                <a:ea typeface="Aptos"/>
                <a:cs typeface="Aptos"/>
              </a:rPr>
              <a:t>→</a:t>
            </a:r>
          </a:p>
        </p:txBody>
      </p:sp>
      <p:sp>
        <p:nvSpPr>
          <p:cNvPr id="18" name="">
            <a:extLst xmlns:a="http://schemas.openxmlformats.org/drawingml/2006/main">
              <a:ext uri="{FF2B5EF4-FFF2-40B4-BE49-F238E27FC236}">
                <a16:creationId xmlns:a16="http://schemas.microsoft.com/office/drawing/2014/main" id="{E4878248-BCBB-4EF9-854D-FBA979AEC2E2}"/>
              </a:ext>
            </a:extLst>
          </p:cNvPr>
          <p:cNvSpPr>
            <a:spLocks xmlns:a="http://schemas.openxmlformats.org/drawingml/2006/main" noGrp="1"/>
          </p:cNvSpPr>
          <p:nvPr/>
        </p:nvSpPr>
        <p:spPr>
          <a:xfrm xmlns:a="http://schemas.openxmlformats.org/drawingml/2006/main">
            <a:off x="2352675" y="4476750"/>
            <a:ext cx="114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400" b="1">
                <a:solidFill>
                  <a:srgbClr val="FFFFFF"/>
                </a:solidFill>
                <a:latin typeface="Aptos Display"/>
                <a:ea typeface="Aptos Display"/>
                <a:cs typeface="Aptos Display"/>
              </a:defRPr>
            </a:pPr>
            <a:r>
              <a:rPr sz="2400" b="1">
                <a:solidFill>
                  <a:srgbClr val="FFFFFF"/>
                </a:solidFill>
                <a:latin typeface="Aptos Display"/>
                <a:ea typeface="Aptos Display"/>
                <a:cs typeface="Aptos Display"/>
              </a:rPr>
              <a:t>20</a:t>
            </a:r>
          </a:p>
        </p:txBody>
      </p:sp>
      <p:sp>
        <p:nvSpPr>
          <p:cNvPr id="19" name="">
            <a:extLst xmlns:a="http://schemas.openxmlformats.org/drawingml/2006/main">
              <a:ext uri="{FF2B5EF4-FFF2-40B4-BE49-F238E27FC236}">
                <a16:creationId xmlns:a16="http://schemas.microsoft.com/office/drawing/2014/main" id="{55AA40B0-0E73-49CC-BADE-FF4E4E065A53}"/>
              </a:ext>
            </a:extLst>
          </p:cNvPr>
          <p:cNvSpPr>
            <a:spLocks xmlns:a="http://schemas.openxmlformats.org/drawingml/2006/main" noGrp="1"/>
          </p:cNvSpPr>
          <p:nvPr/>
        </p:nvSpPr>
        <p:spPr>
          <a:xfrm xmlns:a="http://schemas.openxmlformats.org/drawingml/2006/main">
            <a:off x="2352675" y="4924425"/>
            <a:ext cx="114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0">
                <a:solidFill>
                  <a:srgbClr val="7F8B9E"/>
                </a:solidFill>
                <a:latin typeface="Aptos"/>
                <a:ea typeface="Aptos"/>
                <a:cs typeface="Aptos"/>
              </a:defRPr>
            </a:pPr>
            <a:r>
              <a:rPr sz="825" b="0">
                <a:solidFill>
                  <a:srgbClr val="7F8B9E"/>
                </a:solidFill>
                <a:latin typeface="Aptos"/>
                <a:ea typeface="Aptos"/>
                <a:cs typeface="Aptos"/>
              </a:rPr>
              <a:t>conversations</a:t>
            </a:r>
          </a:p>
        </p:txBody>
      </p:sp>
      <p:sp>
        <p:nvSpPr>
          <p:cNvPr id="20" name="">
            <a:extLst xmlns:a="http://schemas.openxmlformats.org/drawingml/2006/main">
              <a:ext uri="{FF2B5EF4-FFF2-40B4-BE49-F238E27FC236}">
                <a16:creationId xmlns:a16="http://schemas.microsoft.com/office/drawing/2014/main" id="{E5D1ED0D-7A02-4D2B-9294-0D5B3C5CF5DE}"/>
              </a:ext>
            </a:extLst>
          </p:cNvPr>
          <p:cNvSpPr>
            <a:spLocks xmlns:a="http://schemas.openxmlformats.org/drawingml/2006/main" noGrp="1"/>
          </p:cNvSpPr>
          <p:nvPr/>
        </p:nvSpPr>
        <p:spPr>
          <a:xfrm xmlns:a="http://schemas.openxmlformats.org/drawingml/2006/main">
            <a:off x="3476625" y="457200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618"/>
          </a:bodyPr>
          <a:lstStyle xmlns:a="http://schemas.openxmlformats.org/drawingml/2006/main"/>
          <a:p xmlns:a="http://schemas.openxmlformats.org/drawingml/2006/main">
            <a:pPr algn="l">
              <a:lnSpc>
                <a:spcPct val="105000"/>
              </a:lnSpc>
              <a:buNone/>
              <a:defRPr sz="1725" b="1">
                <a:solidFill>
                  <a:srgbClr val="58667C"/>
                </a:solidFill>
                <a:latin typeface="Aptos"/>
                <a:ea typeface="Aptos"/>
                <a:cs typeface="Aptos"/>
              </a:defRPr>
            </a:pPr>
            <a:r>
              <a:rPr sz="1725" b="1">
                <a:solidFill>
                  <a:srgbClr val="58667C"/>
                </a:solidFill>
                <a:latin typeface="Aptos"/>
                <a:ea typeface="Aptos"/>
                <a:cs typeface="Aptos"/>
              </a:rPr>
              <a:t>→</a:t>
            </a:r>
          </a:p>
        </p:txBody>
      </p:sp>
      <p:sp>
        <p:nvSpPr>
          <p:cNvPr id="21" name="">
            <a:extLst xmlns:a="http://schemas.openxmlformats.org/drawingml/2006/main">
              <a:ext uri="{FF2B5EF4-FFF2-40B4-BE49-F238E27FC236}">
                <a16:creationId xmlns:a16="http://schemas.microsoft.com/office/drawing/2014/main" id="{2283227C-8CF8-449A-800E-F3A2AA27FE78}"/>
              </a:ext>
            </a:extLst>
          </p:cNvPr>
          <p:cNvSpPr>
            <a:spLocks xmlns:a="http://schemas.openxmlformats.org/drawingml/2006/main" noGrp="1"/>
          </p:cNvSpPr>
          <p:nvPr/>
        </p:nvSpPr>
        <p:spPr>
          <a:xfrm xmlns:a="http://schemas.openxmlformats.org/drawingml/2006/main">
            <a:off x="3829050" y="4476750"/>
            <a:ext cx="114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400" b="1">
                <a:solidFill>
                  <a:srgbClr val="F2B94B"/>
                </a:solidFill>
                <a:latin typeface="Aptos Display"/>
                <a:ea typeface="Aptos Display"/>
                <a:cs typeface="Aptos Display"/>
              </a:defRPr>
            </a:pPr>
            <a:r>
              <a:rPr sz="2400" b="1">
                <a:solidFill>
                  <a:srgbClr val="F2B94B"/>
                </a:solidFill>
                <a:latin typeface="Aptos Display"/>
                <a:ea typeface="Aptos Display"/>
                <a:cs typeface="Aptos Display"/>
              </a:rPr>
              <a:t>8–12</a:t>
            </a:r>
          </a:p>
        </p:txBody>
      </p:sp>
      <p:sp>
        <p:nvSpPr>
          <p:cNvPr id="22" name="">
            <a:extLst xmlns:a="http://schemas.openxmlformats.org/drawingml/2006/main">
              <a:ext uri="{FF2B5EF4-FFF2-40B4-BE49-F238E27FC236}">
                <a16:creationId xmlns:a16="http://schemas.microsoft.com/office/drawing/2014/main" id="{C8A986FA-89E1-4328-902C-4447B9EC9D59}"/>
              </a:ext>
            </a:extLst>
          </p:cNvPr>
          <p:cNvSpPr>
            <a:spLocks xmlns:a="http://schemas.openxmlformats.org/drawingml/2006/main" noGrp="1"/>
          </p:cNvSpPr>
          <p:nvPr/>
        </p:nvSpPr>
        <p:spPr>
          <a:xfrm xmlns:a="http://schemas.openxmlformats.org/drawingml/2006/main">
            <a:off x="3829050" y="4924425"/>
            <a:ext cx="114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0">
                <a:solidFill>
                  <a:srgbClr val="7F8B9E"/>
                </a:solidFill>
                <a:latin typeface="Aptos"/>
                <a:ea typeface="Aptos"/>
                <a:cs typeface="Aptos"/>
              </a:defRPr>
            </a:pPr>
            <a:r>
              <a:rPr sz="825" b="0">
                <a:solidFill>
                  <a:srgbClr val="7F8B9E"/>
                </a:solidFill>
                <a:latin typeface="Aptos"/>
                <a:ea typeface="Aptos"/>
                <a:cs typeface="Aptos"/>
              </a:rPr>
              <a:t>live partners</a:t>
            </a:r>
          </a:p>
        </p:txBody>
      </p:sp>
      <p:sp>
        <p:nvSpPr>
          <p:cNvPr id="23" name="">
            <a:extLst xmlns:a="http://schemas.openxmlformats.org/drawingml/2006/main">
              <a:ext uri="{FF2B5EF4-FFF2-40B4-BE49-F238E27FC236}">
                <a16:creationId xmlns:a16="http://schemas.microsoft.com/office/drawing/2014/main" id="{3E8EA432-274A-49E1-979D-FCF877ED3340}"/>
              </a:ext>
            </a:extLst>
          </p:cNvPr>
          <p:cNvSpPr>
            <a:spLocks xmlns:a="http://schemas.openxmlformats.org/drawingml/2006/main" noGrp="1"/>
          </p:cNvSpPr>
          <p:nvPr/>
        </p:nvSpPr>
        <p:spPr>
          <a:xfrm xmlns:a="http://schemas.openxmlformats.org/drawingml/2006/main">
            <a:off x="876300" y="561975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0">
                <a:solidFill>
                  <a:srgbClr val="6C788B"/>
                </a:solidFill>
                <a:latin typeface="Aptos"/>
                <a:ea typeface="Aptos"/>
                <a:cs typeface="Aptos"/>
              </a:defRPr>
            </a:pPr>
            <a:r>
              <a:rPr sz="750" b="0">
                <a:solidFill>
                  <a:srgbClr val="6C788B"/>
                </a:solidFill>
                <a:latin typeface="Aptos"/>
                <a:ea typeface="Aptos"/>
                <a:cs typeface="Aptos"/>
              </a:rPr>
              <a:t>Planning targets—not current pipeline data.</a:t>
            </a:r>
          </a:p>
        </p:txBody>
      </p:sp>
      <p:sp>
        <p:nvSpPr>
          <p:cNvPr id="24" name="">
            <a:extLst xmlns:a="http://schemas.openxmlformats.org/drawingml/2006/main">
              <a:ext uri="{FF2B5EF4-FFF2-40B4-BE49-F238E27FC236}">
                <a16:creationId xmlns:a16="http://schemas.microsoft.com/office/drawing/2014/main" id="{5A166CDF-0C0F-4FBB-ACDD-A14CBC45FE65}"/>
              </a:ext>
            </a:extLst>
          </p:cNvPr>
          <p:cNvSpPr>
            <a:spLocks xmlns:a="http://schemas.openxmlformats.org/drawingml/2006/main" noGrp="1"/>
          </p:cNvSpPr>
          <p:nvPr/>
        </p:nvSpPr>
        <p:spPr>
          <a:xfrm xmlns:a="http://schemas.openxmlformats.org/drawingml/2006/main">
            <a:off x="6134100" y="1504950"/>
            <a:ext cx="5467350" cy="4591050"/>
          </a:xfrm>
          <a:prstGeom xmlns:a="http://schemas.openxmlformats.org/drawingml/2006/main" prst="roundRect">
            <a:avLst>
              <a:gd name="adj" fmla="val 4979"/>
            </a:avLst>
          </a:prstGeom>
          <a:solidFill xmlns:a="http://schemas.openxmlformats.org/drawingml/2006/main">
            <a:srgbClr val="FFFFFF"/>
          </a:solidFill>
          <a:ln xmlns:a="http://schemas.openxmlformats.org/drawingml/2006/main" w="0">
            <a:solidFill>
              <a:srgbClr val="FFFFFF"/>
            </a:solidFill>
            <a:prstDash val="solid"/>
          </a:ln>
        </p:spPr>
      </p:sp>
      <p:sp>
        <p:nvSpPr>
          <p:cNvPr id="25" name="">
            <a:extLst xmlns:a="http://schemas.openxmlformats.org/drawingml/2006/main">
              <a:ext uri="{FF2B5EF4-FFF2-40B4-BE49-F238E27FC236}">
                <a16:creationId xmlns:a16="http://schemas.microsoft.com/office/drawing/2014/main" id="{B3429BF0-55B0-4086-BD14-F3F7B1A73931}"/>
              </a:ext>
            </a:extLst>
          </p:cNvPr>
          <p:cNvSpPr>
            <a:spLocks xmlns:a="http://schemas.openxmlformats.org/drawingml/2006/main" noGrp="1"/>
          </p:cNvSpPr>
          <p:nvPr/>
        </p:nvSpPr>
        <p:spPr>
          <a:xfrm xmlns:a="http://schemas.openxmlformats.org/drawingml/2006/main">
            <a:off x="6419850" y="17907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2563EB"/>
                </a:solidFill>
                <a:latin typeface="Aptos"/>
                <a:ea typeface="Aptos"/>
                <a:cs typeface="Aptos"/>
              </a:defRPr>
            </a:pPr>
            <a:r>
              <a:rPr sz="825" b="1">
                <a:solidFill>
                  <a:srgbClr val="2563EB"/>
                </a:solidFill>
                <a:latin typeface="Aptos"/>
                <a:ea typeface="Aptos"/>
                <a:cs typeface="Aptos"/>
              </a:rPr>
              <a:t>MEASURABLE ACQUISITION LOOP</a:t>
            </a:r>
          </a:p>
        </p:txBody>
      </p:sp>
      <p:sp>
        <p:nvSpPr>
          <p:cNvPr id="26" name="">
            <a:extLst xmlns:a="http://schemas.openxmlformats.org/drawingml/2006/main">
              <a:ext uri="{FF2B5EF4-FFF2-40B4-BE49-F238E27FC236}">
                <a16:creationId xmlns:a16="http://schemas.microsoft.com/office/drawing/2014/main" id="{743FA2DB-EF43-48C5-B892-6CA2CF4154C8}"/>
              </a:ext>
            </a:extLst>
          </p:cNvPr>
          <p:cNvSpPr>
            <a:spLocks xmlns:a="http://schemas.openxmlformats.org/drawingml/2006/main" noGrp="1"/>
          </p:cNvSpPr>
          <p:nvPr/>
        </p:nvSpPr>
        <p:spPr>
          <a:xfrm xmlns:a="http://schemas.openxmlformats.org/drawingml/2006/main">
            <a:off x="6419850" y="2209800"/>
            <a:ext cx="457200" cy="45720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27" name="">
            <a:extLst xmlns:a="http://schemas.openxmlformats.org/drawingml/2006/main">
              <a:ext uri="{FF2B5EF4-FFF2-40B4-BE49-F238E27FC236}">
                <a16:creationId xmlns:a16="http://schemas.microsoft.com/office/drawing/2014/main" id="{CD206DE5-542E-4ABC-99A6-2A78BAC6FFE3}"/>
              </a:ext>
            </a:extLst>
          </p:cNvPr>
          <p:cNvSpPr>
            <a:spLocks xmlns:a="http://schemas.openxmlformats.org/drawingml/2006/main" noGrp="1"/>
          </p:cNvSpPr>
          <p:nvPr/>
        </p:nvSpPr>
        <p:spPr>
          <a:xfrm xmlns:a="http://schemas.openxmlformats.org/drawingml/2006/main">
            <a:off x="6515100" y="2324100"/>
            <a:ext cx="2667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900" b="1">
                <a:solidFill>
                  <a:srgbClr val="FFFFFF"/>
                </a:solidFill>
                <a:latin typeface="Aptos"/>
                <a:ea typeface="Aptos"/>
                <a:cs typeface="Aptos"/>
              </a:defRPr>
            </a:pPr>
            <a:r>
              <a:rPr sz="900" b="1">
                <a:solidFill>
                  <a:srgbClr val="FFFFFF"/>
                </a:solidFill>
                <a:latin typeface="Aptos"/>
                <a:ea typeface="Aptos"/>
                <a:cs typeface="Aptos"/>
              </a:rPr>
              <a:t>01</a:t>
            </a:r>
          </a:p>
        </p:txBody>
      </p:sp>
      <p:sp>
        <p:nvSpPr>
          <p:cNvPr id="28" name="">
            <a:extLst xmlns:a="http://schemas.openxmlformats.org/drawingml/2006/main">
              <a:ext uri="{FF2B5EF4-FFF2-40B4-BE49-F238E27FC236}">
                <a16:creationId xmlns:a16="http://schemas.microsoft.com/office/drawing/2014/main" id="{E04F45A2-F169-4827-83AD-4148748ADF2C}"/>
              </a:ext>
            </a:extLst>
          </p:cNvPr>
          <p:cNvSpPr>
            <a:spLocks xmlns:a="http://schemas.openxmlformats.org/drawingml/2006/main" noGrp="1"/>
          </p:cNvSpPr>
          <p:nvPr/>
        </p:nvSpPr>
        <p:spPr>
          <a:xfrm xmlns:a="http://schemas.openxmlformats.org/drawingml/2006/main">
            <a:off x="7086600" y="220027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101827"/>
                </a:solidFill>
                <a:latin typeface="Aptos"/>
                <a:ea typeface="Aptos"/>
                <a:cs typeface="Aptos"/>
              </a:defRPr>
            </a:pPr>
            <a:r>
              <a:rPr sz="1500" b="1">
                <a:solidFill>
                  <a:srgbClr val="101827"/>
                </a:solidFill>
                <a:latin typeface="Aptos"/>
                <a:ea typeface="Aptos"/>
                <a:cs typeface="Aptos"/>
              </a:rPr>
              <a:t>Partner</a:t>
            </a:r>
          </a:p>
        </p:txBody>
      </p:sp>
      <p:sp>
        <p:nvSpPr>
          <p:cNvPr id="29" name="">
            <a:extLst xmlns:a="http://schemas.openxmlformats.org/drawingml/2006/main">
              <a:ext uri="{FF2B5EF4-FFF2-40B4-BE49-F238E27FC236}">
                <a16:creationId xmlns:a16="http://schemas.microsoft.com/office/drawing/2014/main" id="{D26F4126-3B4A-4CD8-9462-B6D7A6513D83}"/>
              </a:ext>
            </a:extLst>
          </p:cNvPr>
          <p:cNvSpPr>
            <a:spLocks xmlns:a="http://schemas.openxmlformats.org/drawingml/2006/main" noGrp="1"/>
          </p:cNvSpPr>
          <p:nvPr/>
        </p:nvSpPr>
        <p:spPr>
          <a:xfrm xmlns:a="http://schemas.openxmlformats.org/drawingml/2006/main">
            <a:off x="7086600" y="249555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0">
                <a:solidFill>
                  <a:srgbClr val="626A78"/>
                </a:solidFill>
                <a:latin typeface="Aptos"/>
                <a:ea typeface="Aptos"/>
                <a:cs typeface="Aptos"/>
              </a:defRPr>
            </a:pPr>
            <a:r>
              <a:rPr sz="1125" b="0">
                <a:solidFill>
                  <a:srgbClr val="626A78"/>
                </a:solidFill>
                <a:latin typeface="Aptos"/>
                <a:ea typeface="Aptos"/>
                <a:cs typeface="Aptos"/>
              </a:rPr>
              <a:t>Staff script + storefront QR</a:t>
            </a:r>
          </a:p>
        </p:txBody>
      </p:sp>
      <p:sp>
        <p:nvSpPr>
          <p:cNvPr id="30" name="">
            <a:extLst xmlns:a="http://schemas.openxmlformats.org/drawingml/2006/main">
              <a:ext uri="{FF2B5EF4-FFF2-40B4-BE49-F238E27FC236}">
                <a16:creationId xmlns:a16="http://schemas.microsoft.com/office/drawing/2014/main" id="{A11C3499-B9E4-4ACF-AA0A-5B54ECDBC14B}"/>
              </a:ext>
            </a:extLst>
          </p:cNvPr>
          <p:cNvSpPr>
            <a:spLocks xmlns:a="http://schemas.openxmlformats.org/drawingml/2006/main" noGrp="1"/>
          </p:cNvSpPr>
          <p:nvPr/>
        </p:nvSpPr>
        <p:spPr>
          <a:xfrm xmlns:a="http://schemas.openxmlformats.org/drawingml/2006/main">
            <a:off x="6648450" y="2676525"/>
            <a:ext cx="0" cy="333375"/>
          </a:xfrm>
          <a:prstGeom xmlns:a="http://schemas.openxmlformats.org/drawingml/2006/main" prst="line">
            <a:avLst/>
          </a:prstGeom>
          <a:noFill xmlns:a="http://schemas.openxmlformats.org/drawingml/2006/main"/>
          <a:ln xmlns:a="http://schemas.openxmlformats.org/drawingml/2006/main" w="19050">
            <a:solidFill>
              <a:srgbClr val="CAD0D9"/>
            </a:solidFill>
            <a:prstDash val="solid"/>
          </a:ln>
        </p:spPr>
      </p:sp>
      <p:sp>
        <p:nvSpPr>
          <p:cNvPr id="31" name="">
            <a:extLst xmlns:a="http://schemas.openxmlformats.org/drawingml/2006/main">
              <a:ext uri="{FF2B5EF4-FFF2-40B4-BE49-F238E27FC236}">
                <a16:creationId xmlns:a16="http://schemas.microsoft.com/office/drawing/2014/main" id="{D8062C5E-41D9-489E-A2B3-962BF41554D8}"/>
              </a:ext>
            </a:extLst>
          </p:cNvPr>
          <p:cNvSpPr>
            <a:spLocks xmlns:a="http://schemas.openxmlformats.org/drawingml/2006/main" noGrp="1"/>
          </p:cNvSpPr>
          <p:nvPr/>
        </p:nvSpPr>
        <p:spPr>
          <a:xfrm xmlns:a="http://schemas.openxmlformats.org/drawingml/2006/main">
            <a:off x="6419850" y="3028950"/>
            <a:ext cx="457200" cy="457200"/>
          </a:xfrm>
          <a:prstGeom xmlns:a="http://schemas.openxmlformats.org/drawingml/2006/main" prst="ellipse">
            <a:avLst/>
          </a:prstGeom>
          <a:solidFill xmlns:a="http://schemas.openxmlformats.org/drawingml/2006/main">
            <a:srgbClr val="FF6F61"/>
          </a:solidFill>
          <a:ln xmlns:a="http://schemas.openxmlformats.org/drawingml/2006/main" w="0">
            <a:solidFill>
              <a:srgbClr val="FF6F61"/>
            </a:solidFill>
            <a:prstDash val="solid"/>
          </a:ln>
        </p:spPr>
      </p:sp>
      <p:sp>
        <p:nvSpPr>
          <p:cNvPr id="32" name="">
            <a:extLst xmlns:a="http://schemas.openxmlformats.org/drawingml/2006/main">
              <a:ext uri="{FF2B5EF4-FFF2-40B4-BE49-F238E27FC236}">
                <a16:creationId xmlns:a16="http://schemas.microsoft.com/office/drawing/2014/main" id="{EAAFFB5D-79DA-4CF9-9B25-F0D4D5F95A2F}"/>
              </a:ext>
            </a:extLst>
          </p:cNvPr>
          <p:cNvSpPr>
            <a:spLocks xmlns:a="http://schemas.openxmlformats.org/drawingml/2006/main" noGrp="1"/>
          </p:cNvSpPr>
          <p:nvPr/>
        </p:nvSpPr>
        <p:spPr>
          <a:xfrm xmlns:a="http://schemas.openxmlformats.org/drawingml/2006/main">
            <a:off x="6515100" y="3143250"/>
            <a:ext cx="2667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900" b="1">
                <a:solidFill>
                  <a:srgbClr val="FFFFFF"/>
                </a:solidFill>
                <a:latin typeface="Aptos"/>
                <a:ea typeface="Aptos"/>
                <a:cs typeface="Aptos"/>
              </a:defRPr>
            </a:pPr>
            <a:r>
              <a:rPr sz="900" b="1">
                <a:solidFill>
                  <a:srgbClr val="FFFFFF"/>
                </a:solidFill>
                <a:latin typeface="Aptos"/>
                <a:ea typeface="Aptos"/>
                <a:cs typeface="Aptos"/>
              </a:rPr>
              <a:t>02</a:t>
            </a:r>
          </a:p>
        </p:txBody>
      </p:sp>
      <p:sp>
        <p:nvSpPr>
          <p:cNvPr id="33" name="">
            <a:extLst xmlns:a="http://schemas.openxmlformats.org/drawingml/2006/main">
              <a:ext uri="{FF2B5EF4-FFF2-40B4-BE49-F238E27FC236}">
                <a16:creationId xmlns:a16="http://schemas.microsoft.com/office/drawing/2014/main" id="{47E45B7A-1E18-4EA9-8B42-11A0A36388CF}"/>
              </a:ext>
            </a:extLst>
          </p:cNvPr>
          <p:cNvSpPr>
            <a:spLocks xmlns:a="http://schemas.openxmlformats.org/drawingml/2006/main" noGrp="1"/>
          </p:cNvSpPr>
          <p:nvPr/>
        </p:nvSpPr>
        <p:spPr>
          <a:xfrm xmlns:a="http://schemas.openxmlformats.org/drawingml/2006/main">
            <a:off x="7086600" y="301942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101827"/>
                </a:solidFill>
                <a:latin typeface="Aptos"/>
                <a:ea typeface="Aptos"/>
                <a:cs typeface="Aptos"/>
              </a:defRPr>
            </a:pPr>
            <a:r>
              <a:rPr sz="1500" b="1">
                <a:solidFill>
                  <a:srgbClr val="101827"/>
                </a:solidFill>
                <a:latin typeface="Aptos"/>
                <a:ea typeface="Aptos"/>
                <a:cs typeface="Aptos"/>
              </a:rPr>
              <a:t>Creator</a:t>
            </a:r>
          </a:p>
        </p:txBody>
      </p:sp>
      <p:sp>
        <p:nvSpPr>
          <p:cNvPr id="34" name="">
            <a:extLst xmlns:a="http://schemas.openxmlformats.org/drawingml/2006/main">
              <a:ext uri="{FF2B5EF4-FFF2-40B4-BE49-F238E27FC236}">
                <a16:creationId xmlns:a16="http://schemas.microsoft.com/office/drawing/2014/main" id="{1DA5568C-6FC8-4C7D-BD43-DB26D6B41C6B}"/>
              </a:ext>
            </a:extLst>
          </p:cNvPr>
          <p:cNvSpPr>
            <a:spLocks xmlns:a="http://schemas.openxmlformats.org/drawingml/2006/main" noGrp="1"/>
          </p:cNvSpPr>
          <p:nvPr/>
        </p:nvSpPr>
        <p:spPr>
          <a:xfrm xmlns:a="http://schemas.openxmlformats.org/drawingml/2006/main">
            <a:off x="7086600" y="33147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0">
                <a:solidFill>
                  <a:srgbClr val="626A78"/>
                </a:solidFill>
                <a:latin typeface="Aptos"/>
                <a:ea typeface="Aptos"/>
                <a:cs typeface="Aptos"/>
              </a:defRPr>
            </a:pPr>
            <a:r>
              <a:rPr sz="1125" b="0">
                <a:solidFill>
                  <a:srgbClr val="626A78"/>
                </a:solidFill>
                <a:latin typeface="Aptos"/>
                <a:ea typeface="Aptos"/>
                <a:cs typeface="Aptos"/>
              </a:rPr>
              <a:t>Curated questline drop</a:t>
            </a:r>
          </a:p>
        </p:txBody>
      </p:sp>
      <p:sp>
        <p:nvSpPr>
          <p:cNvPr id="35" name="">
            <a:extLst xmlns:a="http://schemas.openxmlformats.org/drawingml/2006/main">
              <a:ext uri="{FF2B5EF4-FFF2-40B4-BE49-F238E27FC236}">
                <a16:creationId xmlns:a16="http://schemas.microsoft.com/office/drawing/2014/main" id="{79164633-8D0B-4EE1-9E24-4A9A19BEC29A}"/>
              </a:ext>
            </a:extLst>
          </p:cNvPr>
          <p:cNvSpPr>
            <a:spLocks xmlns:a="http://schemas.openxmlformats.org/drawingml/2006/main" noGrp="1"/>
          </p:cNvSpPr>
          <p:nvPr/>
        </p:nvSpPr>
        <p:spPr>
          <a:xfrm xmlns:a="http://schemas.openxmlformats.org/drawingml/2006/main">
            <a:off x="6648450" y="3495675"/>
            <a:ext cx="0" cy="333375"/>
          </a:xfrm>
          <a:prstGeom xmlns:a="http://schemas.openxmlformats.org/drawingml/2006/main" prst="line">
            <a:avLst/>
          </a:prstGeom>
          <a:noFill xmlns:a="http://schemas.openxmlformats.org/drawingml/2006/main"/>
          <a:ln xmlns:a="http://schemas.openxmlformats.org/drawingml/2006/main" w="19050">
            <a:solidFill>
              <a:srgbClr val="CAD0D9"/>
            </a:solidFill>
            <a:prstDash val="solid"/>
          </a:ln>
        </p:spPr>
      </p:sp>
      <p:sp>
        <p:nvSpPr>
          <p:cNvPr id="36" name="">
            <a:extLst xmlns:a="http://schemas.openxmlformats.org/drawingml/2006/main">
              <a:ext uri="{FF2B5EF4-FFF2-40B4-BE49-F238E27FC236}">
                <a16:creationId xmlns:a16="http://schemas.microsoft.com/office/drawing/2014/main" id="{35AC258C-0AFE-42A3-9E6A-AA1A8404DDCC}"/>
              </a:ext>
            </a:extLst>
          </p:cNvPr>
          <p:cNvSpPr>
            <a:spLocks xmlns:a="http://schemas.openxmlformats.org/drawingml/2006/main" noGrp="1"/>
          </p:cNvSpPr>
          <p:nvPr/>
        </p:nvSpPr>
        <p:spPr>
          <a:xfrm xmlns:a="http://schemas.openxmlformats.org/drawingml/2006/main">
            <a:off x="6419850" y="3848100"/>
            <a:ext cx="457200" cy="457200"/>
          </a:xfrm>
          <a:prstGeom xmlns:a="http://schemas.openxmlformats.org/drawingml/2006/main" prst="ellipse">
            <a:avLst/>
          </a:prstGeom>
          <a:solidFill xmlns:a="http://schemas.openxmlformats.org/drawingml/2006/main">
            <a:srgbClr val="2E7D5A"/>
          </a:solidFill>
          <a:ln xmlns:a="http://schemas.openxmlformats.org/drawingml/2006/main" w="0">
            <a:solidFill>
              <a:srgbClr val="2E7D5A"/>
            </a:solidFill>
            <a:prstDash val="solid"/>
          </a:ln>
        </p:spPr>
      </p:sp>
      <p:sp>
        <p:nvSpPr>
          <p:cNvPr id="37" name="">
            <a:extLst xmlns:a="http://schemas.openxmlformats.org/drawingml/2006/main">
              <a:ext uri="{FF2B5EF4-FFF2-40B4-BE49-F238E27FC236}">
                <a16:creationId xmlns:a16="http://schemas.microsoft.com/office/drawing/2014/main" id="{4702DE47-80A4-42C2-A83B-61AA05D0DAF2}"/>
              </a:ext>
            </a:extLst>
          </p:cNvPr>
          <p:cNvSpPr>
            <a:spLocks xmlns:a="http://schemas.openxmlformats.org/drawingml/2006/main" noGrp="1"/>
          </p:cNvSpPr>
          <p:nvPr/>
        </p:nvSpPr>
        <p:spPr>
          <a:xfrm xmlns:a="http://schemas.openxmlformats.org/drawingml/2006/main">
            <a:off x="6515100" y="3962400"/>
            <a:ext cx="2667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900" b="1">
                <a:solidFill>
                  <a:srgbClr val="FFFFFF"/>
                </a:solidFill>
                <a:latin typeface="Aptos"/>
                <a:ea typeface="Aptos"/>
                <a:cs typeface="Aptos"/>
              </a:defRPr>
            </a:pPr>
            <a:r>
              <a:rPr sz="900" b="1">
                <a:solidFill>
                  <a:srgbClr val="FFFFFF"/>
                </a:solidFill>
                <a:latin typeface="Aptos"/>
                <a:ea typeface="Aptos"/>
                <a:cs typeface="Aptos"/>
              </a:rPr>
              <a:t>03</a:t>
            </a:r>
          </a:p>
        </p:txBody>
      </p:sp>
      <p:sp>
        <p:nvSpPr>
          <p:cNvPr id="38" name="">
            <a:extLst xmlns:a="http://schemas.openxmlformats.org/drawingml/2006/main">
              <a:ext uri="{FF2B5EF4-FFF2-40B4-BE49-F238E27FC236}">
                <a16:creationId xmlns:a16="http://schemas.microsoft.com/office/drawing/2014/main" id="{96CADBD2-F840-415D-8911-8BCC86750833}"/>
              </a:ext>
            </a:extLst>
          </p:cNvPr>
          <p:cNvSpPr>
            <a:spLocks xmlns:a="http://schemas.openxmlformats.org/drawingml/2006/main" noGrp="1"/>
          </p:cNvSpPr>
          <p:nvPr/>
        </p:nvSpPr>
        <p:spPr>
          <a:xfrm xmlns:a="http://schemas.openxmlformats.org/drawingml/2006/main">
            <a:off x="7086600" y="383857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101827"/>
                </a:solidFill>
                <a:latin typeface="Aptos"/>
                <a:ea typeface="Aptos"/>
                <a:cs typeface="Aptos"/>
              </a:defRPr>
            </a:pPr>
            <a:r>
              <a:rPr sz="1500" b="1">
                <a:solidFill>
                  <a:srgbClr val="101827"/>
                </a:solidFill>
                <a:latin typeface="Aptos"/>
                <a:ea typeface="Aptos"/>
                <a:cs typeface="Aptos"/>
              </a:rPr>
              <a:t>Explorer</a:t>
            </a:r>
          </a:p>
        </p:txBody>
      </p:sp>
      <p:sp>
        <p:nvSpPr>
          <p:cNvPr id="39" name="">
            <a:extLst xmlns:a="http://schemas.openxmlformats.org/drawingml/2006/main">
              <a:ext uri="{FF2B5EF4-FFF2-40B4-BE49-F238E27FC236}">
                <a16:creationId xmlns:a16="http://schemas.microsoft.com/office/drawing/2014/main" id="{A947170A-BBAC-4154-B0DD-D52B8CCC007B}"/>
              </a:ext>
            </a:extLst>
          </p:cNvPr>
          <p:cNvSpPr>
            <a:spLocks xmlns:a="http://schemas.openxmlformats.org/drawingml/2006/main" noGrp="1"/>
          </p:cNvSpPr>
          <p:nvPr/>
        </p:nvSpPr>
        <p:spPr>
          <a:xfrm xmlns:a="http://schemas.openxmlformats.org/drawingml/2006/main">
            <a:off x="7086600" y="413385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0">
                <a:solidFill>
                  <a:srgbClr val="626A78"/>
                </a:solidFill>
                <a:latin typeface="Aptos"/>
                <a:ea typeface="Aptos"/>
                <a:cs typeface="Aptos"/>
              </a:defRPr>
            </a:pPr>
            <a:r>
              <a:rPr sz="1125" b="0">
                <a:solidFill>
                  <a:srgbClr val="626A78"/>
                </a:solidFill>
                <a:latin typeface="Aptos"/>
                <a:ea typeface="Aptos"/>
                <a:cs typeface="Aptos"/>
              </a:rPr>
              <a:t>Complete + share + return</a:t>
            </a:r>
          </a:p>
        </p:txBody>
      </p:sp>
      <p:sp>
        <p:nvSpPr>
          <p:cNvPr id="40" name="">
            <a:extLst xmlns:a="http://schemas.openxmlformats.org/drawingml/2006/main">
              <a:ext uri="{FF2B5EF4-FFF2-40B4-BE49-F238E27FC236}">
                <a16:creationId xmlns:a16="http://schemas.microsoft.com/office/drawing/2014/main" id="{1974FDD0-F1C4-4C05-AA8E-0A2B1672AF71}"/>
              </a:ext>
            </a:extLst>
          </p:cNvPr>
          <p:cNvSpPr>
            <a:spLocks xmlns:a="http://schemas.openxmlformats.org/drawingml/2006/main" noGrp="1"/>
          </p:cNvSpPr>
          <p:nvPr/>
        </p:nvSpPr>
        <p:spPr>
          <a:xfrm xmlns:a="http://schemas.openxmlformats.org/drawingml/2006/main">
            <a:off x="6648450" y="4314825"/>
            <a:ext cx="0" cy="333375"/>
          </a:xfrm>
          <a:prstGeom xmlns:a="http://schemas.openxmlformats.org/drawingml/2006/main" prst="line">
            <a:avLst/>
          </a:prstGeom>
          <a:noFill xmlns:a="http://schemas.openxmlformats.org/drawingml/2006/main"/>
          <a:ln xmlns:a="http://schemas.openxmlformats.org/drawingml/2006/main" w="19050">
            <a:solidFill>
              <a:srgbClr val="CAD0D9"/>
            </a:solidFill>
            <a:prstDash val="solid"/>
          </a:ln>
        </p:spPr>
      </p:sp>
      <p:sp>
        <p:nvSpPr>
          <p:cNvPr id="41" name="">
            <a:extLst xmlns:a="http://schemas.openxmlformats.org/drawingml/2006/main">
              <a:ext uri="{FF2B5EF4-FFF2-40B4-BE49-F238E27FC236}">
                <a16:creationId xmlns:a16="http://schemas.microsoft.com/office/drawing/2014/main" id="{4B0B265B-55EB-4A4B-8A0B-585E1CE96D71}"/>
              </a:ext>
            </a:extLst>
          </p:cNvPr>
          <p:cNvSpPr>
            <a:spLocks xmlns:a="http://schemas.openxmlformats.org/drawingml/2006/main" noGrp="1"/>
          </p:cNvSpPr>
          <p:nvPr/>
        </p:nvSpPr>
        <p:spPr>
          <a:xfrm xmlns:a="http://schemas.openxmlformats.org/drawingml/2006/main">
            <a:off x="6419850" y="4667250"/>
            <a:ext cx="457200" cy="457200"/>
          </a:xfrm>
          <a:prstGeom xmlns:a="http://schemas.openxmlformats.org/drawingml/2006/main" prst="ellipse">
            <a:avLst/>
          </a:prstGeom>
          <a:solidFill xmlns:a="http://schemas.openxmlformats.org/drawingml/2006/main">
            <a:srgbClr val="F2B94B"/>
          </a:solidFill>
          <a:ln xmlns:a="http://schemas.openxmlformats.org/drawingml/2006/main" w="0">
            <a:solidFill>
              <a:srgbClr val="F2B94B"/>
            </a:solidFill>
            <a:prstDash val="solid"/>
          </a:ln>
        </p:spPr>
      </p:sp>
      <p:sp>
        <p:nvSpPr>
          <p:cNvPr id="42" name="">
            <a:extLst xmlns:a="http://schemas.openxmlformats.org/drawingml/2006/main">
              <a:ext uri="{FF2B5EF4-FFF2-40B4-BE49-F238E27FC236}">
                <a16:creationId xmlns:a16="http://schemas.microsoft.com/office/drawing/2014/main" id="{B5B7B460-3AA9-477A-B7D7-3BA01A445D29}"/>
              </a:ext>
            </a:extLst>
          </p:cNvPr>
          <p:cNvSpPr>
            <a:spLocks xmlns:a="http://schemas.openxmlformats.org/drawingml/2006/main" noGrp="1"/>
          </p:cNvSpPr>
          <p:nvPr/>
        </p:nvSpPr>
        <p:spPr>
          <a:xfrm xmlns:a="http://schemas.openxmlformats.org/drawingml/2006/main">
            <a:off x="6515100" y="4781550"/>
            <a:ext cx="2667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900" b="1">
                <a:solidFill>
                  <a:srgbClr val="0D1321"/>
                </a:solidFill>
                <a:latin typeface="Aptos"/>
                <a:ea typeface="Aptos"/>
                <a:cs typeface="Aptos"/>
              </a:defRPr>
            </a:pPr>
            <a:r>
              <a:rPr sz="900" b="1">
                <a:solidFill>
                  <a:srgbClr val="0D1321"/>
                </a:solidFill>
                <a:latin typeface="Aptos"/>
                <a:ea typeface="Aptos"/>
                <a:cs typeface="Aptos"/>
              </a:rPr>
              <a:t>04</a:t>
            </a:r>
          </a:p>
        </p:txBody>
      </p:sp>
      <p:sp>
        <p:nvSpPr>
          <p:cNvPr id="43" name="">
            <a:extLst xmlns:a="http://schemas.openxmlformats.org/drawingml/2006/main">
              <a:ext uri="{FF2B5EF4-FFF2-40B4-BE49-F238E27FC236}">
                <a16:creationId xmlns:a16="http://schemas.microsoft.com/office/drawing/2014/main" id="{02F86AA9-BC40-47FC-93AC-6ABBBE89B67F}"/>
              </a:ext>
            </a:extLst>
          </p:cNvPr>
          <p:cNvSpPr>
            <a:spLocks xmlns:a="http://schemas.openxmlformats.org/drawingml/2006/main" noGrp="1"/>
          </p:cNvSpPr>
          <p:nvPr/>
        </p:nvSpPr>
        <p:spPr>
          <a:xfrm xmlns:a="http://schemas.openxmlformats.org/drawingml/2006/main">
            <a:off x="7086600" y="465772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101827"/>
                </a:solidFill>
                <a:latin typeface="Aptos"/>
                <a:ea typeface="Aptos"/>
                <a:cs typeface="Aptos"/>
              </a:defRPr>
            </a:pPr>
            <a:r>
              <a:rPr sz="1500" b="1">
                <a:solidFill>
                  <a:srgbClr val="101827"/>
                </a:solidFill>
                <a:latin typeface="Aptos"/>
                <a:ea typeface="Aptos"/>
                <a:cs typeface="Aptos"/>
              </a:rPr>
              <a:t>Evidence</a:t>
            </a:r>
          </a:p>
        </p:txBody>
      </p:sp>
      <p:sp>
        <p:nvSpPr>
          <p:cNvPr id="44" name="">
            <a:extLst xmlns:a="http://schemas.openxmlformats.org/drawingml/2006/main">
              <a:ext uri="{FF2B5EF4-FFF2-40B4-BE49-F238E27FC236}">
                <a16:creationId xmlns:a16="http://schemas.microsoft.com/office/drawing/2014/main" id="{61FD70C2-CB9C-4CFE-95BB-322E245A21B0}"/>
              </a:ext>
            </a:extLst>
          </p:cNvPr>
          <p:cNvSpPr>
            <a:spLocks xmlns:a="http://schemas.openxmlformats.org/drawingml/2006/main" noGrp="1"/>
          </p:cNvSpPr>
          <p:nvPr/>
        </p:nvSpPr>
        <p:spPr>
          <a:xfrm xmlns:a="http://schemas.openxmlformats.org/drawingml/2006/main">
            <a:off x="7086600" y="49530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0">
                <a:solidFill>
                  <a:srgbClr val="626A78"/>
                </a:solidFill>
                <a:latin typeface="Aptos"/>
                <a:ea typeface="Aptos"/>
                <a:cs typeface="Aptos"/>
              </a:defRPr>
            </a:pPr>
            <a:r>
              <a:rPr sz="1125" b="0">
                <a:solidFill>
                  <a:srgbClr val="626A78"/>
                </a:solidFill>
                <a:latin typeface="Aptos"/>
                <a:ea typeface="Aptos"/>
                <a:cs typeface="Aptos"/>
              </a:rPr>
              <a:t>Traffic + redemption + renewal</a:t>
            </a:r>
          </a:p>
        </p:txBody>
      </p:sp>
      <p:sp>
        <p:nvSpPr>
          <p:cNvPr id="45" name="">
            <a:extLst xmlns:a="http://schemas.openxmlformats.org/drawingml/2006/main">
              <a:ext uri="{FF2B5EF4-FFF2-40B4-BE49-F238E27FC236}">
                <a16:creationId xmlns:a16="http://schemas.microsoft.com/office/drawing/2014/main" id="{CBA369C5-A287-4EBA-8CCC-A4D2D0EA966E}"/>
              </a:ext>
            </a:extLst>
          </p:cNvPr>
          <p:cNvSpPr>
            <a:spLocks xmlns:a="http://schemas.openxmlformats.org/drawingml/2006/main" noGrp="1"/>
          </p:cNvSpPr>
          <p:nvPr/>
        </p:nvSpPr>
        <p:spPr>
          <a:xfrm xmlns:a="http://schemas.openxmlformats.org/drawingml/2006/main">
            <a:off x="6419850" y="5581650"/>
            <a:ext cx="4876800" cy="323850"/>
          </a:xfrm>
          <a:prstGeom xmlns:a="http://schemas.openxmlformats.org/drawingml/2006/main" prst="roundRect">
            <a:avLst>
              <a:gd name="adj" fmla="val 29412"/>
            </a:avLst>
          </a:prstGeom>
          <a:solidFill xmlns:a="http://schemas.openxmlformats.org/drawingml/2006/main">
            <a:srgbClr val="EAF0FF"/>
          </a:solidFill>
          <a:ln xmlns:a="http://schemas.openxmlformats.org/drawingml/2006/main" w="0">
            <a:solidFill>
              <a:srgbClr val="EAF0FF"/>
            </a:solidFill>
            <a:prstDash val="solid"/>
          </a:ln>
        </p:spPr>
      </p:sp>
      <p:sp>
        <p:nvSpPr>
          <p:cNvPr id="46" name="">
            <a:extLst xmlns:a="http://schemas.openxmlformats.org/drawingml/2006/main">
              <a:ext uri="{FF2B5EF4-FFF2-40B4-BE49-F238E27FC236}">
                <a16:creationId xmlns:a16="http://schemas.microsoft.com/office/drawing/2014/main" id="{7D677E8E-5F03-48EE-AF0A-E6D37097B7AB}"/>
              </a:ext>
            </a:extLst>
          </p:cNvPr>
          <p:cNvSpPr>
            <a:spLocks xmlns:a="http://schemas.openxmlformats.org/drawingml/2006/main" noGrp="1"/>
          </p:cNvSpPr>
          <p:nvPr/>
        </p:nvSpPr>
        <p:spPr>
          <a:xfrm xmlns:a="http://schemas.openxmlformats.org/drawingml/2006/main">
            <a:off x="6572250" y="5667375"/>
            <a:ext cx="4572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2563EB"/>
                </a:solidFill>
                <a:latin typeface="Aptos"/>
                <a:ea typeface="Aptos"/>
                <a:cs typeface="Aptos"/>
              </a:defRPr>
            </a:pPr>
            <a:r>
              <a:rPr sz="825" b="1">
                <a:solidFill>
                  <a:srgbClr val="2563EB"/>
                </a:solidFill>
                <a:latin typeface="Aptos"/>
                <a:ea typeface="Aptos"/>
                <a:cs typeface="Aptos"/>
              </a:rPr>
              <a:t>North star: first completion ≤7 days · second quest ≤14 days · partner willingness to pay</a:t>
            </a:r>
          </a:p>
        </p:txBody>
      </p:sp>
    </p:spTree>
    <p:extLst>
      <p:ext uri="{BB962C8B-B14F-4D97-AF65-F5344CB8AC3E}">
        <p14:creationId xmlns:p14="http://schemas.microsoft.com/office/powerpoint/2010/main" val="911657284"/>
      </p:ext>
    </p:extLst>
  </p:cSld>
</p:sld>
</file>

<file path=ppt/slides/slide9.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A45EC47C-6C47-44A4-BBC2-EDFDCB391385}"/>
              </a:ext>
            </a:extLst>
          </p:cNvPr>
          <p:cNvSpPr>
            <a:spLocks xmlns:a="http://schemas.openxmlformats.org/drawingml/2006/main" noGrp="1"/>
          </p:cNvSpPr>
          <p:nvPr/>
        </p:nvSpPr>
        <p:spPr>
          <a:xfrm xmlns:a="http://schemas.openxmlformats.org/drawingml/2006/main">
            <a:off x="552450" y="419100"/>
            <a:ext cx="514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a:solidFill>
                  <a:srgbClr val="2563EB"/>
                </a:solidFill>
                <a:latin typeface="Aptos"/>
                <a:ea typeface="Aptos"/>
                <a:cs typeface="Aptos"/>
              </a:defRPr>
            </a:pPr>
            <a:r>
              <a:rPr sz="900" b="1">
                <a:solidFill>
                  <a:srgbClr val="2563EB"/>
                </a:solidFill>
                <a:latin typeface="Aptos"/>
                <a:ea typeface="Aptos"/>
                <a:cs typeface="Aptos"/>
              </a:rPr>
              <a:t>09</a:t>
            </a:r>
          </a:p>
        </p:txBody>
      </p:sp>
      <p:sp>
        <p:nvSpPr>
          <p:cNvPr id="2" name="">
            <a:extLst xmlns:a="http://schemas.openxmlformats.org/drawingml/2006/main">
              <a:ext uri="{FF2B5EF4-FFF2-40B4-BE49-F238E27FC236}">
                <a16:creationId xmlns:a16="http://schemas.microsoft.com/office/drawing/2014/main" id="{955BB24A-6BF6-46E1-9D43-FF74D7FEBD69}"/>
              </a:ext>
            </a:extLst>
          </p:cNvPr>
          <p:cNvSpPr>
            <a:spLocks xmlns:a="http://schemas.openxmlformats.org/drawingml/2006/main" noGrp="1"/>
          </p:cNvSpPr>
          <p:nvPr/>
        </p:nvSpPr>
        <p:spPr>
          <a:xfrm xmlns:a="http://schemas.openxmlformats.org/drawingml/2006/main">
            <a:off x="1104900" y="542925"/>
            <a:ext cx="476250" cy="0"/>
          </a:xfrm>
          <a:prstGeom xmlns:a="http://schemas.openxmlformats.org/drawingml/2006/main" prst="line">
            <a:avLst/>
          </a:prstGeom>
          <a:noFill xmlns:a="http://schemas.openxmlformats.org/drawingml/2006/main"/>
          <a:ln xmlns:a="http://schemas.openxmlformats.org/drawingml/2006/main" w="9525">
            <a:solidFill>
              <a:srgbClr val="CBD1DA"/>
            </a:solidFill>
            <a:prstDash val="solid"/>
          </a:ln>
        </p:spPr>
      </p:sp>
      <p:sp>
        <p:nvSpPr>
          <p:cNvPr id="3" name="">
            <a:extLst xmlns:a="http://schemas.openxmlformats.org/drawingml/2006/main">
              <a:ext uri="{FF2B5EF4-FFF2-40B4-BE49-F238E27FC236}">
                <a16:creationId xmlns:a16="http://schemas.microsoft.com/office/drawing/2014/main" id="{7897B8B8-5993-4322-9B07-6FBB2B0A4513}"/>
              </a:ext>
            </a:extLst>
          </p:cNvPr>
          <p:cNvSpPr>
            <a:spLocks xmlns:a="http://schemas.openxmlformats.org/drawingml/2006/main" noGrp="1"/>
          </p:cNvSpPr>
          <p:nvPr/>
        </p:nvSpPr>
        <p:spPr>
          <a:xfrm xmlns:a="http://schemas.openxmlformats.org/drawingml/2006/main">
            <a:off x="1733550" y="323850"/>
            <a:ext cx="704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375" b="1">
                <a:solidFill>
                  <a:srgbClr val="101827"/>
                </a:solidFill>
                <a:latin typeface="Aptos Display"/>
                <a:ea typeface="Aptos Display"/>
                <a:cs typeface="Aptos Display"/>
              </a:defRPr>
            </a:pPr>
            <a:r>
              <a:rPr sz="3375" b="1">
                <a:solidFill>
                  <a:srgbClr val="101827"/>
                </a:solidFill>
                <a:latin typeface="Aptos Display"/>
                <a:ea typeface="Aptos Display"/>
                <a:cs typeface="Aptos Display"/>
              </a:rPr>
              <a:t>Cost to market</a:t>
            </a:r>
          </a:p>
        </p:txBody>
      </p:sp>
      <p:sp>
        <p:nvSpPr>
          <p:cNvPr id="4" name="">
            <a:extLst xmlns:a="http://schemas.openxmlformats.org/drawingml/2006/main">
              <a:ext uri="{FF2B5EF4-FFF2-40B4-BE49-F238E27FC236}">
                <a16:creationId xmlns:a16="http://schemas.microsoft.com/office/drawing/2014/main" id="{815514E8-36F9-4FE7-A52F-F2DA8DA7BA27}"/>
              </a:ext>
            </a:extLst>
          </p:cNvPr>
          <p:cNvSpPr>
            <a:spLocks xmlns:a="http://schemas.openxmlformats.org/drawingml/2006/main" noGrp="1"/>
          </p:cNvSpPr>
          <p:nvPr/>
        </p:nvSpPr>
        <p:spPr>
          <a:xfrm xmlns:a="http://schemas.openxmlformats.org/drawingml/2006/main">
            <a:off x="1752600" y="866775"/>
            <a:ext cx="7715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0">
                <a:solidFill>
                  <a:srgbClr val="626A78"/>
                </a:solidFill>
                <a:latin typeface="Aptos"/>
                <a:ea typeface="Aptos"/>
                <a:cs typeface="Aptos"/>
              </a:defRPr>
            </a:pPr>
            <a:r>
              <a:rPr sz="1350" b="0">
                <a:solidFill>
                  <a:srgbClr val="626A78"/>
                </a:solidFill>
                <a:latin typeface="Aptos"/>
                <a:ea typeface="Aptos"/>
                <a:cs typeface="Aptos"/>
              </a:rPr>
              <a:t>Infrastructure can stay lean. Credibility, rights and field operations carry the budget.</a:t>
            </a:r>
          </a:p>
        </p:txBody>
      </p:sp>
      <p:sp>
        <p:nvSpPr>
          <p:cNvPr id="5" name="">
            <a:extLst xmlns:a="http://schemas.openxmlformats.org/drawingml/2006/main">
              <a:ext uri="{FF2B5EF4-FFF2-40B4-BE49-F238E27FC236}">
                <a16:creationId xmlns:a16="http://schemas.microsoft.com/office/drawing/2014/main" id="{1AFB3851-6382-48B9-8414-3B557FAD5B68}"/>
              </a:ext>
            </a:extLst>
          </p:cNvPr>
          <p:cNvSpPr>
            <a:spLocks xmlns:a="http://schemas.openxmlformats.org/drawingml/2006/main" noGrp="1"/>
          </p:cNvSpPr>
          <p:nvPr/>
        </p:nvSpPr>
        <p:spPr>
          <a:xfrm xmlns:a="http://schemas.openxmlformats.org/drawingml/2006/main">
            <a:off x="11210925" y="381000"/>
            <a:ext cx="275082" cy="325755"/>
          </a:xfrm>
          <a:prstGeom xmlns:a="http://schemas.openxmlformats.org/drawingml/2006/main" prst="roundRect">
            <a:avLst>
              <a:gd name="adj" fmla="val 47368"/>
            </a:avLst>
          </a:prstGeom>
          <a:noFill xmlns:a="http://schemas.openxmlformats.org/drawingml/2006/main"/>
          <a:ln xmlns:a="http://schemas.openxmlformats.org/drawingml/2006/main" w="28956">
            <a:solidFill>
              <a:srgbClr val="0D1321"/>
            </a:solidFill>
            <a:prstDash val="solid"/>
          </a:ln>
        </p:spPr>
      </p:sp>
      <p:sp>
        <p:nvSpPr>
          <p:cNvPr id="6" name="">
            <a:extLst xmlns:a="http://schemas.openxmlformats.org/drawingml/2006/main">
              <a:ext uri="{FF2B5EF4-FFF2-40B4-BE49-F238E27FC236}">
                <a16:creationId xmlns:a16="http://schemas.microsoft.com/office/drawing/2014/main" id="{75111C9F-6F25-4E4B-BC43-78E73ED2FC4E}"/>
              </a:ext>
            </a:extLst>
          </p:cNvPr>
          <p:cNvSpPr>
            <a:spLocks xmlns:a="http://schemas.openxmlformats.org/drawingml/2006/main" noGrp="1"/>
          </p:cNvSpPr>
          <p:nvPr/>
        </p:nvSpPr>
        <p:spPr>
          <a:xfrm xmlns:a="http://schemas.openxmlformats.org/drawingml/2006/main">
            <a:off x="11247120" y="598170"/>
            <a:ext cx="202692" cy="130302"/>
          </a:xfrm>
          <a:prstGeom xmlns:a="http://schemas.openxmlformats.org/drawingml/2006/main" prst="triangle">
            <a:avLst/>
          </a:prstGeom>
          <a:solidFill xmlns:a="http://schemas.openxmlformats.org/drawingml/2006/main">
            <a:srgbClr val="0D1321"/>
          </a:solidFill>
          <a:ln xmlns:a="http://schemas.openxmlformats.org/drawingml/2006/main" w="0">
            <a:solidFill>
              <a:srgbClr val="0D1321"/>
            </a:solidFill>
            <a:prstDash val="solid"/>
          </a:ln>
        </p:spPr>
      </p:sp>
      <p:sp>
        <p:nvSpPr>
          <p:cNvPr id="7" name="">
            <a:extLst xmlns:a="http://schemas.openxmlformats.org/drawingml/2006/main">
              <a:ext uri="{FF2B5EF4-FFF2-40B4-BE49-F238E27FC236}">
                <a16:creationId xmlns:a16="http://schemas.microsoft.com/office/drawing/2014/main" id="{E58C771F-3F32-44B6-BAE7-03BD7DF5678B}"/>
              </a:ext>
            </a:extLst>
          </p:cNvPr>
          <p:cNvSpPr>
            <a:spLocks xmlns:a="http://schemas.openxmlformats.org/drawingml/2006/main" noGrp="1"/>
          </p:cNvSpPr>
          <p:nvPr/>
        </p:nvSpPr>
        <p:spPr>
          <a:xfrm xmlns:a="http://schemas.openxmlformats.org/drawingml/2006/main">
            <a:off x="11290554" y="424434"/>
            <a:ext cx="115824" cy="1158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627" b="1">
                <a:solidFill>
                  <a:srgbClr val="0D1321"/>
                </a:solidFill>
                <a:latin typeface="Aptos"/>
                <a:ea typeface="Aptos"/>
                <a:cs typeface="Aptos"/>
              </a:defRPr>
            </a:pPr>
            <a:r>
              <a:rPr sz="627" b="1">
                <a:solidFill>
                  <a:srgbClr val="0D1321"/>
                </a:solidFill>
                <a:latin typeface="Aptos"/>
                <a:ea typeface="Aptos"/>
                <a:cs typeface="Aptos"/>
              </a:rPr>
              <a:t>✦</a:t>
            </a:r>
          </a:p>
        </p:txBody>
      </p:sp>
      <p:sp>
        <p:nvSpPr>
          <p:cNvPr id="8" name="">
            <a:extLst xmlns:a="http://schemas.openxmlformats.org/drawingml/2006/main">
              <a:ext uri="{FF2B5EF4-FFF2-40B4-BE49-F238E27FC236}">
                <a16:creationId xmlns:a16="http://schemas.microsoft.com/office/drawing/2014/main" id="{4A829BAB-1F72-4CF4-801B-C9C57529EE67}"/>
              </a:ext>
            </a:extLst>
          </p:cNvPr>
          <p:cNvSpPr>
            <a:spLocks xmlns:a="http://schemas.openxmlformats.org/drawingml/2006/main" noGrp="1"/>
          </p:cNvSpPr>
          <p:nvPr/>
        </p:nvSpPr>
        <p:spPr>
          <a:xfrm xmlns:a="http://schemas.openxmlformats.org/drawingml/2006/main">
            <a:off x="10144125" y="828675"/>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200" b="1">
                <a:solidFill>
                  <a:srgbClr val="0D1321"/>
                </a:solidFill>
                <a:latin typeface="Aptos"/>
                <a:ea typeface="Aptos"/>
                <a:cs typeface="Aptos"/>
              </a:defRPr>
            </a:pPr>
            <a:r>
              <a:rPr sz="1200" b="1">
                <a:solidFill>
                  <a:srgbClr val="0D1321"/>
                </a:solidFill>
                <a:latin typeface="Aptos"/>
                <a:ea typeface="Aptos"/>
                <a:cs typeface="Aptos"/>
              </a:rPr>
              <a:t>sidequests</a:t>
            </a:r>
          </a:p>
        </p:txBody>
      </p:sp>
      <p:sp>
        <p:nvSpPr>
          <p:cNvPr id="9" name="">
            <a:extLst xmlns:a="http://schemas.openxmlformats.org/drawingml/2006/main">
              <a:ext uri="{FF2B5EF4-FFF2-40B4-BE49-F238E27FC236}">
                <a16:creationId xmlns:a16="http://schemas.microsoft.com/office/drawing/2014/main" id="{E5E97596-BAB1-4E9F-9016-894DD0041D49}"/>
              </a:ext>
            </a:extLst>
          </p:cNvPr>
          <p:cNvSpPr>
            <a:spLocks xmlns:a="http://schemas.openxmlformats.org/drawingml/2006/main" noGrp="1"/>
          </p:cNvSpPr>
          <p:nvPr/>
        </p:nvSpPr>
        <p:spPr>
          <a:xfrm xmlns:a="http://schemas.openxmlformats.org/drawingml/2006/main">
            <a:off x="552450" y="6543675"/>
            <a:ext cx="4000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675" b="0">
                <a:solidFill>
                  <a:srgbClr val="9AA1AD"/>
                </a:solidFill>
                <a:latin typeface="Aptos"/>
                <a:ea typeface="Aptos"/>
                <a:cs typeface="Aptos"/>
              </a:defRPr>
            </a:pPr>
            <a:r>
              <a:rPr sz="675" b="0">
                <a:solidFill>
                  <a:srgbClr val="9AA1AD"/>
                </a:solidFill>
                <a:latin typeface="Aptos"/>
                <a:ea typeface="Aptos"/>
                <a:cs typeface="Aptos"/>
              </a:rPr>
              <a:t>Development &amp; launch readiness · 12 Aug 2026</a:t>
            </a:r>
          </a:p>
        </p:txBody>
      </p:sp>
      <p:sp>
        <p:nvSpPr>
          <p:cNvPr id="10" name="">
            <a:extLst xmlns:a="http://schemas.openxmlformats.org/drawingml/2006/main">
              <a:ext uri="{FF2B5EF4-FFF2-40B4-BE49-F238E27FC236}">
                <a16:creationId xmlns:a16="http://schemas.microsoft.com/office/drawing/2014/main" id="{A74D0F18-CD82-4C46-BCBD-F378C4F3C192}"/>
              </a:ext>
            </a:extLst>
          </p:cNvPr>
          <p:cNvSpPr>
            <a:spLocks xmlns:a="http://schemas.openxmlformats.org/drawingml/2006/main" noGrp="1"/>
          </p:cNvSpPr>
          <p:nvPr/>
        </p:nvSpPr>
        <p:spPr>
          <a:xfrm xmlns:a="http://schemas.openxmlformats.org/drawingml/2006/main">
            <a:off x="11239500" y="6543675"/>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675" b="0">
                <a:solidFill>
                  <a:srgbClr val="9AA1AD"/>
                </a:solidFill>
                <a:latin typeface="Aptos"/>
                <a:ea typeface="Aptos"/>
                <a:cs typeface="Aptos"/>
              </a:defRPr>
            </a:pPr>
            <a:r>
              <a:rPr sz="675" b="0">
                <a:solidFill>
                  <a:srgbClr val="9AA1AD"/>
                </a:solidFill>
                <a:latin typeface="Aptos"/>
                <a:ea typeface="Aptos"/>
                <a:cs typeface="Aptos"/>
              </a:rPr>
              <a:t>9</a:t>
            </a:r>
          </a:p>
        </p:txBody>
      </p:sp>
      <p:sp>
        <p:nvSpPr>
          <p:cNvPr id="11" name="">
            <a:extLst xmlns:a="http://schemas.openxmlformats.org/drawingml/2006/main">
              <a:ext uri="{FF2B5EF4-FFF2-40B4-BE49-F238E27FC236}">
                <a16:creationId xmlns:a16="http://schemas.microsoft.com/office/drawing/2014/main" id="{CCCF764E-9B7A-45D4-9E27-C97BBAA10A09}"/>
              </a:ext>
            </a:extLst>
          </p:cNvPr>
          <p:cNvSpPr>
            <a:spLocks xmlns:a="http://schemas.openxmlformats.org/drawingml/2006/main" noGrp="1"/>
          </p:cNvSpPr>
          <p:nvPr/>
        </p:nvSpPr>
        <p:spPr>
          <a:xfrm xmlns:a="http://schemas.openxmlformats.org/drawingml/2006/main">
            <a:off x="552450" y="1657350"/>
            <a:ext cx="2857500" cy="2076450"/>
          </a:xfrm>
          <a:prstGeom xmlns:a="http://schemas.openxmlformats.org/drawingml/2006/main" prst="roundRect">
            <a:avLst>
              <a:gd name="adj" fmla="val 9174"/>
            </a:avLst>
          </a:prstGeom>
          <a:solidFill xmlns:a="http://schemas.openxmlformats.org/drawingml/2006/main">
            <a:srgbClr val="FFFFFF"/>
          </a:solidFill>
          <a:ln xmlns:a="http://schemas.openxmlformats.org/drawingml/2006/main" w="9525">
            <a:solidFill>
              <a:srgbClr val="E1E5E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9ADE4B75-9EB7-4F9C-B24D-0EF76BE5D61F}"/>
              </a:ext>
            </a:extLst>
          </p:cNvPr>
          <p:cNvSpPr>
            <a:spLocks xmlns:a="http://schemas.openxmlformats.org/drawingml/2006/main" noGrp="1"/>
          </p:cNvSpPr>
          <p:nvPr/>
        </p:nvSpPr>
        <p:spPr>
          <a:xfrm xmlns:a="http://schemas.openxmlformats.org/drawingml/2006/main">
            <a:off x="552450" y="1657350"/>
            <a:ext cx="2857500" cy="66675"/>
          </a:xfrm>
          <a:prstGeom xmlns:a="http://schemas.openxmlformats.org/drawingml/2006/main" prst="rect">
            <a:avLst/>
          </a:prstGeom>
          <a:solidFill xmlns:a="http://schemas.openxmlformats.org/drawingml/2006/main">
            <a:srgbClr val="2E7D5A"/>
          </a:solidFill>
          <a:ln xmlns:a="http://schemas.openxmlformats.org/drawingml/2006/main" w="0">
            <a:solidFill>
              <a:srgbClr val="2E7D5A"/>
            </a:solidFill>
            <a:prstDash val="solid"/>
          </a:ln>
        </p:spPr>
      </p:sp>
      <p:sp>
        <p:nvSpPr>
          <p:cNvPr id="13" name="">
            <a:extLst xmlns:a="http://schemas.openxmlformats.org/drawingml/2006/main">
              <a:ext uri="{FF2B5EF4-FFF2-40B4-BE49-F238E27FC236}">
                <a16:creationId xmlns:a16="http://schemas.microsoft.com/office/drawing/2014/main" id="{E50D4FB2-6DCA-4E10-81C2-BF408D4AF742}"/>
              </a:ext>
            </a:extLst>
          </p:cNvPr>
          <p:cNvSpPr>
            <a:spLocks xmlns:a="http://schemas.openxmlformats.org/drawingml/2006/main" noGrp="1"/>
          </p:cNvSpPr>
          <p:nvPr/>
        </p:nvSpPr>
        <p:spPr>
          <a:xfrm xmlns:a="http://schemas.openxmlformats.org/drawingml/2006/main">
            <a:off x="781050" y="19240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2E7D5A"/>
                </a:solidFill>
                <a:latin typeface="Aptos"/>
                <a:ea typeface="Aptos"/>
                <a:cs typeface="Aptos"/>
              </a:defRPr>
            </a:pPr>
            <a:r>
              <a:rPr sz="825" b="1">
                <a:solidFill>
                  <a:srgbClr val="2E7D5A"/>
                </a:solidFill>
                <a:latin typeface="Aptos"/>
                <a:ea typeface="Aptos"/>
                <a:cs typeface="Aptos"/>
              </a:rPr>
              <a:t>CLOSED PILOT</a:t>
            </a:r>
          </a:p>
        </p:txBody>
      </p:sp>
      <p:sp>
        <p:nvSpPr>
          <p:cNvPr id="14" name="">
            <a:extLst xmlns:a="http://schemas.openxmlformats.org/drawingml/2006/main">
              <a:ext uri="{FF2B5EF4-FFF2-40B4-BE49-F238E27FC236}">
                <a16:creationId xmlns:a16="http://schemas.microsoft.com/office/drawing/2014/main" id="{431182F8-485D-4D42-845F-094191A39021}"/>
              </a:ext>
            </a:extLst>
          </p:cNvPr>
          <p:cNvSpPr>
            <a:spLocks xmlns:a="http://schemas.openxmlformats.org/drawingml/2006/main" noGrp="1"/>
          </p:cNvSpPr>
          <p:nvPr/>
        </p:nvSpPr>
        <p:spPr>
          <a:xfrm xmlns:a="http://schemas.openxmlformats.org/drawingml/2006/main">
            <a:off x="781050" y="2324100"/>
            <a:ext cx="238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550" b="1">
                <a:solidFill>
                  <a:srgbClr val="101827"/>
                </a:solidFill>
                <a:latin typeface="Aptos Display"/>
                <a:ea typeface="Aptos Display"/>
                <a:cs typeface="Aptos Display"/>
              </a:defRPr>
            </a:pPr>
            <a:r>
              <a:rPr sz="2550" b="1">
                <a:solidFill>
                  <a:srgbClr val="101827"/>
                </a:solidFill>
                <a:latin typeface="Aptos Display"/>
                <a:ea typeface="Aptos Display"/>
                <a:cs typeface="Aptos Display"/>
              </a:rPr>
              <a:t>$1.5k–$5k</a:t>
            </a:r>
          </a:p>
        </p:txBody>
      </p:sp>
      <p:sp>
        <p:nvSpPr>
          <p:cNvPr id="15" name="">
            <a:extLst xmlns:a="http://schemas.openxmlformats.org/drawingml/2006/main">
              <a:ext uri="{FF2B5EF4-FFF2-40B4-BE49-F238E27FC236}">
                <a16:creationId xmlns:a16="http://schemas.microsoft.com/office/drawing/2014/main" id="{B61C6AC5-8981-4995-806B-E008CDBE77C7}"/>
              </a:ext>
            </a:extLst>
          </p:cNvPr>
          <p:cNvSpPr>
            <a:spLocks xmlns:a="http://schemas.openxmlformats.org/drawingml/2006/main" noGrp="1"/>
          </p:cNvSpPr>
          <p:nvPr/>
        </p:nvSpPr>
        <p:spPr>
          <a:xfrm xmlns:a="http://schemas.openxmlformats.org/drawingml/2006/main">
            <a:off x="781050" y="2762250"/>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0">
                <a:solidFill>
                  <a:srgbClr val="626A78"/>
                </a:solidFill>
                <a:latin typeface="Aptos"/>
                <a:ea typeface="Aptos"/>
                <a:cs typeface="Aptos"/>
              </a:defRPr>
            </a:pPr>
            <a:r>
              <a:rPr sz="825" b="0">
                <a:solidFill>
                  <a:srgbClr val="626A78"/>
                </a:solidFill>
                <a:latin typeface="Aptos"/>
                <a:ea typeface="Aptos"/>
                <a:cs typeface="Aptos"/>
              </a:rPr>
              <a:t>one-time</a:t>
            </a:r>
          </a:p>
        </p:txBody>
      </p:sp>
      <p:sp>
        <p:nvSpPr>
          <p:cNvPr id="16" name="">
            <a:extLst xmlns:a="http://schemas.openxmlformats.org/drawingml/2006/main">
              <a:ext uri="{FF2B5EF4-FFF2-40B4-BE49-F238E27FC236}">
                <a16:creationId xmlns:a16="http://schemas.microsoft.com/office/drawing/2014/main" id="{A1EC5544-74D5-4BF7-8A91-2A72B7983EBE}"/>
              </a:ext>
            </a:extLst>
          </p:cNvPr>
          <p:cNvSpPr>
            <a:spLocks xmlns:a="http://schemas.openxmlformats.org/drawingml/2006/main" noGrp="1"/>
          </p:cNvSpPr>
          <p:nvPr/>
        </p:nvSpPr>
        <p:spPr>
          <a:xfrm xmlns:a="http://schemas.openxmlformats.org/drawingml/2006/main">
            <a:off x="781050" y="311467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101827"/>
                </a:solidFill>
                <a:latin typeface="Aptos"/>
                <a:ea typeface="Aptos"/>
                <a:cs typeface="Aptos"/>
              </a:defRPr>
            </a:pPr>
            <a:r>
              <a:rPr sz="1650" b="1">
                <a:solidFill>
                  <a:srgbClr val="101827"/>
                </a:solidFill>
                <a:latin typeface="Aptos"/>
                <a:ea typeface="Aptos"/>
                <a:cs typeface="Aptos"/>
              </a:rPr>
              <a:t>$250–$1k/mo</a:t>
            </a:r>
          </a:p>
        </p:txBody>
      </p:sp>
      <p:sp>
        <p:nvSpPr>
          <p:cNvPr id="17" name="">
            <a:extLst xmlns:a="http://schemas.openxmlformats.org/drawingml/2006/main">
              <a:ext uri="{FF2B5EF4-FFF2-40B4-BE49-F238E27FC236}">
                <a16:creationId xmlns:a16="http://schemas.microsoft.com/office/drawing/2014/main" id="{E912ACC1-5726-40AB-8787-D187DEAB7169}"/>
              </a:ext>
            </a:extLst>
          </p:cNvPr>
          <p:cNvSpPr>
            <a:spLocks xmlns:a="http://schemas.openxmlformats.org/drawingml/2006/main" noGrp="1"/>
          </p:cNvSpPr>
          <p:nvPr/>
        </p:nvSpPr>
        <p:spPr>
          <a:xfrm xmlns:a="http://schemas.openxmlformats.org/drawingml/2006/main">
            <a:off x="781050" y="345757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0">
                <a:solidFill>
                  <a:srgbClr val="626A78"/>
                </a:solidFill>
                <a:latin typeface="Aptos"/>
                <a:ea typeface="Aptos"/>
                <a:cs typeface="Aptos"/>
              </a:defRPr>
            </a:pPr>
            <a:r>
              <a:rPr sz="750" b="0">
                <a:solidFill>
                  <a:srgbClr val="626A78"/>
                </a:solidFill>
                <a:latin typeface="Aptos"/>
                <a:ea typeface="Aptos"/>
                <a:cs typeface="Aptos"/>
              </a:rPr>
              <a:t>recurring run rate</a:t>
            </a:r>
          </a:p>
        </p:txBody>
      </p:sp>
      <p:sp>
        <p:nvSpPr>
          <p:cNvPr id="18" name="">
            <a:extLst xmlns:a="http://schemas.openxmlformats.org/drawingml/2006/main">
              <a:ext uri="{FF2B5EF4-FFF2-40B4-BE49-F238E27FC236}">
                <a16:creationId xmlns:a16="http://schemas.microsoft.com/office/drawing/2014/main" id="{4A8725EB-A866-460E-BEE4-B53178C502A2}"/>
              </a:ext>
            </a:extLst>
          </p:cNvPr>
          <p:cNvSpPr>
            <a:spLocks xmlns:a="http://schemas.openxmlformats.org/drawingml/2006/main" noGrp="1"/>
          </p:cNvSpPr>
          <p:nvPr/>
        </p:nvSpPr>
        <p:spPr>
          <a:xfrm xmlns:a="http://schemas.openxmlformats.org/drawingml/2006/main">
            <a:off x="4229100" y="1657350"/>
            <a:ext cx="2857500" cy="2076450"/>
          </a:xfrm>
          <a:prstGeom xmlns:a="http://schemas.openxmlformats.org/drawingml/2006/main" prst="roundRect">
            <a:avLst>
              <a:gd name="adj" fmla="val 9174"/>
            </a:avLst>
          </a:prstGeom>
          <a:solidFill xmlns:a="http://schemas.openxmlformats.org/drawingml/2006/main">
            <a:srgbClr val="FFFFFF"/>
          </a:solidFill>
          <a:ln xmlns:a="http://schemas.openxmlformats.org/drawingml/2006/main" w="9525">
            <a:solidFill>
              <a:srgbClr val="E1E5E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60BB908A-91E8-4B2E-BEA1-508874E173B7}"/>
              </a:ext>
            </a:extLst>
          </p:cNvPr>
          <p:cNvSpPr>
            <a:spLocks xmlns:a="http://schemas.openxmlformats.org/drawingml/2006/main" noGrp="1"/>
          </p:cNvSpPr>
          <p:nvPr/>
        </p:nvSpPr>
        <p:spPr>
          <a:xfrm xmlns:a="http://schemas.openxmlformats.org/drawingml/2006/main">
            <a:off x="4229100" y="1657350"/>
            <a:ext cx="2857500" cy="6667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20" name="">
            <a:extLst xmlns:a="http://schemas.openxmlformats.org/drawingml/2006/main">
              <a:ext uri="{FF2B5EF4-FFF2-40B4-BE49-F238E27FC236}">
                <a16:creationId xmlns:a16="http://schemas.microsoft.com/office/drawing/2014/main" id="{4DA64DAA-B2AA-4333-87ED-7AEC772A5165}"/>
              </a:ext>
            </a:extLst>
          </p:cNvPr>
          <p:cNvSpPr>
            <a:spLocks xmlns:a="http://schemas.openxmlformats.org/drawingml/2006/main" noGrp="1"/>
          </p:cNvSpPr>
          <p:nvPr/>
        </p:nvSpPr>
        <p:spPr>
          <a:xfrm xmlns:a="http://schemas.openxmlformats.org/drawingml/2006/main">
            <a:off x="4457700" y="19240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2563EB"/>
                </a:solidFill>
                <a:latin typeface="Aptos"/>
                <a:ea typeface="Aptos"/>
                <a:cs typeface="Aptos"/>
              </a:defRPr>
            </a:pPr>
            <a:r>
              <a:rPr sz="825" b="1">
                <a:solidFill>
                  <a:srgbClr val="2563EB"/>
                </a:solidFill>
                <a:latin typeface="Aptos"/>
                <a:ea typeface="Aptos"/>
                <a:cs typeface="Aptos"/>
              </a:rPr>
              <a:t>MIAMI LAUNCH</a:t>
            </a:r>
          </a:p>
        </p:txBody>
      </p:sp>
      <p:sp>
        <p:nvSpPr>
          <p:cNvPr id="21" name="">
            <a:extLst xmlns:a="http://schemas.openxmlformats.org/drawingml/2006/main">
              <a:ext uri="{FF2B5EF4-FFF2-40B4-BE49-F238E27FC236}">
                <a16:creationId xmlns:a16="http://schemas.microsoft.com/office/drawing/2014/main" id="{E8975E1C-1B2A-4133-A73F-A89184B1E6A5}"/>
              </a:ext>
            </a:extLst>
          </p:cNvPr>
          <p:cNvSpPr>
            <a:spLocks xmlns:a="http://schemas.openxmlformats.org/drawingml/2006/main" noGrp="1"/>
          </p:cNvSpPr>
          <p:nvPr/>
        </p:nvSpPr>
        <p:spPr>
          <a:xfrm xmlns:a="http://schemas.openxmlformats.org/drawingml/2006/main">
            <a:off x="4457700" y="2324100"/>
            <a:ext cx="238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550" b="1">
                <a:solidFill>
                  <a:srgbClr val="101827"/>
                </a:solidFill>
                <a:latin typeface="Aptos Display"/>
                <a:ea typeface="Aptos Display"/>
                <a:cs typeface="Aptos Display"/>
              </a:defRPr>
            </a:pPr>
            <a:r>
              <a:rPr sz="2550" b="1">
                <a:solidFill>
                  <a:srgbClr val="101827"/>
                </a:solidFill>
                <a:latin typeface="Aptos Display"/>
                <a:ea typeface="Aptos Display"/>
                <a:cs typeface="Aptos Display"/>
              </a:rPr>
              <a:t>$8k–$25k</a:t>
            </a:r>
          </a:p>
        </p:txBody>
      </p:sp>
      <p:sp>
        <p:nvSpPr>
          <p:cNvPr id="22" name="">
            <a:extLst xmlns:a="http://schemas.openxmlformats.org/drawingml/2006/main">
              <a:ext uri="{FF2B5EF4-FFF2-40B4-BE49-F238E27FC236}">
                <a16:creationId xmlns:a16="http://schemas.microsoft.com/office/drawing/2014/main" id="{CAD45ACB-235E-4792-95A1-5D2DEC01F80F}"/>
              </a:ext>
            </a:extLst>
          </p:cNvPr>
          <p:cNvSpPr>
            <a:spLocks xmlns:a="http://schemas.openxmlformats.org/drawingml/2006/main" noGrp="1"/>
          </p:cNvSpPr>
          <p:nvPr/>
        </p:nvSpPr>
        <p:spPr>
          <a:xfrm xmlns:a="http://schemas.openxmlformats.org/drawingml/2006/main">
            <a:off x="4457700" y="2762250"/>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0">
                <a:solidFill>
                  <a:srgbClr val="626A78"/>
                </a:solidFill>
                <a:latin typeface="Aptos"/>
                <a:ea typeface="Aptos"/>
                <a:cs typeface="Aptos"/>
              </a:defRPr>
            </a:pPr>
            <a:r>
              <a:rPr sz="825" b="0">
                <a:solidFill>
                  <a:srgbClr val="626A78"/>
                </a:solidFill>
                <a:latin typeface="Aptos"/>
                <a:ea typeface="Aptos"/>
                <a:cs typeface="Aptos"/>
              </a:rPr>
              <a:t>one-time</a:t>
            </a:r>
          </a:p>
        </p:txBody>
      </p:sp>
      <p:sp>
        <p:nvSpPr>
          <p:cNvPr id="23" name="">
            <a:extLst xmlns:a="http://schemas.openxmlformats.org/drawingml/2006/main">
              <a:ext uri="{FF2B5EF4-FFF2-40B4-BE49-F238E27FC236}">
                <a16:creationId xmlns:a16="http://schemas.microsoft.com/office/drawing/2014/main" id="{3A5B850E-98A0-47BC-8882-F0DFB3A0A1BD}"/>
              </a:ext>
            </a:extLst>
          </p:cNvPr>
          <p:cNvSpPr>
            <a:spLocks xmlns:a="http://schemas.openxmlformats.org/drawingml/2006/main" noGrp="1"/>
          </p:cNvSpPr>
          <p:nvPr/>
        </p:nvSpPr>
        <p:spPr>
          <a:xfrm xmlns:a="http://schemas.openxmlformats.org/drawingml/2006/main">
            <a:off x="4457700" y="311467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101827"/>
                </a:solidFill>
                <a:latin typeface="Aptos"/>
                <a:ea typeface="Aptos"/>
                <a:cs typeface="Aptos"/>
              </a:defRPr>
            </a:pPr>
            <a:r>
              <a:rPr sz="1650" b="1">
                <a:solidFill>
                  <a:srgbClr val="101827"/>
                </a:solidFill>
                <a:latin typeface="Aptos"/>
                <a:ea typeface="Aptos"/>
                <a:cs typeface="Aptos"/>
              </a:rPr>
              <a:t>$1.5k–$6k/mo</a:t>
            </a:r>
          </a:p>
        </p:txBody>
      </p:sp>
      <p:sp>
        <p:nvSpPr>
          <p:cNvPr id="24" name="">
            <a:extLst xmlns:a="http://schemas.openxmlformats.org/drawingml/2006/main">
              <a:ext uri="{FF2B5EF4-FFF2-40B4-BE49-F238E27FC236}">
                <a16:creationId xmlns:a16="http://schemas.microsoft.com/office/drawing/2014/main" id="{CEF200F6-E5DD-4418-B766-105766846E82}"/>
              </a:ext>
            </a:extLst>
          </p:cNvPr>
          <p:cNvSpPr>
            <a:spLocks xmlns:a="http://schemas.openxmlformats.org/drawingml/2006/main" noGrp="1"/>
          </p:cNvSpPr>
          <p:nvPr/>
        </p:nvSpPr>
        <p:spPr>
          <a:xfrm xmlns:a="http://schemas.openxmlformats.org/drawingml/2006/main">
            <a:off x="4457700" y="345757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0">
                <a:solidFill>
                  <a:srgbClr val="626A78"/>
                </a:solidFill>
                <a:latin typeface="Aptos"/>
                <a:ea typeface="Aptos"/>
                <a:cs typeface="Aptos"/>
              </a:defRPr>
            </a:pPr>
            <a:r>
              <a:rPr sz="750" b="0">
                <a:solidFill>
                  <a:srgbClr val="626A78"/>
                </a:solidFill>
                <a:latin typeface="Aptos"/>
                <a:ea typeface="Aptos"/>
                <a:cs typeface="Aptos"/>
              </a:rPr>
              <a:t>recurring run rate</a:t>
            </a:r>
          </a:p>
        </p:txBody>
      </p:sp>
      <p:sp>
        <p:nvSpPr>
          <p:cNvPr id="25" name="">
            <a:extLst xmlns:a="http://schemas.openxmlformats.org/drawingml/2006/main">
              <a:ext uri="{FF2B5EF4-FFF2-40B4-BE49-F238E27FC236}">
                <a16:creationId xmlns:a16="http://schemas.microsoft.com/office/drawing/2014/main" id="{9FD3EDAF-480C-4F71-BCB5-7B1246D27E25}"/>
              </a:ext>
            </a:extLst>
          </p:cNvPr>
          <p:cNvSpPr>
            <a:spLocks xmlns:a="http://schemas.openxmlformats.org/drawingml/2006/main" noGrp="1"/>
          </p:cNvSpPr>
          <p:nvPr/>
        </p:nvSpPr>
        <p:spPr>
          <a:xfrm xmlns:a="http://schemas.openxmlformats.org/drawingml/2006/main">
            <a:off x="7905750" y="1657350"/>
            <a:ext cx="2857500" cy="2076450"/>
          </a:xfrm>
          <a:prstGeom xmlns:a="http://schemas.openxmlformats.org/drawingml/2006/main" prst="roundRect">
            <a:avLst>
              <a:gd name="adj" fmla="val 9174"/>
            </a:avLst>
          </a:prstGeom>
          <a:solidFill xmlns:a="http://schemas.openxmlformats.org/drawingml/2006/main">
            <a:srgbClr val="FFFFFF"/>
          </a:solidFill>
          <a:ln xmlns:a="http://schemas.openxmlformats.org/drawingml/2006/main" w="9525">
            <a:solidFill>
              <a:srgbClr val="E1E5E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6" name="">
            <a:extLst xmlns:a="http://schemas.openxmlformats.org/drawingml/2006/main">
              <a:ext uri="{FF2B5EF4-FFF2-40B4-BE49-F238E27FC236}">
                <a16:creationId xmlns:a16="http://schemas.microsoft.com/office/drawing/2014/main" id="{37122CE2-D8C4-4808-BC20-925159947E6B}"/>
              </a:ext>
            </a:extLst>
          </p:cNvPr>
          <p:cNvSpPr>
            <a:spLocks xmlns:a="http://schemas.openxmlformats.org/drawingml/2006/main" noGrp="1"/>
          </p:cNvSpPr>
          <p:nvPr/>
        </p:nvSpPr>
        <p:spPr>
          <a:xfrm xmlns:a="http://schemas.openxmlformats.org/drawingml/2006/main">
            <a:off x="7905750" y="1657350"/>
            <a:ext cx="2857500" cy="66675"/>
          </a:xfrm>
          <a:prstGeom xmlns:a="http://schemas.openxmlformats.org/drawingml/2006/main" prst="rect">
            <a:avLst/>
          </a:prstGeom>
          <a:solidFill xmlns:a="http://schemas.openxmlformats.org/drawingml/2006/main">
            <a:srgbClr val="FF6F61"/>
          </a:solidFill>
          <a:ln xmlns:a="http://schemas.openxmlformats.org/drawingml/2006/main" w="0">
            <a:solidFill>
              <a:srgbClr val="FF6F61"/>
            </a:solidFill>
            <a:prstDash val="solid"/>
          </a:ln>
        </p:spPr>
      </p:sp>
      <p:sp>
        <p:nvSpPr>
          <p:cNvPr id="27" name="">
            <a:extLst xmlns:a="http://schemas.openxmlformats.org/drawingml/2006/main">
              <a:ext uri="{FF2B5EF4-FFF2-40B4-BE49-F238E27FC236}">
                <a16:creationId xmlns:a16="http://schemas.microsoft.com/office/drawing/2014/main" id="{1E3508DD-35A5-4886-B338-98EA6EA9FA04}"/>
              </a:ext>
            </a:extLst>
          </p:cNvPr>
          <p:cNvSpPr>
            <a:spLocks xmlns:a="http://schemas.openxmlformats.org/drawingml/2006/main" noGrp="1"/>
          </p:cNvSpPr>
          <p:nvPr/>
        </p:nvSpPr>
        <p:spPr>
          <a:xfrm xmlns:a="http://schemas.openxmlformats.org/drawingml/2006/main">
            <a:off x="8134350" y="19240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FF6F61"/>
                </a:solidFill>
                <a:latin typeface="Aptos"/>
                <a:ea typeface="Aptos"/>
                <a:cs typeface="Aptos"/>
              </a:defRPr>
            </a:pPr>
            <a:r>
              <a:rPr sz="825" b="1">
                <a:solidFill>
                  <a:srgbClr val="FF6F61"/>
                </a:solidFill>
                <a:latin typeface="Aptos"/>
                <a:ea typeface="Aptos"/>
                <a:cs typeface="Aptos"/>
              </a:rPr>
              <a:t>FUNDED PUSH</a:t>
            </a:r>
          </a:p>
        </p:txBody>
      </p:sp>
      <p:sp>
        <p:nvSpPr>
          <p:cNvPr id="28" name="">
            <a:extLst xmlns:a="http://schemas.openxmlformats.org/drawingml/2006/main">
              <a:ext uri="{FF2B5EF4-FFF2-40B4-BE49-F238E27FC236}">
                <a16:creationId xmlns:a16="http://schemas.microsoft.com/office/drawing/2014/main" id="{26B3E8F5-F227-42FC-B446-A55937BD8204}"/>
              </a:ext>
            </a:extLst>
          </p:cNvPr>
          <p:cNvSpPr>
            <a:spLocks xmlns:a="http://schemas.openxmlformats.org/drawingml/2006/main" noGrp="1"/>
          </p:cNvSpPr>
          <p:nvPr/>
        </p:nvSpPr>
        <p:spPr>
          <a:xfrm xmlns:a="http://schemas.openxmlformats.org/drawingml/2006/main">
            <a:off x="8134350" y="2324100"/>
            <a:ext cx="238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550" b="1">
                <a:solidFill>
                  <a:srgbClr val="101827"/>
                </a:solidFill>
                <a:latin typeface="Aptos Display"/>
                <a:ea typeface="Aptos Display"/>
                <a:cs typeface="Aptos Display"/>
              </a:defRPr>
            </a:pPr>
            <a:r>
              <a:rPr sz="2550" b="1">
                <a:solidFill>
                  <a:srgbClr val="101827"/>
                </a:solidFill>
                <a:latin typeface="Aptos Display"/>
                <a:ea typeface="Aptos Display"/>
                <a:cs typeface="Aptos Display"/>
              </a:rPr>
              <a:t>$35k–$90k</a:t>
            </a:r>
          </a:p>
        </p:txBody>
      </p:sp>
      <p:sp>
        <p:nvSpPr>
          <p:cNvPr id="29" name="">
            <a:extLst xmlns:a="http://schemas.openxmlformats.org/drawingml/2006/main">
              <a:ext uri="{FF2B5EF4-FFF2-40B4-BE49-F238E27FC236}">
                <a16:creationId xmlns:a16="http://schemas.microsoft.com/office/drawing/2014/main" id="{D3DDB8E7-0950-4A91-ACFB-3F59EA1BD0B1}"/>
              </a:ext>
            </a:extLst>
          </p:cNvPr>
          <p:cNvSpPr>
            <a:spLocks xmlns:a="http://schemas.openxmlformats.org/drawingml/2006/main" noGrp="1"/>
          </p:cNvSpPr>
          <p:nvPr/>
        </p:nvSpPr>
        <p:spPr>
          <a:xfrm xmlns:a="http://schemas.openxmlformats.org/drawingml/2006/main">
            <a:off x="8134350" y="2762250"/>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0">
                <a:solidFill>
                  <a:srgbClr val="626A78"/>
                </a:solidFill>
                <a:latin typeface="Aptos"/>
                <a:ea typeface="Aptos"/>
                <a:cs typeface="Aptos"/>
              </a:defRPr>
            </a:pPr>
            <a:r>
              <a:rPr sz="825" b="0">
                <a:solidFill>
                  <a:srgbClr val="626A78"/>
                </a:solidFill>
                <a:latin typeface="Aptos"/>
                <a:ea typeface="Aptos"/>
                <a:cs typeface="Aptos"/>
              </a:rPr>
              <a:t>one-time</a:t>
            </a:r>
          </a:p>
        </p:txBody>
      </p:sp>
      <p:sp>
        <p:nvSpPr>
          <p:cNvPr id="30" name="">
            <a:extLst xmlns:a="http://schemas.openxmlformats.org/drawingml/2006/main">
              <a:ext uri="{FF2B5EF4-FFF2-40B4-BE49-F238E27FC236}">
                <a16:creationId xmlns:a16="http://schemas.microsoft.com/office/drawing/2014/main" id="{1A4A502B-80CA-4E73-A0C5-7A5A2D643BA7}"/>
              </a:ext>
            </a:extLst>
          </p:cNvPr>
          <p:cNvSpPr>
            <a:spLocks xmlns:a="http://schemas.openxmlformats.org/drawingml/2006/main" noGrp="1"/>
          </p:cNvSpPr>
          <p:nvPr/>
        </p:nvSpPr>
        <p:spPr>
          <a:xfrm xmlns:a="http://schemas.openxmlformats.org/drawingml/2006/main">
            <a:off x="8134350" y="311467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101827"/>
                </a:solidFill>
                <a:latin typeface="Aptos"/>
                <a:ea typeface="Aptos"/>
                <a:cs typeface="Aptos"/>
              </a:defRPr>
            </a:pPr>
            <a:r>
              <a:rPr sz="1650" b="1">
                <a:solidFill>
                  <a:srgbClr val="101827"/>
                </a:solidFill>
                <a:latin typeface="Aptos"/>
                <a:ea typeface="Aptos"/>
                <a:cs typeface="Aptos"/>
              </a:rPr>
              <a:t>$12k–$35k/mo</a:t>
            </a:r>
          </a:p>
        </p:txBody>
      </p:sp>
      <p:sp>
        <p:nvSpPr>
          <p:cNvPr id="31" name="">
            <a:extLst xmlns:a="http://schemas.openxmlformats.org/drawingml/2006/main">
              <a:ext uri="{FF2B5EF4-FFF2-40B4-BE49-F238E27FC236}">
                <a16:creationId xmlns:a16="http://schemas.microsoft.com/office/drawing/2014/main" id="{27E66AE7-A060-4AE0-AB7B-55D285EC74BD}"/>
              </a:ext>
            </a:extLst>
          </p:cNvPr>
          <p:cNvSpPr>
            <a:spLocks xmlns:a="http://schemas.openxmlformats.org/drawingml/2006/main" noGrp="1"/>
          </p:cNvSpPr>
          <p:nvPr/>
        </p:nvSpPr>
        <p:spPr>
          <a:xfrm xmlns:a="http://schemas.openxmlformats.org/drawingml/2006/main">
            <a:off x="8134350" y="345757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0">
                <a:solidFill>
                  <a:srgbClr val="626A78"/>
                </a:solidFill>
                <a:latin typeface="Aptos"/>
                <a:ea typeface="Aptos"/>
                <a:cs typeface="Aptos"/>
              </a:defRPr>
            </a:pPr>
            <a:r>
              <a:rPr sz="750" b="0">
                <a:solidFill>
                  <a:srgbClr val="626A78"/>
                </a:solidFill>
                <a:latin typeface="Aptos"/>
                <a:ea typeface="Aptos"/>
                <a:cs typeface="Aptos"/>
              </a:rPr>
              <a:t>recurring run rate</a:t>
            </a:r>
          </a:p>
        </p:txBody>
      </p:sp>
      <p:sp>
        <p:nvSpPr>
          <p:cNvPr id="32" name="">
            <a:extLst xmlns:a="http://schemas.openxmlformats.org/drawingml/2006/main">
              <a:ext uri="{FF2B5EF4-FFF2-40B4-BE49-F238E27FC236}">
                <a16:creationId xmlns:a16="http://schemas.microsoft.com/office/drawing/2014/main" id="{A7F504FA-8FD7-4C03-B97C-C139C083996C}"/>
              </a:ext>
            </a:extLst>
          </p:cNvPr>
          <p:cNvSpPr>
            <a:spLocks xmlns:a="http://schemas.openxmlformats.org/drawingml/2006/main" noGrp="1"/>
          </p:cNvSpPr>
          <p:nvPr/>
        </p:nvSpPr>
        <p:spPr>
          <a:xfrm xmlns:a="http://schemas.openxmlformats.org/drawingml/2006/main">
            <a:off x="552450" y="40957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2563EB"/>
                </a:solidFill>
                <a:latin typeface="Aptos"/>
                <a:ea typeface="Aptos"/>
                <a:cs typeface="Aptos"/>
              </a:defRPr>
            </a:pPr>
            <a:r>
              <a:rPr sz="825" b="1">
                <a:solidFill>
                  <a:srgbClr val="2563EB"/>
                </a:solidFill>
                <a:latin typeface="Aptos"/>
                <a:ea typeface="Aptos"/>
                <a:cs typeface="Aptos"/>
              </a:rPr>
              <a:t>CURRENT OFFICIAL BASELINES</a:t>
            </a:r>
          </a:p>
        </p:txBody>
      </p:sp>
      <p:sp>
        <p:nvSpPr>
          <p:cNvPr id="33" name="">
            <a:extLst xmlns:a="http://schemas.openxmlformats.org/drawingml/2006/main">
              <a:ext uri="{FF2B5EF4-FFF2-40B4-BE49-F238E27FC236}">
                <a16:creationId xmlns:a16="http://schemas.microsoft.com/office/drawing/2014/main" id="{CC1553AB-778D-4219-BE34-3182B2D6EDCB}"/>
              </a:ext>
            </a:extLst>
          </p:cNvPr>
          <p:cNvSpPr>
            <a:spLocks xmlns:a="http://schemas.openxmlformats.org/drawingml/2006/main" noGrp="1"/>
          </p:cNvSpPr>
          <p:nvPr/>
        </p:nvSpPr>
        <p:spPr>
          <a:xfrm xmlns:a="http://schemas.openxmlformats.org/drawingml/2006/main">
            <a:off x="552450" y="4438650"/>
            <a:ext cx="1657350" cy="1276350"/>
          </a:xfrm>
          <a:prstGeom xmlns:a="http://schemas.openxmlformats.org/drawingml/2006/main" prst="roundRect">
            <a:avLst>
              <a:gd name="adj" fmla="val 11940"/>
            </a:avLst>
          </a:prstGeom>
          <a:solidFill xmlns:a="http://schemas.openxmlformats.org/drawingml/2006/main">
            <a:srgbClr val="EAF0FF"/>
          </a:solidFill>
          <a:ln xmlns:a="http://schemas.openxmlformats.org/drawingml/2006/main" w="9525">
            <a:solidFill>
              <a:srgbClr val="D5DFFF"/>
            </a:solidFill>
            <a:prstDash val="solid"/>
          </a:ln>
        </p:spPr>
      </p:sp>
      <p:sp>
        <p:nvSpPr>
          <p:cNvPr id="34" name="">
            <a:extLst xmlns:a="http://schemas.openxmlformats.org/drawingml/2006/main">
              <a:ext uri="{FF2B5EF4-FFF2-40B4-BE49-F238E27FC236}">
                <a16:creationId xmlns:a16="http://schemas.microsoft.com/office/drawing/2014/main" id="{5AB2BE93-56F3-44F2-97A4-B147FB9B1279}"/>
              </a:ext>
            </a:extLst>
          </p:cNvPr>
          <p:cNvSpPr>
            <a:spLocks xmlns:a="http://schemas.openxmlformats.org/drawingml/2006/main" noGrp="1"/>
          </p:cNvSpPr>
          <p:nvPr/>
        </p:nvSpPr>
        <p:spPr>
          <a:xfrm xmlns:a="http://schemas.openxmlformats.org/drawingml/2006/main">
            <a:off x="704850" y="46291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75" b="1">
                <a:solidFill>
                  <a:srgbClr val="101827"/>
                </a:solidFill>
                <a:latin typeface="Aptos"/>
                <a:ea typeface="Aptos"/>
                <a:cs typeface="Aptos"/>
              </a:defRPr>
            </a:pPr>
            <a:r>
              <a:rPr sz="975" b="1">
                <a:solidFill>
                  <a:srgbClr val="101827"/>
                </a:solidFill>
                <a:latin typeface="Aptos"/>
                <a:ea typeface="Aptos"/>
                <a:cs typeface="Aptos"/>
              </a:rPr>
              <a:t>Supabase Pro</a:t>
            </a:r>
          </a:p>
        </p:txBody>
      </p:sp>
      <p:sp>
        <p:nvSpPr>
          <p:cNvPr id="35" name="">
            <a:extLst xmlns:a="http://schemas.openxmlformats.org/drawingml/2006/main">
              <a:ext uri="{FF2B5EF4-FFF2-40B4-BE49-F238E27FC236}">
                <a16:creationId xmlns:a16="http://schemas.microsoft.com/office/drawing/2014/main" id="{857AFCC3-70B7-4DFD-8336-59A69C401EE4}"/>
              </a:ext>
            </a:extLst>
          </p:cNvPr>
          <p:cNvSpPr>
            <a:spLocks xmlns:a="http://schemas.openxmlformats.org/drawingml/2006/main" noGrp="1"/>
          </p:cNvSpPr>
          <p:nvPr/>
        </p:nvSpPr>
        <p:spPr>
          <a:xfrm xmlns:a="http://schemas.openxmlformats.org/drawingml/2006/main">
            <a:off x="704850" y="4972050"/>
            <a:ext cx="1333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a:solidFill>
                  <a:srgbClr val="2563EB"/>
                </a:solidFill>
                <a:latin typeface="Aptos Display"/>
                <a:ea typeface="Aptos Display"/>
                <a:cs typeface="Aptos Display"/>
              </a:defRPr>
            </a:pPr>
            <a:r>
              <a:rPr sz="1725" b="1">
                <a:solidFill>
                  <a:srgbClr val="2563EB"/>
                </a:solidFill>
                <a:latin typeface="Aptos Display"/>
                <a:ea typeface="Aptos Display"/>
                <a:cs typeface="Aptos Display"/>
              </a:rPr>
              <a:t>$25/mo</a:t>
            </a:r>
          </a:p>
        </p:txBody>
      </p:sp>
      <p:sp>
        <p:nvSpPr>
          <p:cNvPr id="36" name="">
            <a:extLst xmlns:a="http://schemas.openxmlformats.org/drawingml/2006/main">
              <a:ext uri="{FF2B5EF4-FFF2-40B4-BE49-F238E27FC236}">
                <a16:creationId xmlns:a16="http://schemas.microsoft.com/office/drawing/2014/main" id="{8DC7A465-0DC0-48B7-B840-6667DCE0D318}"/>
              </a:ext>
            </a:extLst>
          </p:cNvPr>
          <p:cNvSpPr>
            <a:spLocks xmlns:a="http://schemas.openxmlformats.org/drawingml/2006/main" noGrp="1"/>
          </p:cNvSpPr>
          <p:nvPr/>
        </p:nvSpPr>
        <p:spPr>
          <a:xfrm xmlns:a="http://schemas.openxmlformats.org/drawingml/2006/main">
            <a:off x="704850" y="53721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0">
                <a:solidFill>
                  <a:srgbClr val="626A78"/>
                </a:solidFill>
                <a:latin typeface="Aptos"/>
                <a:ea typeface="Aptos"/>
                <a:cs typeface="Aptos"/>
              </a:defRPr>
            </a:pPr>
            <a:r>
              <a:rPr sz="750" b="0">
                <a:solidFill>
                  <a:srgbClr val="626A78"/>
                </a:solidFill>
                <a:latin typeface="Aptos"/>
                <a:ea typeface="Aptos"/>
                <a:cs typeface="Aptos"/>
              </a:rPr>
              <a:t>Avoids free-project inactivity</a:t>
            </a:r>
          </a:p>
        </p:txBody>
      </p:sp>
      <p:sp>
        <p:nvSpPr>
          <p:cNvPr id="37" name="">
            <a:extLst xmlns:a="http://schemas.openxmlformats.org/drawingml/2006/main">
              <a:ext uri="{FF2B5EF4-FFF2-40B4-BE49-F238E27FC236}">
                <a16:creationId xmlns:a16="http://schemas.microsoft.com/office/drawing/2014/main" id="{09521CDA-5730-479C-B94D-D913DB311366}"/>
              </a:ext>
            </a:extLst>
          </p:cNvPr>
          <p:cNvSpPr>
            <a:spLocks xmlns:a="http://schemas.openxmlformats.org/drawingml/2006/main" noGrp="1"/>
          </p:cNvSpPr>
          <p:nvPr/>
        </p:nvSpPr>
        <p:spPr>
          <a:xfrm xmlns:a="http://schemas.openxmlformats.org/drawingml/2006/main">
            <a:off x="2362200" y="4438650"/>
            <a:ext cx="1657350" cy="1276350"/>
          </a:xfrm>
          <a:prstGeom xmlns:a="http://schemas.openxmlformats.org/drawingml/2006/main" prst="roundRect">
            <a:avLst>
              <a:gd name="adj" fmla="val 11940"/>
            </a:avLst>
          </a:prstGeom>
          <a:solidFill xmlns:a="http://schemas.openxmlformats.org/drawingml/2006/main">
            <a:srgbClr val="EAF0FF"/>
          </a:solidFill>
          <a:ln xmlns:a="http://schemas.openxmlformats.org/drawingml/2006/main" w="9525">
            <a:solidFill>
              <a:srgbClr val="D5DFFF"/>
            </a:solidFill>
            <a:prstDash val="solid"/>
          </a:ln>
        </p:spPr>
      </p:sp>
      <p:sp>
        <p:nvSpPr>
          <p:cNvPr id="38" name="">
            <a:extLst xmlns:a="http://schemas.openxmlformats.org/drawingml/2006/main">
              <a:ext uri="{FF2B5EF4-FFF2-40B4-BE49-F238E27FC236}">
                <a16:creationId xmlns:a16="http://schemas.microsoft.com/office/drawing/2014/main" id="{3E625019-371E-4E23-BE58-2E150C246C10}"/>
              </a:ext>
            </a:extLst>
          </p:cNvPr>
          <p:cNvSpPr>
            <a:spLocks xmlns:a="http://schemas.openxmlformats.org/drawingml/2006/main" noGrp="1"/>
          </p:cNvSpPr>
          <p:nvPr/>
        </p:nvSpPr>
        <p:spPr>
          <a:xfrm xmlns:a="http://schemas.openxmlformats.org/drawingml/2006/main">
            <a:off x="2514600" y="46291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75" b="1">
                <a:solidFill>
                  <a:srgbClr val="101827"/>
                </a:solidFill>
                <a:latin typeface="Aptos"/>
                <a:ea typeface="Aptos"/>
                <a:cs typeface="Aptos"/>
              </a:defRPr>
            </a:pPr>
            <a:r>
              <a:rPr sz="975" b="1">
                <a:solidFill>
                  <a:srgbClr val="101827"/>
                </a:solidFill>
                <a:latin typeface="Aptos"/>
                <a:ea typeface="Aptos"/>
                <a:cs typeface="Aptos"/>
              </a:rPr>
              <a:t>Vercel Pro</a:t>
            </a:r>
          </a:p>
        </p:txBody>
      </p:sp>
      <p:sp>
        <p:nvSpPr>
          <p:cNvPr id="39" name="">
            <a:extLst xmlns:a="http://schemas.openxmlformats.org/drawingml/2006/main">
              <a:ext uri="{FF2B5EF4-FFF2-40B4-BE49-F238E27FC236}">
                <a16:creationId xmlns:a16="http://schemas.microsoft.com/office/drawing/2014/main" id="{7050F585-A962-41C7-82CA-C708B7A6C7DF}"/>
              </a:ext>
            </a:extLst>
          </p:cNvPr>
          <p:cNvSpPr>
            <a:spLocks xmlns:a="http://schemas.openxmlformats.org/drawingml/2006/main" noGrp="1"/>
          </p:cNvSpPr>
          <p:nvPr/>
        </p:nvSpPr>
        <p:spPr>
          <a:xfrm xmlns:a="http://schemas.openxmlformats.org/drawingml/2006/main">
            <a:off x="2514600" y="4972050"/>
            <a:ext cx="1333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a:solidFill>
                  <a:srgbClr val="2563EB"/>
                </a:solidFill>
                <a:latin typeface="Aptos Display"/>
                <a:ea typeface="Aptos Display"/>
                <a:cs typeface="Aptos Display"/>
              </a:defRPr>
            </a:pPr>
            <a:r>
              <a:rPr sz="1725" b="1">
                <a:solidFill>
                  <a:srgbClr val="2563EB"/>
                </a:solidFill>
                <a:latin typeface="Aptos Display"/>
                <a:ea typeface="Aptos Display"/>
                <a:cs typeface="Aptos Display"/>
              </a:rPr>
              <a:t>$20/mo</a:t>
            </a:r>
          </a:p>
        </p:txBody>
      </p:sp>
      <p:sp>
        <p:nvSpPr>
          <p:cNvPr id="40" name="">
            <a:extLst xmlns:a="http://schemas.openxmlformats.org/drawingml/2006/main">
              <a:ext uri="{FF2B5EF4-FFF2-40B4-BE49-F238E27FC236}">
                <a16:creationId xmlns:a16="http://schemas.microsoft.com/office/drawing/2014/main" id="{BE1FB1B7-A1A8-4568-82A1-99B50792A4DF}"/>
              </a:ext>
            </a:extLst>
          </p:cNvPr>
          <p:cNvSpPr>
            <a:spLocks xmlns:a="http://schemas.openxmlformats.org/drawingml/2006/main" noGrp="1"/>
          </p:cNvSpPr>
          <p:nvPr/>
        </p:nvSpPr>
        <p:spPr>
          <a:xfrm xmlns:a="http://schemas.openxmlformats.org/drawingml/2006/main">
            <a:off x="2514600" y="53721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0">
                <a:solidFill>
                  <a:srgbClr val="626A78"/>
                </a:solidFill>
                <a:latin typeface="Aptos"/>
                <a:ea typeface="Aptos"/>
                <a:cs typeface="Aptos"/>
              </a:defRPr>
            </a:pPr>
            <a:r>
              <a:rPr sz="750" b="0">
                <a:solidFill>
                  <a:srgbClr val="626A78"/>
                </a:solidFill>
                <a:latin typeface="Aptos"/>
                <a:ea typeface="Aptos"/>
                <a:cs typeface="Aptos"/>
              </a:rPr>
              <a:t>Business baseline</a:t>
            </a:r>
          </a:p>
        </p:txBody>
      </p:sp>
      <p:sp>
        <p:nvSpPr>
          <p:cNvPr id="41" name="">
            <a:extLst xmlns:a="http://schemas.openxmlformats.org/drawingml/2006/main">
              <a:ext uri="{FF2B5EF4-FFF2-40B4-BE49-F238E27FC236}">
                <a16:creationId xmlns:a16="http://schemas.microsoft.com/office/drawing/2014/main" id="{50FB8B69-A26B-4D07-A79D-76B8FF5469F5}"/>
              </a:ext>
            </a:extLst>
          </p:cNvPr>
          <p:cNvSpPr>
            <a:spLocks xmlns:a="http://schemas.openxmlformats.org/drawingml/2006/main" noGrp="1"/>
          </p:cNvSpPr>
          <p:nvPr/>
        </p:nvSpPr>
        <p:spPr>
          <a:xfrm xmlns:a="http://schemas.openxmlformats.org/drawingml/2006/main">
            <a:off x="4171950" y="4438650"/>
            <a:ext cx="1657350" cy="1276350"/>
          </a:xfrm>
          <a:prstGeom xmlns:a="http://schemas.openxmlformats.org/drawingml/2006/main" prst="roundRect">
            <a:avLst>
              <a:gd name="adj" fmla="val 11940"/>
            </a:avLst>
          </a:prstGeom>
          <a:solidFill xmlns:a="http://schemas.openxmlformats.org/drawingml/2006/main">
            <a:srgbClr val="EAF0FF"/>
          </a:solidFill>
          <a:ln xmlns:a="http://schemas.openxmlformats.org/drawingml/2006/main" w="9525">
            <a:solidFill>
              <a:srgbClr val="D5DFFF"/>
            </a:solidFill>
            <a:prstDash val="solid"/>
          </a:ln>
        </p:spPr>
      </p:sp>
      <p:sp>
        <p:nvSpPr>
          <p:cNvPr id="42" name="">
            <a:extLst xmlns:a="http://schemas.openxmlformats.org/drawingml/2006/main">
              <a:ext uri="{FF2B5EF4-FFF2-40B4-BE49-F238E27FC236}">
                <a16:creationId xmlns:a16="http://schemas.microsoft.com/office/drawing/2014/main" id="{F64409E6-8CC5-4F65-A84F-C88734C1E3EC}"/>
              </a:ext>
            </a:extLst>
          </p:cNvPr>
          <p:cNvSpPr>
            <a:spLocks xmlns:a="http://schemas.openxmlformats.org/drawingml/2006/main" noGrp="1"/>
          </p:cNvSpPr>
          <p:nvPr/>
        </p:nvSpPr>
        <p:spPr>
          <a:xfrm xmlns:a="http://schemas.openxmlformats.org/drawingml/2006/main">
            <a:off x="4324350" y="46291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75" b="1">
                <a:solidFill>
                  <a:srgbClr val="101827"/>
                </a:solidFill>
                <a:latin typeface="Aptos"/>
                <a:ea typeface="Aptos"/>
                <a:cs typeface="Aptos"/>
              </a:defRPr>
            </a:pPr>
            <a:r>
              <a:rPr sz="975" b="1">
                <a:solidFill>
                  <a:srgbClr val="101827"/>
                </a:solidFill>
                <a:latin typeface="Aptos"/>
                <a:ea typeface="Aptos"/>
                <a:cs typeface="Aptos"/>
              </a:rPr>
              <a:t>Mapbox GL JS</a:t>
            </a:r>
          </a:p>
        </p:txBody>
      </p:sp>
      <p:sp>
        <p:nvSpPr>
          <p:cNvPr id="43" name="">
            <a:extLst xmlns:a="http://schemas.openxmlformats.org/drawingml/2006/main">
              <a:ext uri="{FF2B5EF4-FFF2-40B4-BE49-F238E27FC236}">
                <a16:creationId xmlns:a16="http://schemas.microsoft.com/office/drawing/2014/main" id="{1187B971-C82B-47C2-994E-3967774F1A4C}"/>
              </a:ext>
            </a:extLst>
          </p:cNvPr>
          <p:cNvSpPr>
            <a:spLocks xmlns:a="http://schemas.openxmlformats.org/drawingml/2006/main" noGrp="1"/>
          </p:cNvSpPr>
          <p:nvPr/>
        </p:nvSpPr>
        <p:spPr>
          <a:xfrm xmlns:a="http://schemas.openxmlformats.org/drawingml/2006/main">
            <a:off x="4324350" y="4972050"/>
            <a:ext cx="1333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a:solidFill>
                  <a:srgbClr val="2563EB"/>
                </a:solidFill>
                <a:latin typeface="Aptos Display"/>
                <a:ea typeface="Aptos Display"/>
                <a:cs typeface="Aptos Display"/>
              </a:defRPr>
            </a:pPr>
            <a:r>
              <a:rPr sz="1725" b="1">
                <a:solidFill>
                  <a:srgbClr val="2563EB"/>
                </a:solidFill>
                <a:latin typeface="Aptos Display"/>
                <a:ea typeface="Aptos Display"/>
                <a:cs typeface="Aptos Display"/>
              </a:rPr>
              <a:t>50k free</a:t>
            </a:r>
          </a:p>
        </p:txBody>
      </p:sp>
      <p:sp>
        <p:nvSpPr>
          <p:cNvPr id="44" name="">
            <a:extLst xmlns:a="http://schemas.openxmlformats.org/drawingml/2006/main">
              <a:ext uri="{FF2B5EF4-FFF2-40B4-BE49-F238E27FC236}">
                <a16:creationId xmlns:a16="http://schemas.microsoft.com/office/drawing/2014/main" id="{D3D8F58D-A4D7-4323-B4C3-E05715ADB504}"/>
              </a:ext>
            </a:extLst>
          </p:cNvPr>
          <p:cNvSpPr>
            <a:spLocks xmlns:a="http://schemas.openxmlformats.org/drawingml/2006/main" noGrp="1"/>
          </p:cNvSpPr>
          <p:nvPr/>
        </p:nvSpPr>
        <p:spPr>
          <a:xfrm xmlns:a="http://schemas.openxmlformats.org/drawingml/2006/main">
            <a:off x="4324350" y="53721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0">
                <a:solidFill>
                  <a:srgbClr val="626A78"/>
                </a:solidFill>
                <a:latin typeface="Aptos"/>
                <a:ea typeface="Aptos"/>
                <a:cs typeface="Aptos"/>
              </a:defRPr>
            </a:pPr>
            <a:r>
              <a:rPr sz="750" b="0">
                <a:solidFill>
                  <a:srgbClr val="626A78"/>
                </a:solidFill>
                <a:latin typeface="Aptos"/>
                <a:ea typeface="Aptos"/>
                <a:cs typeface="Aptos"/>
              </a:rPr>
              <a:t>then $5 / 1k loads</a:t>
            </a:r>
          </a:p>
        </p:txBody>
      </p:sp>
      <p:sp>
        <p:nvSpPr>
          <p:cNvPr id="45" name="">
            <a:extLst xmlns:a="http://schemas.openxmlformats.org/drawingml/2006/main">
              <a:ext uri="{FF2B5EF4-FFF2-40B4-BE49-F238E27FC236}">
                <a16:creationId xmlns:a16="http://schemas.microsoft.com/office/drawing/2014/main" id="{24A20C05-E746-44CA-8229-06CC38985C6C}"/>
              </a:ext>
            </a:extLst>
          </p:cNvPr>
          <p:cNvSpPr>
            <a:spLocks xmlns:a="http://schemas.openxmlformats.org/drawingml/2006/main" noGrp="1"/>
          </p:cNvSpPr>
          <p:nvPr/>
        </p:nvSpPr>
        <p:spPr>
          <a:xfrm xmlns:a="http://schemas.openxmlformats.org/drawingml/2006/main">
            <a:off x="5981700" y="4438650"/>
            <a:ext cx="1657350" cy="1276350"/>
          </a:xfrm>
          <a:prstGeom xmlns:a="http://schemas.openxmlformats.org/drawingml/2006/main" prst="roundRect">
            <a:avLst>
              <a:gd name="adj" fmla="val 11940"/>
            </a:avLst>
          </a:prstGeom>
          <a:solidFill xmlns:a="http://schemas.openxmlformats.org/drawingml/2006/main">
            <a:srgbClr val="F2E8D5"/>
          </a:solidFill>
          <a:ln xmlns:a="http://schemas.openxmlformats.org/drawingml/2006/main" w="9525">
            <a:solidFill>
              <a:srgbClr val="E6D7BC"/>
            </a:solidFill>
            <a:prstDash val="solid"/>
          </a:ln>
        </p:spPr>
      </p:sp>
      <p:sp>
        <p:nvSpPr>
          <p:cNvPr id="46" name="">
            <a:extLst xmlns:a="http://schemas.openxmlformats.org/drawingml/2006/main">
              <a:ext uri="{FF2B5EF4-FFF2-40B4-BE49-F238E27FC236}">
                <a16:creationId xmlns:a16="http://schemas.microsoft.com/office/drawing/2014/main" id="{62E3B7EF-AACB-4EAE-A236-89A8B61CA169}"/>
              </a:ext>
            </a:extLst>
          </p:cNvPr>
          <p:cNvSpPr>
            <a:spLocks xmlns:a="http://schemas.openxmlformats.org/drawingml/2006/main" noGrp="1"/>
          </p:cNvSpPr>
          <p:nvPr/>
        </p:nvSpPr>
        <p:spPr>
          <a:xfrm xmlns:a="http://schemas.openxmlformats.org/drawingml/2006/main">
            <a:off x="6134100" y="46291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75" b="1">
                <a:solidFill>
                  <a:srgbClr val="101827"/>
                </a:solidFill>
                <a:latin typeface="Aptos"/>
                <a:ea typeface="Aptos"/>
                <a:cs typeface="Aptos"/>
              </a:defRPr>
            </a:pPr>
            <a:r>
              <a:rPr sz="975" b="1">
                <a:solidFill>
                  <a:srgbClr val="101827"/>
                </a:solidFill>
                <a:latin typeface="Aptos"/>
                <a:ea typeface="Aptos"/>
                <a:cs typeface="Aptos"/>
              </a:rPr>
              <a:t>Florida LLC</a:t>
            </a:r>
          </a:p>
        </p:txBody>
      </p:sp>
      <p:sp>
        <p:nvSpPr>
          <p:cNvPr id="47" name="">
            <a:extLst xmlns:a="http://schemas.openxmlformats.org/drawingml/2006/main">
              <a:ext uri="{FF2B5EF4-FFF2-40B4-BE49-F238E27FC236}">
                <a16:creationId xmlns:a16="http://schemas.microsoft.com/office/drawing/2014/main" id="{5B6EDF08-3FD5-44A7-9985-C1185E72D8A2}"/>
              </a:ext>
            </a:extLst>
          </p:cNvPr>
          <p:cNvSpPr>
            <a:spLocks xmlns:a="http://schemas.openxmlformats.org/drawingml/2006/main" noGrp="1"/>
          </p:cNvSpPr>
          <p:nvPr/>
        </p:nvSpPr>
        <p:spPr>
          <a:xfrm xmlns:a="http://schemas.openxmlformats.org/drawingml/2006/main">
            <a:off x="6134100" y="4972050"/>
            <a:ext cx="1333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a:solidFill>
                  <a:srgbClr val="7C5A16"/>
                </a:solidFill>
                <a:latin typeface="Aptos Display"/>
                <a:ea typeface="Aptos Display"/>
                <a:cs typeface="Aptos Display"/>
              </a:defRPr>
            </a:pPr>
            <a:r>
              <a:rPr sz="1725" b="1">
                <a:solidFill>
                  <a:srgbClr val="7C5A16"/>
                </a:solidFill>
                <a:latin typeface="Aptos Display"/>
                <a:ea typeface="Aptos Display"/>
                <a:cs typeface="Aptos Display"/>
              </a:rPr>
              <a:t>$125</a:t>
            </a:r>
          </a:p>
        </p:txBody>
      </p:sp>
      <p:sp>
        <p:nvSpPr>
          <p:cNvPr id="48" name="">
            <a:extLst xmlns:a="http://schemas.openxmlformats.org/drawingml/2006/main">
              <a:ext uri="{FF2B5EF4-FFF2-40B4-BE49-F238E27FC236}">
                <a16:creationId xmlns:a16="http://schemas.microsoft.com/office/drawing/2014/main" id="{86988EAC-DF71-4FF3-86D8-467E979719B8}"/>
              </a:ext>
            </a:extLst>
          </p:cNvPr>
          <p:cNvSpPr>
            <a:spLocks xmlns:a="http://schemas.openxmlformats.org/drawingml/2006/main" noGrp="1"/>
          </p:cNvSpPr>
          <p:nvPr/>
        </p:nvSpPr>
        <p:spPr>
          <a:xfrm xmlns:a="http://schemas.openxmlformats.org/drawingml/2006/main">
            <a:off x="6134100" y="53721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0">
                <a:solidFill>
                  <a:srgbClr val="626A78"/>
                </a:solidFill>
                <a:latin typeface="Aptos"/>
                <a:ea typeface="Aptos"/>
                <a:cs typeface="Aptos"/>
              </a:defRPr>
            </a:pPr>
            <a:r>
              <a:rPr sz="750" b="0">
                <a:solidFill>
                  <a:srgbClr val="626A78"/>
                </a:solidFill>
                <a:latin typeface="Aptos"/>
                <a:ea typeface="Aptos"/>
                <a:cs typeface="Aptos"/>
              </a:rPr>
              <a:t>required state fees</a:t>
            </a:r>
          </a:p>
        </p:txBody>
      </p:sp>
      <p:sp>
        <p:nvSpPr>
          <p:cNvPr id="49" name="">
            <a:extLst xmlns:a="http://schemas.openxmlformats.org/drawingml/2006/main">
              <a:ext uri="{FF2B5EF4-FFF2-40B4-BE49-F238E27FC236}">
                <a16:creationId xmlns:a16="http://schemas.microsoft.com/office/drawing/2014/main" id="{D5D0189D-BB29-4C09-BD91-76C19576BFE4}"/>
              </a:ext>
            </a:extLst>
          </p:cNvPr>
          <p:cNvSpPr>
            <a:spLocks xmlns:a="http://schemas.openxmlformats.org/drawingml/2006/main" noGrp="1"/>
          </p:cNvSpPr>
          <p:nvPr/>
        </p:nvSpPr>
        <p:spPr>
          <a:xfrm xmlns:a="http://schemas.openxmlformats.org/drawingml/2006/main">
            <a:off x="7791450" y="4438650"/>
            <a:ext cx="1657350" cy="1276350"/>
          </a:xfrm>
          <a:prstGeom xmlns:a="http://schemas.openxmlformats.org/drawingml/2006/main" prst="roundRect">
            <a:avLst>
              <a:gd name="adj" fmla="val 11940"/>
            </a:avLst>
          </a:prstGeom>
          <a:solidFill xmlns:a="http://schemas.openxmlformats.org/drawingml/2006/main">
            <a:srgbClr val="F2E8D5"/>
          </a:solidFill>
          <a:ln xmlns:a="http://schemas.openxmlformats.org/drawingml/2006/main" w="9525">
            <a:solidFill>
              <a:srgbClr val="E6D7BC"/>
            </a:solidFill>
            <a:prstDash val="solid"/>
          </a:ln>
        </p:spPr>
      </p:sp>
      <p:sp>
        <p:nvSpPr>
          <p:cNvPr id="50" name="">
            <a:extLst xmlns:a="http://schemas.openxmlformats.org/drawingml/2006/main">
              <a:ext uri="{FF2B5EF4-FFF2-40B4-BE49-F238E27FC236}">
                <a16:creationId xmlns:a16="http://schemas.microsoft.com/office/drawing/2014/main" id="{130F7F99-D033-4A1A-A4F2-FBD6D863DCB4}"/>
              </a:ext>
            </a:extLst>
          </p:cNvPr>
          <p:cNvSpPr>
            <a:spLocks xmlns:a="http://schemas.openxmlformats.org/drawingml/2006/main" noGrp="1"/>
          </p:cNvSpPr>
          <p:nvPr/>
        </p:nvSpPr>
        <p:spPr>
          <a:xfrm xmlns:a="http://schemas.openxmlformats.org/drawingml/2006/main">
            <a:off x="7943850" y="46291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75" b="1">
                <a:solidFill>
                  <a:srgbClr val="101827"/>
                </a:solidFill>
                <a:latin typeface="Aptos"/>
                <a:ea typeface="Aptos"/>
                <a:cs typeface="Aptos"/>
              </a:defRPr>
            </a:pPr>
            <a:r>
              <a:rPr sz="975" b="1">
                <a:solidFill>
                  <a:srgbClr val="101827"/>
                </a:solidFill>
                <a:latin typeface="Aptos"/>
                <a:ea typeface="Aptos"/>
                <a:cs typeface="Aptos"/>
              </a:rPr>
              <a:t>EIN</a:t>
            </a:r>
          </a:p>
        </p:txBody>
      </p:sp>
      <p:sp>
        <p:nvSpPr>
          <p:cNvPr id="51" name="">
            <a:extLst xmlns:a="http://schemas.openxmlformats.org/drawingml/2006/main">
              <a:ext uri="{FF2B5EF4-FFF2-40B4-BE49-F238E27FC236}">
                <a16:creationId xmlns:a16="http://schemas.microsoft.com/office/drawing/2014/main" id="{0541856A-2A7D-4E94-B060-1F00F777FB5E}"/>
              </a:ext>
            </a:extLst>
          </p:cNvPr>
          <p:cNvSpPr>
            <a:spLocks xmlns:a="http://schemas.openxmlformats.org/drawingml/2006/main" noGrp="1"/>
          </p:cNvSpPr>
          <p:nvPr/>
        </p:nvSpPr>
        <p:spPr>
          <a:xfrm xmlns:a="http://schemas.openxmlformats.org/drawingml/2006/main">
            <a:off x="7943850" y="4972050"/>
            <a:ext cx="1333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a:solidFill>
                  <a:srgbClr val="7C5A16"/>
                </a:solidFill>
                <a:latin typeface="Aptos Display"/>
                <a:ea typeface="Aptos Display"/>
                <a:cs typeface="Aptos Display"/>
              </a:defRPr>
            </a:pPr>
            <a:r>
              <a:rPr sz="1725" b="1">
                <a:solidFill>
                  <a:srgbClr val="7C5A16"/>
                </a:solidFill>
                <a:latin typeface="Aptos Display"/>
                <a:ea typeface="Aptos Display"/>
                <a:cs typeface="Aptos Display"/>
              </a:rPr>
              <a:t>$0</a:t>
            </a:r>
          </a:p>
        </p:txBody>
      </p:sp>
      <p:sp>
        <p:nvSpPr>
          <p:cNvPr id="52" name="">
            <a:extLst xmlns:a="http://schemas.openxmlformats.org/drawingml/2006/main">
              <a:ext uri="{FF2B5EF4-FFF2-40B4-BE49-F238E27FC236}">
                <a16:creationId xmlns:a16="http://schemas.microsoft.com/office/drawing/2014/main" id="{3BD25B87-4DDF-48B4-99ED-8F9719D17640}"/>
              </a:ext>
            </a:extLst>
          </p:cNvPr>
          <p:cNvSpPr>
            <a:spLocks xmlns:a="http://schemas.openxmlformats.org/drawingml/2006/main" noGrp="1"/>
          </p:cNvSpPr>
          <p:nvPr/>
        </p:nvSpPr>
        <p:spPr>
          <a:xfrm xmlns:a="http://schemas.openxmlformats.org/drawingml/2006/main">
            <a:off x="7943850" y="53721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0">
                <a:solidFill>
                  <a:srgbClr val="626A78"/>
                </a:solidFill>
                <a:latin typeface="Aptos"/>
                <a:ea typeface="Aptos"/>
                <a:cs typeface="Aptos"/>
              </a:defRPr>
            </a:pPr>
            <a:r>
              <a:rPr sz="750" b="0">
                <a:solidFill>
                  <a:srgbClr val="626A78"/>
                </a:solidFill>
                <a:latin typeface="Aptos"/>
                <a:ea typeface="Aptos"/>
                <a:cs typeface="Aptos"/>
              </a:rPr>
              <a:t>direct from IRS</a:t>
            </a:r>
          </a:p>
        </p:txBody>
      </p:sp>
      <p:sp>
        <p:nvSpPr>
          <p:cNvPr id="53" name="">
            <a:extLst xmlns:a="http://schemas.openxmlformats.org/drawingml/2006/main">
              <a:ext uri="{FF2B5EF4-FFF2-40B4-BE49-F238E27FC236}">
                <a16:creationId xmlns:a16="http://schemas.microsoft.com/office/drawing/2014/main" id="{3274C290-A247-4FB2-9F6B-021F819B9F86}"/>
              </a:ext>
            </a:extLst>
          </p:cNvPr>
          <p:cNvSpPr>
            <a:spLocks xmlns:a="http://schemas.openxmlformats.org/drawingml/2006/main" noGrp="1"/>
          </p:cNvSpPr>
          <p:nvPr/>
        </p:nvSpPr>
        <p:spPr>
          <a:xfrm xmlns:a="http://schemas.openxmlformats.org/drawingml/2006/main">
            <a:off x="9601200" y="4438650"/>
            <a:ext cx="1657350" cy="1276350"/>
          </a:xfrm>
          <a:prstGeom xmlns:a="http://schemas.openxmlformats.org/drawingml/2006/main" prst="roundRect">
            <a:avLst>
              <a:gd name="adj" fmla="val 11940"/>
            </a:avLst>
          </a:prstGeom>
          <a:solidFill xmlns:a="http://schemas.openxmlformats.org/drawingml/2006/main">
            <a:srgbClr val="F2E8D5"/>
          </a:solidFill>
          <a:ln xmlns:a="http://schemas.openxmlformats.org/drawingml/2006/main" w="9525">
            <a:solidFill>
              <a:srgbClr val="E6D7BC"/>
            </a:solidFill>
            <a:prstDash val="solid"/>
          </a:ln>
        </p:spPr>
      </p:sp>
      <p:sp>
        <p:nvSpPr>
          <p:cNvPr id="54" name="">
            <a:extLst xmlns:a="http://schemas.openxmlformats.org/drawingml/2006/main">
              <a:ext uri="{FF2B5EF4-FFF2-40B4-BE49-F238E27FC236}">
                <a16:creationId xmlns:a16="http://schemas.microsoft.com/office/drawing/2014/main" id="{CC3FF751-DA4F-4D3A-9E67-633DCDA239C5}"/>
              </a:ext>
            </a:extLst>
          </p:cNvPr>
          <p:cNvSpPr>
            <a:spLocks xmlns:a="http://schemas.openxmlformats.org/drawingml/2006/main" noGrp="1"/>
          </p:cNvSpPr>
          <p:nvPr/>
        </p:nvSpPr>
        <p:spPr>
          <a:xfrm xmlns:a="http://schemas.openxmlformats.org/drawingml/2006/main">
            <a:off x="9753600" y="46291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75" b="1">
                <a:solidFill>
                  <a:srgbClr val="101827"/>
                </a:solidFill>
                <a:latin typeface="Aptos"/>
                <a:ea typeface="Aptos"/>
                <a:cs typeface="Aptos"/>
              </a:defRPr>
            </a:pPr>
            <a:r>
              <a:rPr sz="975" b="1">
                <a:solidFill>
                  <a:srgbClr val="101827"/>
                </a:solidFill>
                <a:latin typeface="Aptos"/>
                <a:ea typeface="Aptos"/>
                <a:cs typeface="Aptos"/>
              </a:rPr>
              <a:t>Trademark</a:t>
            </a:r>
          </a:p>
        </p:txBody>
      </p:sp>
      <p:sp>
        <p:nvSpPr>
          <p:cNvPr id="55" name="">
            <a:extLst xmlns:a="http://schemas.openxmlformats.org/drawingml/2006/main">
              <a:ext uri="{FF2B5EF4-FFF2-40B4-BE49-F238E27FC236}">
                <a16:creationId xmlns:a16="http://schemas.microsoft.com/office/drawing/2014/main" id="{10F46C25-D2B5-4D7F-AAF0-5A561C23C298}"/>
              </a:ext>
            </a:extLst>
          </p:cNvPr>
          <p:cNvSpPr>
            <a:spLocks xmlns:a="http://schemas.openxmlformats.org/drawingml/2006/main" noGrp="1"/>
          </p:cNvSpPr>
          <p:nvPr/>
        </p:nvSpPr>
        <p:spPr>
          <a:xfrm xmlns:a="http://schemas.openxmlformats.org/drawingml/2006/main">
            <a:off x="9753600" y="4972050"/>
            <a:ext cx="1333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a:solidFill>
                  <a:srgbClr val="7C5A16"/>
                </a:solidFill>
                <a:latin typeface="Aptos Display"/>
                <a:ea typeface="Aptos Display"/>
                <a:cs typeface="Aptos Display"/>
              </a:defRPr>
            </a:pPr>
            <a:r>
              <a:rPr sz="1725" b="1">
                <a:solidFill>
                  <a:srgbClr val="7C5A16"/>
                </a:solidFill>
                <a:latin typeface="Aptos Display"/>
                <a:ea typeface="Aptos Display"/>
                <a:cs typeface="Aptos Display"/>
              </a:rPr>
              <a:t>$350/class</a:t>
            </a:r>
          </a:p>
        </p:txBody>
      </p:sp>
      <p:sp>
        <p:nvSpPr>
          <p:cNvPr id="56" name="">
            <a:extLst xmlns:a="http://schemas.openxmlformats.org/drawingml/2006/main">
              <a:ext uri="{FF2B5EF4-FFF2-40B4-BE49-F238E27FC236}">
                <a16:creationId xmlns:a16="http://schemas.microsoft.com/office/drawing/2014/main" id="{9F08169E-C765-491D-A932-07E423DC9091}"/>
              </a:ext>
            </a:extLst>
          </p:cNvPr>
          <p:cNvSpPr>
            <a:spLocks xmlns:a="http://schemas.openxmlformats.org/drawingml/2006/main" noGrp="1"/>
          </p:cNvSpPr>
          <p:nvPr/>
        </p:nvSpPr>
        <p:spPr>
          <a:xfrm xmlns:a="http://schemas.openxmlformats.org/drawingml/2006/main">
            <a:off x="9753600" y="53721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0">
                <a:solidFill>
                  <a:srgbClr val="626A78"/>
                </a:solidFill>
                <a:latin typeface="Aptos"/>
                <a:ea typeface="Aptos"/>
                <a:cs typeface="Aptos"/>
              </a:defRPr>
            </a:pPr>
            <a:r>
              <a:rPr sz="750" b="0">
                <a:solidFill>
                  <a:srgbClr val="626A78"/>
                </a:solidFill>
                <a:latin typeface="Aptos"/>
                <a:ea typeface="Aptos"/>
                <a:cs typeface="Aptos"/>
              </a:rPr>
              <a:t>base application</a:t>
            </a:r>
          </a:p>
        </p:txBody>
      </p:sp>
      <p:sp>
        <p:nvSpPr>
          <p:cNvPr id="57" name="">
            <a:extLst xmlns:a="http://schemas.openxmlformats.org/drawingml/2006/main">
              <a:ext uri="{FF2B5EF4-FFF2-40B4-BE49-F238E27FC236}">
                <a16:creationId xmlns:a16="http://schemas.microsoft.com/office/drawing/2014/main" id="{ED32E679-150E-4012-BE60-398FAE037175}"/>
              </a:ext>
            </a:extLst>
          </p:cNvPr>
          <p:cNvSpPr>
            <a:spLocks xmlns:a="http://schemas.openxmlformats.org/drawingml/2006/main" noGrp="1"/>
          </p:cNvSpPr>
          <p:nvPr/>
        </p:nvSpPr>
        <p:spPr>
          <a:xfrm xmlns:a="http://schemas.openxmlformats.org/drawingml/2006/main">
            <a:off x="552450" y="594360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0">
                <a:solidFill>
                  <a:srgbClr val="626A78"/>
                </a:solidFill>
                <a:latin typeface="Aptos"/>
                <a:ea typeface="Aptos"/>
                <a:cs typeface="Aptos"/>
              </a:defRPr>
            </a:pPr>
            <a:r>
              <a:rPr sz="900" b="0">
                <a:solidFill>
                  <a:srgbClr val="626A78"/>
                </a:solidFill>
                <a:latin typeface="Aptos"/>
                <a:ea typeface="Aptos"/>
                <a:cs typeface="Aptos"/>
              </a:rPr>
              <a:t>Planning ranges are not quotes. Engineering labor and founder opportunity cost are excluded.</a:t>
            </a:r>
          </a:p>
        </p:txBody>
      </p:sp>
    </p:spTree>
    <p:extLst>
      <p:ext uri="{BB962C8B-B14F-4D97-AF65-F5344CB8AC3E}">
        <p14:creationId xmlns:p14="http://schemas.microsoft.com/office/powerpoint/2010/main" val="1867032109"/>
      </p:ext>
    </p:extLst>
  </p:cSld>
</p:sld>
</file>

<file path=ppt/slides/slide10.xml><?xml version="1.0" encoding="utf-8"?>
<p:sld xmlns:p="http://schemas.openxmlformats.org/presentationml/2006/main">
  <p:cSld>
    <p:bg>
      <p:bgPr>
        <a:solidFill xmlns:a="http://schemas.openxmlformats.org/drawingml/2006/main">
          <a:srgbClr val="F2E8D5"/>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EE30B676-817E-41C7-8DF9-DFF5CFAC73CA}"/>
              </a:ext>
            </a:extLst>
          </p:cNvPr>
          <p:cNvSpPr>
            <a:spLocks xmlns:a="http://schemas.openxmlformats.org/drawingml/2006/main" noGrp="1"/>
          </p:cNvSpPr>
          <p:nvPr/>
        </p:nvSpPr>
        <p:spPr>
          <a:xfrm xmlns:a="http://schemas.openxmlformats.org/drawingml/2006/main">
            <a:off x="552450" y="419100"/>
            <a:ext cx="514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a:solidFill>
                  <a:srgbClr val="2563EB"/>
                </a:solidFill>
                <a:latin typeface="Aptos"/>
                <a:ea typeface="Aptos"/>
                <a:cs typeface="Aptos"/>
              </a:defRPr>
            </a:pPr>
            <a:r>
              <a:rPr sz="900" b="1">
                <a:solidFill>
                  <a:srgbClr val="2563EB"/>
                </a:solidFill>
                <a:latin typeface="Aptos"/>
                <a:ea typeface="Aptos"/>
                <a:cs typeface="Aptos"/>
              </a:rPr>
              <a:t>10</a:t>
            </a:r>
          </a:p>
        </p:txBody>
      </p:sp>
      <p:sp>
        <p:nvSpPr>
          <p:cNvPr id="2" name="">
            <a:extLst xmlns:a="http://schemas.openxmlformats.org/drawingml/2006/main">
              <a:ext uri="{FF2B5EF4-FFF2-40B4-BE49-F238E27FC236}">
                <a16:creationId xmlns:a16="http://schemas.microsoft.com/office/drawing/2014/main" id="{1049BEC2-D4C5-4781-AC8B-B4D6B9DDFFB9}"/>
              </a:ext>
            </a:extLst>
          </p:cNvPr>
          <p:cNvSpPr>
            <a:spLocks xmlns:a="http://schemas.openxmlformats.org/drawingml/2006/main" noGrp="1"/>
          </p:cNvSpPr>
          <p:nvPr/>
        </p:nvSpPr>
        <p:spPr>
          <a:xfrm xmlns:a="http://schemas.openxmlformats.org/drawingml/2006/main">
            <a:off x="1104900" y="542925"/>
            <a:ext cx="476250" cy="0"/>
          </a:xfrm>
          <a:prstGeom xmlns:a="http://schemas.openxmlformats.org/drawingml/2006/main" prst="line">
            <a:avLst/>
          </a:prstGeom>
          <a:noFill xmlns:a="http://schemas.openxmlformats.org/drawingml/2006/main"/>
          <a:ln xmlns:a="http://schemas.openxmlformats.org/drawingml/2006/main" w="9525">
            <a:solidFill>
              <a:srgbClr val="CBD1DA"/>
            </a:solidFill>
            <a:prstDash val="solid"/>
          </a:ln>
        </p:spPr>
      </p:sp>
      <p:sp>
        <p:nvSpPr>
          <p:cNvPr id="3" name="">
            <a:extLst xmlns:a="http://schemas.openxmlformats.org/drawingml/2006/main">
              <a:ext uri="{FF2B5EF4-FFF2-40B4-BE49-F238E27FC236}">
                <a16:creationId xmlns:a16="http://schemas.microsoft.com/office/drawing/2014/main" id="{2707120B-F626-413F-AFD6-F2B140E2BA02}"/>
              </a:ext>
            </a:extLst>
          </p:cNvPr>
          <p:cNvSpPr>
            <a:spLocks xmlns:a="http://schemas.openxmlformats.org/drawingml/2006/main" noGrp="1"/>
          </p:cNvSpPr>
          <p:nvPr/>
        </p:nvSpPr>
        <p:spPr>
          <a:xfrm xmlns:a="http://schemas.openxmlformats.org/drawingml/2006/main">
            <a:off x="1733550" y="323850"/>
            <a:ext cx="704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375" b="1">
                <a:solidFill>
                  <a:srgbClr val="101827"/>
                </a:solidFill>
                <a:latin typeface="Aptos Display"/>
                <a:ea typeface="Aptos Display"/>
                <a:cs typeface="Aptos Display"/>
              </a:defRPr>
            </a:pPr>
            <a:r>
              <a:rPr sz="3375" b="1">
                <a:solidFill>
                  <a:srgbClr val="101827"/>
                </a:solidFill>
                <a:latin typeface="Aptos Display"/>
                <a:ea typeface="Aptos Display"/>
                <a:cs typeface="Aptos Display"/>
              </a:rPr>
              <a:t>Entity, legal and compliance</a:t>
            </a:r>
          </a:p>
        </p:txBody>
      </p:sp>
      <p:sp>
        <p:nvSpPr>
          <p:cNvPr id="4" name="">
            <a:extLst xmlns:a="http://schemas.openxmlformats.org/drawingml/2006/main">
              <a:ext uri="{FF2B5EF4-FFF2-40B4-BE49-F238E27FC236}">
                <a16:creationId xmlns:a16="http://schemas.microsoft.com/office/drawing/2014/main" id="{8A8E25D2-AA42-4A29-BB6A-9383BA03B868}"/>
              </a:ext>
            </a:extLst>
          </p:cNvPr>
          <p:cNvSpPr>
            <a:spLocks xmlns:a="http://schemas.openxmlformats.org/drawingml/2006/main" noGrp="1"/>
          </p:cNvSpPr>
          <p:nvPr/>
        </p:nvSpPr>
        <p:spPr>
          <a:xfrm xmlns:a="http://schemas.openxmlformats.org/drawingml/2006/main">
            <a:off x="1752600" y="866775"/>
            <a:ext cx="7715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0">
                <a:solidFill>
                  <a:srgbClr val="626A78"/>
                </a:solidFill>
                <a:latin typeface="Aptos"/>
                <a:ea typeface="Aptos"/>
                <a:cs typeface="Aptos"/>
              </a:defRPr>
            </a:pPr>
            <a:r>
              <a:rPr sz="1350" b="0">
                <a:solidFill>
                  <a:srgbClr val="626A78"/>
                </a:solidFill>
                <a:latin typeface="Aptos"/>
                <a:ea typeface="Aptos"/>
                <a:cs typeface="Aptos"/>
              </a:rPr>
              <a:t>Policies are drafted. The operating company, rights and request workflows must become real.</a:t>
            </a:r>
          </a:p>
        </p:txBody>
      </p:sp>
      <p:sp>
        <p:nvSpPr>
          <p:cNvPr id="5" name="">
            <a:extLst xmlns:a="http://schemas.openxmlformats.org/drawingml/2006/main">
              <a:ext uri="{FF2B5EF4-FFF2-40B4-BE49-F238E27FC236}">
                <a16:creationId xmlns:a16="http://schemas.microsoft.com/office/drawing/2014/main" id="{F7B4F32C-75F1-4A31-B6E4-3DD9086F2ECF}"/>
              </a:ext>
            </a:extLst>
          </p:cNvPr>
          <p:cNvSpPr>
            <a:spLocks xmlns:a="http://schemas.openxmlformats.org/drawingml/2006/main" noGrp="1"/>
          </p:cNvSpPr>
          <p:nvPr/>
        </p:nvSpPr>
        <p:spPr>
          <a:xfrm xmlns:a="http://schemas.openxmlformats.org/drawingml/2006/main">
            <a:off x="11210925" y="381000"/>
            <a:ext cx="275082" cy="325755"/>
          </a:xfrm>
          <a:prstGeom xmlns:a="http://schemas.openxmlformats.org/drawingml/2006/main" prst="roundRect">
            <a:avLst>
              <a:gd name="adj" fmla="val 47368"/>
            </a:avLst>
          </a:prstGeom>
          <a:noFill xmlns:a="http://schemas.openxmlformats.org/drawingml/2006/main"/>
          <a:ln xmlns:a="http://schemas.openxmlformats.org/drawingml/2006/main" w="28956">
            <a:solidFill>
              <a:srgbClr val="0D1321"/>
            </a:solidFill>
            <a:prstDash val="solid"/>
          </a:ln>
        </p:spPr>
      </p:sp>
      <p:sp>
        <p:nvSpPr>
          <p:cNvPr id="6" name="">
            <a:extLst xmlns:a="http://schemas.openxmlformats.org/drawingml/2006/main">
              <a:ext uri="{FF2B5EF4-FFF2-40B4-BE49-F238E27FC236}">
                <a16:creationId xmlns:a16="http://schemas.microsoft.com/office/drawing/2014/main" id="{9EAADB03-9B36-4B96-81F3-CC8D08960712}"/>
              </a:ext>
            </a:extLst>
          </p:cNvPr>
          <p:cNvSpPr>
            <a:spLocks xmlns:a="http://schemas.openxmlformats.org/drawingml/2006/main" noGrp="1"/>
          </p:cNvSpPr>
          <p:nvPr/>
        </p:nvSpPr>
        <p:spPr>
          <a:xfrm xmlns:a="http://schemas.openxmlformats.org/drawingml/2006/main">
            <a:off x="11247120" y="598170"/>
            <a:ext cx="202692" cy="130302"/>
          </a:xfrm>
          <a:prstGeom xmlns:a="http://schemas.openxmlformats.org/drawingml/2006/main" prst="triangle">
            <a:avLst/>
          </a:prstGeom>
          <a:solidFill xmlns:a="http://schemas.openxmlformats.org/drawingml/2006/main">
            <a:srgbClr val="0D1321"/>
          </a:solidFill>
          <a:ln xmlns:a="http://schemas.openxmlformats.org/drawingml/2006/main" w="0">
            <a:solidFill>
              <a:srgbClr val="0D1321"/>
            </a:solidFill>
            <a:prstDash val="solid"/>
          </a:ln>
        </p:spPr>
      </p:sp>
      <p:sp>
        <p:nvSpPr>
          <p:cNvPr id="7" name="">
            <a:extLst xmlns:a="http://schemas.openxmlformats.org/drawingml/2006/main">
              <a:ext uri="{FF2B5EF4-FFF2-40B4-BE49-F238E27FC236}">
                <a16:creationId xmlns:a16="http://schemas.microsoft.com/office/drawing/2014/main" id="{8338C73A-A18B-46A6-B4D7-D71ED4798DB7}"/>
              </a:ext>
            </a:extLst>
          </p:cNvPr>
          <p:cNvSpPr>
            <a:spLocks xmlns:a="http://schemas.openxmlformats.org/drawingml/2006/main" noGrp="1"/>
          </p:cNvSpPr>
          <p:nvPr/>
        </p:nvSpPr>
        <p:spPr>
          <a:xfrm xmlns:a="http://schemas.openxmlformats.org/drawingml/2006/main">
            <a:off x="11290554" y="424434"/>
            <a:ext cx="115824" cy="1158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627" b="1">
                <a:solidFill>
                  <a:srgbClr val="0D1321"/>
                </a:solidFill>
                <a:latin typeface="Aptos"/>
                <a:ea typeface="Aptos"/>
                <a:cs typeface="Aptos"/>
              </a:defRPr>
            </a:pPr>
            <a:r>
              <a:rPr sz="627" b="1">
                <a:solidFill>
                  <a:srgbClr val="0D1321"/>
                </a:solidFill>
                <a:latin typeface="Aptos"/>
                <a:ea typeface="Aptos"/>
                <a:cs typeface="Aptos"/>
              </a:rPr>
              <a:t>✦</a:t>
            </a:r>
          </a:p>
        </p:txBody>
      </p:sp>
      <p:sp>
        <p:nvSpPr>
          <p:cNvPr id="8" name="">
            <a:extLst xmlns:a="http://schemas.openxmlformats.org/drawingml/2006/main">
              <a:ext uri="{FF2B5EF4-FFF2-40B4-BE49-F238E27FC236}">
                <a16:creationId xmlns:a16="http://schemas.microsoft.com/office/drawing/2014/main" id="{E60BE64E-F8D1-4BF5-8179-F90F596CF09A}"/>
              </a:ext>
            </a:extLst>
          </p:cNvPr>
          <p:cNvSpPr>
            <a:spLocks xmlns:a="http://schemas.openxmlformats.org/drawingml/2006/main" noGrp="1"/>
          </p:cNvSpPr>
          <p:nvPr/>
        </p:nvSpPr>
        <p:spPr>
          <a:xfrm xmlns:a="http://schemas.openxmlformats.org/drawingml/2006/main">
            <a:off x="10144125" y="828675"/>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200" b="1">
                <a:solidFill>
                  <a:srgbClr val="0D1321"/>
                </a:solidFill>
                <a:latin typeface="Aptos"/>
                <a:ea typeface="Aptos"/>
                <a:cs typeface="Aptos"/>
              </a:defRPr>
            </a:pPr>
            <a:r>
              <a:rPr sz="1200" b="1">
                <a:solidFill>
                  <a:srgbClr val="0D1321"/>
                </a:solidFill>
                <a:latin typeface="Aptos"/>
                <a:ea typeface="Aptos"/>
                <a:cs typeface="Aptos"/>
              </a:rPr>
              <a:t>sidequests</a:t>
            </a:r>
          </a:p>
        </p:txBody>
      </p:sp>
      <p:sp>
        <p:nvSpPr>
          <p:cNvPr id="9" name="">
            <a:extLst xmlns:a="http://schemas.openxmlformats.org/drawingml/2006/main">
              <a:ext uri="{FF2B5EF4-FFF2-40B4-BE49-F238E27FC236}">
                <a16:creationId xmlns:a16="http://schemas.microsoft.com/office/drawing/2014/main" id="{B046BEB0-DC90-429B-A72A-393C05417F7E}"/>
              </a:ext>
            </a:extLst>
          </p:cNvPr>
          <p:cNvSpPr>
            <a:spLocks xmlns:a="http://schemas.openxmlformats.org/drawingml/2006/main" noGrp="1"/>
          </p:cNvSpPr>
          <p:nvPr/>
        </p:nvSpPr>
        <p:spPr>
          <a:xfrm xmlns:a="http://schemas.openxmlformats.org/drawingml/2006/main">
            <a:off x="552450" y="6543675"/>
            <a:ext cx="4000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675" b="0">
                <a:solidFill>
                  <a:srgbClr val="9AA1AD"/>
                </a:solidFill>
                <a:latin typeface="Aptos"/>
                <a:ea typeface="Aptos"/>
                <a:cs typeface="Aptos"/>
              </a:defRPr>
            </a:pPr>
            <a:r>
              <a:rPr sz="675" b="0">
                <a:solidFill>
                  <a:srgbClr val="9AA1AD"/>
                </a:solidFill>
                <a:latin typeface="Aptos"/>
                <a:ea typeface="Aptos"/>
                <a:cs typeface="Aptos"/>
              </a:rPr>
              <a:t>Development &amp; launch readiness · 12 Aug 2026</a:t>
            </a:r>
          </a:p>
        </p:txBody>
      </p:sp>
      <p:sp>
        <p:nvSpPr>
          <p:cNvPr id="10" name="">
            <a:extLst xmlns:a="http://schemas.openxmlformats.org/drawingml/2006/main">
              <a:ext uri="{FF2B5EF4-FFF2-40B4-BE49-F238E27FC236}">
                <a16:creationId xmlns:a16="http://schemas.microsoft.com/office/drawing/2014/main" id="{F323DB26-5F5C-4399-B2A4-0456AB27163C}"/>
              </a:ext>
            </a:extLst>
          </p:cNvPr>
          <p:cNvSpPr>
            <a:spLocks xmlns:a="http://schemas.openxmlformats.org/drawingml/2006/main" noGrp="1"/>
          </p:cNvSpPr>
          <p:nvPr/>
        </p:nvSpPr>
        <p:spPr>
          <a:xfrm xmlns:a="http://schemas.openxmlformats.org/drawingml/2006/main">
            <a:off x="11239500" y="6543675"/>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675" b="0">
                <a:solidFill>
                  <a:srgbClr val="9AA1AD"/>
                </a:solidFill>
                <a:latin typeface="Aptos"/>
                <a:ea typeface="Aptos"/>
                <a:cs typeface="Aptos"/>
              </a:defRPr>
            </a:pPr>
            <a:r>
              <a:rPr sz="675" b="0">
                <a:solidFill>
                  <a:srgbClr val="9AA1AD"/>
                </a:solidFill>
                <a:latin typeface="Aptos"/>
                <a:ea typeface="Aptos"/>
                <a:cs typeface="Aptos"/>
              </a:rPr>
              <a:t>10</a:t>
            </a:r>
          </a:p>
        </p:txBody>
      </p:sp>
      <p:sp>
        <p:nvSpPr>
          <p:cNvPr id="11" name="">
            <a:extLst xmlns:a="http://schemas.openxmlformats.org/drawingml/2006/main">
              <a:ext uri="{FF2B5EF4-FFF2-40B4-BE49-F238E27FC236}">
                <a16:creationId xmlns:a16="http://schemas.microsoft.com/office/drawing/2014/main" id="{06D39329-35D9-4AB9-9D45-A1B344506F16}"/>
              </a:ext>
            </a:extLst>
          </p:cNvPr>
          <p:cNvSpPr>
            <a:spLocks xmlns:a="http://schemas.openxmlformats.org/drawingml/2006/main" noGrp="1"/>
          </p:cNvSpPr>
          <p:nvPr/>
        </p:nvSpPr>
        <p:spPr>
          <a:xfrm xmlns:a="http://schemas.openxmlformats.org/drawingml/2006/main">
            <a:off x="552450" y="1562100"/>
            <a:ext cx="3190875" cy="4152900"/>
          </a:xfrm>
          <a:prstGeom xmlns:a="http://schemas.openxmlformats.org/drawingml/2006/main" prst="roundRect">
            <a:avLst>
              <a:gd name="adj" fmla="val 6567"/>
            </a:avLst>
          </a:prstGeom>
          <a:solidFill xmlns:a="http://schemas.openxmlformats.org/drawingml/2006/main">
            <a:srgbClr val="2E7D5A"/>
          </a:solidFill>
          <a:ln xmlns:a="http://schemas.openxmlformats.org/drawingml/2006/main" w="0">
            <a:solidFill>
              <a:srgbClr val="2E7D5A"/>
            </a:solidFill>
            <a:prstDash val="solid"/>
          </a:ln>
        </p:spPr>
      </p:sp>
      <p:sp>
        <p:nvSpPr>
          <p:cNvPr id="12" name="">
            <a:extLst xmlns:a="http://schemas.openxmlformats.org/drawingml/2006/main">
              <a:ext uri="{FF2B5EF4-FFF2-40B4-BE49-F238E27FC236}">
                <a16:creationId xmlns:a16="http://schemas.microsoft.com/office/drawing/2014/main" id="{990121E7-A4D6-41A3-B4C8-98C50CD3496B}"/>
              </a:ext>
            </a:extLst>
          </p:cNvPr>
          <p:cNvSpPr>
            <a:spLocks xmlns:a="http://schemas.openxmlformats.org/drawingml/2006/main" noGrp="1"/>
          </p:cNvSpPr>
          <p:nvPr/>
        </p:nvSpPr>
        <p:spPr>
          <a:xfrm xmlns:a="http://schemas.openxmlformats.org/drawingml/2006/main">
            <a:off x="800100" y="1809750"/>
            <a:ext cx="1276350" cy="266700"/>
          </a:xfrm>
          <a:prstGeom xmlns:a="http://schemas.openxmlformats.org/drawingml/2006/main" prst="roundRect">
            <a:avLst>
              <a:gd name="adj" fmla="val 50000"/>
            </a:avLst>
          </a:prstGeom>
          <a:solidFill xmlns:a="http://schemas.openxmlformats.org/drawingml/2006/main">
            <a:srgbClr val="FFFFFF">
              <a:alpha val="13333"/>
            </a:srgbClr>
          </a:solidFill>
          <a:ln xmlns:a="http://schemas.openxmlformats.org/drawingml/2006/main" w="0">
            <a:solidFill>
              <a:srgbClr val="FFFFFF">
                <a:alpha val="13333"/>
              </a:srgbClr>
            </a:solidFill>
            <a:prstDash val="solid"/>
          </a:ln>
        </p:spPr>
      </p:sp>
      <p:sp>
        <p:nvSpPr>
          <p:cNvPr id="13" name="">
            <a:extLst xmlns:a="http://schemas.openxmlformats.org/drawingml/2006/main">
              <a:ext uri="{FF2B5EF4-FFF2-40B4-BE49-F238E27FC236}">
                <a16:creationId xmlns:a16="http://schemas.microsoft.com/office/drawing/2014/main" id="{7FB43E4F-A762-4032-9C95-DF108ED08A50}"/>
              </a:ext>
            </a:extLst>
          </p:cNvPr>
          <p:cNvSpPr>
            <a:spLocks xmlns:a="http://schemas.openxmlformats.org/drawingml/2006/main" noGrp="1"/>
          </p:cNvSpPr>
          <p:nvPr/>
        </p:nvSpPr>
        <p:spPr>
          <a:xfrm xmlns:a="http://schemas.openxmlformats.org/drawingml/2006/main">
            <a:off x="895350" y="1866900"/>
            <a:ext cx="10858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825" b="1">
                <a:solidFill>
                  <a:srgbClr val="FFFFFF"/>
                </a:solidFill>
                <a:latin typeface="Aptos"/>
                <a:ea typeface="Aptos"/>
                <a:cs typeface="Aptos"/>
              </a:defRPr>
            </a:pPr>
            <a:r>
              <a:rPr sz="825" b="1">
                <a:solidFill>
                  <a:srgbClr val="FFFFFF"/>
                </a:solidFill>
                <a:latin typeface="Aptos"/>
                <a:ea typeface="Aptos"/>
                <a:cs typeface="Aptos"/>
              </a:rPr>
              <a:t>DEFAULT PILOT</a:t>
            </a:r>
          </a:p>
        </p:txBody>
      </p:sp>
      <p:sp>
        <p:nvSpPr>
          <p:cNvPr id="14" name="">
            <a:extLst xmlns:a="http://schemas.openxmlformats.org/drawingml/2006/main">
              <a:ext uri="{FF2B5EF4-FFF2-40B4-BE49-F238E27FC236}">
                <a16:creationId xmlns:a16="http://schemas.microsoft.com/office/drawing/2014/main" id="{9A016275-3687-4C3E-9249-9907A17813E2}"/>
              </a:ext>
            </a:extLst>
          </p:cNvPr>
          <p:cNvSpPr>
            <a:spLocks xmlns:a="http://schemas.openxmlformats.org/drawingml/2006/main" noGrp="1"/>
          </p:cNvSpPr>
          <p:nvPr/>
        </p:nvSpPr>
        <p:spPr>
          <a:xfrm xmlns:a="http://schemas.openxmlformats.org/drawingml/2006/main">
            <a:off x="800100" y="2324100"/>
            <a:ext cx="2571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850" b="1">
                <a:solidFill>
                  <a:srgbClr val="FFFFFF"/>
                </a:solidFill>
                <a:latin typeface="Aptos Display"/>
                <a:ea typeface="Aptos Display"/>
                <a:cs typeface="Aptos Display"/>
              </a:defRPr>
            </a:pPr>
            <a:r>
              <a:rPr sz="2850" b="1">
                <a:solidFill>
                  <a:srgbClr val="FFFFFF"/>
                </a:solidFill>
                <a:latin typeface="Aptos Display"/>
                <a:ea typeface="Aptos Display"/>
                <a:cs typeface="Aptos Display"/>
              </a:rPr>
              <a:t>Florida LLC</a:t>
            </a:r>
          </a:p>
        </p:txBody>
      </p:sp>
      <p:sp>
        <p:nvSpPr>
          <p:cNvPr id="15" name="">
            <a:extLst xmlns:a="http://schemas.openxmlformats.org/drawingml/2006/main">
              <a:ext uri="{FF2B5EF4-FFF2-40B4-BE49-F238E27FC236}">
                <a16:creationId xmlns:a16="http://schemas.microsoft.com/office/drawing/2014/main" id="{97A1257C-5D72-44E2-8256-BC522F874342}"/>
              </a:ext>
            </a:extLst>
          </p:cNvPr>
          <p:cNvSpPr>
            <a:spLocks xmlns:a="http://schemas.openxmlformats.org/drawingml/2006/main" noGrp="1"/>
          </p:cNvSpPr>
          <p:nvPr/>
        </p:nvSpPr>
        <p:spPr>
          <a:xfrm xmlns:a="http://schemas.openxmlformats.org/drawingml/2006/main">
            <a:off x="800100" y="2981325"/>
            <a:ext cx="2571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0">
                <a:solidFill>
                  <a:srgbClr val="DCEBE3"/>
                </a:solidFill>
                <a:latin typeface="Aptos"/>
                <a:ea typeface="Aptos"/>
                <a:cs typeface="Aptos"/>
              </a:defRPr>
            </a:pPr>
            <a:r>
              <a:rPr sz="1350" b="0">
                <a:solidFill>
                  <a:srgbClr val="DCEBE3"/>
                </a:solidFill>
                <a:latin typeface="Aptos"/>
                <a:ea typeface="Aptos"/>
                <a:cs typeface="Aptos"/>
              </a:rPr>
              <a:t>Founder-funded Miami pilot, simple ownership and no near-term institutional financing.</a:t>
            </a:r>
          </a:p>
        </p:txBody>
      </p:sp>
      <p:sp>
        <p:nvSpPr>
          <p:cNvPr id="16" name="">
            <a:extLst xmlns:a="http://schemas.openxmlformats.org/drawingml/2006/main">
              <a:ext uri="{FF2B5EF4-FFF2-40B4-BE49-F238E27FC236}">
                <a16:creationId xmlns:a16="http://schemas.microsoft.com/office/drawing/2014/main" id="{705F6E55-BC6D-46A8-B0D7-4B6980719404}"/>
              </a:ext>
            </a:extLst>
          </p:cNvPr>
          <p:cNvSpPr>
            <a:spLocks xmlns:a="http://schemas.openxmlformats.org/drawingml/2006/main" noGrp="1"/>
          </p:cNvSpPr>
          <p:nvPr/>
        </p:nvSpPr>
        <p:spPr>
          <a:xfrm xmlns:a="http://schemas.openxmlformats.org/drawingml/2006/main">
            <a:off x="800100" y="4029075"/>
            <a:ext cx="25717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00" b="0">
                <a:solidFill>
                  <a:srgbClr val="FFFFFF"/>
                </a:solidFill>
                <a:latin typeface="Aptos"/>
                <a:ea typeface="Aptos"/>
                <a:cs typeface="Aptos"/>
              </a:defRPr>
            </a:pPr>
            <a:r>
              <a:rPr sz="1200" b="0">
                <a:solidFill>
                  <a:srgbClr val="FFFFFF"/>
                </a:solidFill>
                <a:latin typeface="Aptos"/>
                <a:ea typeface="Aptos"/>
                <a:cs typeface="Aptos"/>
              </a:rPr>
              <a:t>• Articles + registered agent</a:t>
            </a:r>
          </a:p>
          <a:p xmlns:a="http://schemas.openxmlformats.org/drawingml/2006/main">
            <a:pPr algn="l">
              <a:lnSpc>
                <a:spcPct val="112000"/>
              </a:lnSpc>
              <a:buNone/>
              <a:defRPr sz="1200" b="0">
                <a:solidFill>
                  <a:srgbClr val="FFFFFF"/>
                </a:solidFill>
                <a:latin typeface="Aptos"/>
                <a:ea typeface="Aptos"/>
                <a:cs typeface="Aptos"/>
              </a:defRPr>
            </a:pPr>
            <a:r>
              <a:rPr sz="1200" b="0">
                <a:solidFill>
                  <a:srgbClr val="FFFFFF"/>
                </a:solidFill>
                <a:latin typeface="Aptos"/>
                <a:ea typeface="Aptos"/>
                <a:cs typeface="Aptos"/>
              </a:rPr>
              <a:t>• EIN + operating agreement</a:t>
            </a:r>
          </a:p>
          <a:p xmlns:a="http://schemas.openxmlformats.org/drawingml/2006/main">
            <a:pPr algn="l">
              <a:lnSpc>
                <a:spcPct val="112000"/>
              </a:lnSpc>
              <a:buNone/>
              <a:defRPr sz="1200" b="0">
                <a:solidFill>
                  <a:srgbClr val="FFFFFF"/>
                </a:solidFill>
                <a:latin typeface="Aptos"/>
                <a:ea typeface="Aptos"/>
                <a:cs typeface="Aptos"/>
              </a:defRPr>
            </a:pPr>
            <a:r>
              <a:rPr sz="1200" b="0">
                <a:solidFill>
                  <a:srgbClr val="FFFFFF"/>
                </a:solidFill>
                <a:latin typeface="Aptos"/>
                <a:ea typeface="Aptos"/>
                <a:cs typeface="Aptos"/>
              </a:rPr>
              <a:t>• Bank + accounting + insurance</a:t>
            </a:r>
          </a:p>
          <a:p xmlns:a="http://schemas.openxmlformats.org/drawingml/2006/main">
            <a:pPr algn="l">
              <a:lnSpc>
                <a:spcPct val="112000"/>
              </a:lnSpc>
              <a:buNone/>
              <a:defRPr sz="1200" b="0">
                <a:solidFill>
                  <a:srgbClr val="FFFFFF"/>
                </a:solidFill>
                <a:latin typeface="Aptos"/>
                <a:ea typeface="Aptos"/>
                <a:cs typeface="Aptos"/>
              </a:defRPr>
            </a:pPr>
            <a:r>
              <a:rPr sz="1200" b="0">
                <a:solidFill>
                  <a:srgbClr val="FFFFFF"/>
                </a:solidFill>
                <a:latin typeface="Aptos"/>
                <a:ea typeface="Aptos"/>
                <a:cs typeface="Aptos"/>
              </a:rPr>
              <a:t>• County / city tax receipts</a:t>
            </a:r>
          </a:p>
          <a:p xmlns:a="http://schemas.openxmlformats.org/drawingml/2006/main">
            <a:pPr algn="l">
              <a:lnSpc>
                <a:spcPct val="112000"/>
              </a:lnSpc>
              <a:buNone/>
              <a:defRPr sz="1200" b="0">
                <a:solidFill>
                  <a:srgbClr val="FFFFFF"/>
                </a:solidFill>
                <a:latin typeface="Aptos"/>
                <a:ea typeface="Aptos"/>
                <a:cs typeface="Aptos"/>
              </a:defRPr>
            </a:pPr>
            <a:r>
              <a:rPr sz="1200" b="0">
                <a:solidFill>
                  <a:srgbClr val="FFFFFF"/>
                </a:solidFill>
                <a:latin typeface="Aptos"/>
                <a:ea typeface="Aptos"/>
                <a:cs typeface="Aptos"/>
              </a:rPr>
              <a:t>• Partner agreements in entity name</a:t>
            </a:r>
          </a:p>
        </p:txBody>
      </p:sp>
      <p:sp>
        <p:nvSpPr>
          <p:cNvPr id="17" name="">
            <a:extLst xmlns:a="http://schemas.openxmlformats.org/drawingml/2006/main">
              <a:ext uri="{FF2B5EF4-FFF2-40B4-BE49-F238E27FC236}">
                <a16:creationId xmlns:a16="http://schemas.microsoft.com/office/drawing/2014/main" id="{7C42F7EB-09C7-4C79-BBDE-4C66370BCD47}"/>
              </a:ext>
            </a:extLst>
          </p:cNvPr>
          <p:cNvSpPr>
            <a:spLocks xmlns:a="http://schemas.openxmlformats.org/drawingml/2006/main" noGrp="1"/>
          </p:cNvSpPr>
          <p:nvPr/>
        </p:nvSpPr>
        <p:spPr>
          <a:xfrm xmlns:a="http://schemas.openxmlformats.org/drawingml/2006/main">
            <a:off x="3933825" y="1562100"/>
            <a:ext cx="3190875" cy="4152900"/>
          </a:xfrm>
          <a:prstGeom xmlns:a="http://schemas.openxmlformats.org/drawingml/2006/main" prst="roundRect">
            <a:avLst>
              <a:gd name="adj" fmla="val 6567"/>
            </a:avLst>
          </a:prstGeom>
          <a:solidFill xmlns:a="http://schemas.openxmlformats.org/drawingml/2006/main">
            <a:srgbClr val="2563EB"/>
          </a:solidFill>
          <a:ln xmlns:a="http://schemas.openxmlformats.org/drawingml/2006/main" w="0">
            <a:solidFill>
              <a:srgbClr val="2563EB"/>
            </a:solidFill>
            <a:prstDash val="solid"/>
          </a:ln>
        </p:spPr>
      </p:sp>
      <p:sp>
        <p:nvSpPr>
          <p:cNvPr id="18" name="">
            <a:extLst xmlns:a="http://schemas.openxmlformats.org/drawingml/2006/main">
              <a:ext uri="{FF2B5EF4-FFF2-40B4-BE49-F238E27FC236}">
                <a16:creationId xmlns:a16="http://schemas.microsoft.com/office/drawing/2014/main" id="{52C3F9C9-4CF3-4455-9FAF-88AFC4098825}"/>
              </a:ext>
            </a:extLst>
          </p:cNvPr>
          <p:cNvSpPr>
            <a:spLocks xmlns:a="http://schemas.openxmlformats.org/drawingml/2006/main" noGrp="1"/>
          </p:cNvSpPr>
          <p:nvPr/>
        </p:nvSpPr>
        <p:spPr>
          <a:xfrm xmlns:a="http://schemas.openxmlformats.org/drawingml/2006/main">
            <a:off x="4181475" y="1809750"/>
            <a:ext cx="1371600" cy="266700"/>
          </a:xfrm>
          <a:prstGeom xmlns:a="http://schemas.openxmlformats.org/drawingml/2006/main" prst="roundRect">
            <a:avLst>
              <a:gd name="adj" fmla="val 50000"/>
            </a:avLst>
          </a:prstGeom>
          <a:solidFill xmlns:a="http://schemas.openxmlformats.org/drawingml/2006/main">
            <a:srgbClr val="FFFFFF">
              <a:alpha val="13333"/>
            </a:srgbClr>
          </a:solidFill>
          <a:ln xmlns:a="http://schemas.openxmlformats.org/drawingml/2006/main" w="0">
            <a:solidFill>
              <a:srgbClr val="FFFFFF">
                <a:alpha val="13333"/>
              </a:srgbClr>
            </a:solidFill>
            <a:prstDash val="solid"/>
          </a:ln>
        </p:spPr>
      </p:sp>
      <p:sp>
        <p:nvSpPr>
          <p:cNvPr id="19" name="">
            <a:extLst xmlns:a="http://schemas.openxmlformats.org/drawingml/2006/main">
              <a:ext uri="{FF2B5EF4-FFF2-40B4-BE49-F238E27FC236}">
                <a16:creationId xmlns:a16="http://schemas.microsoft.com/office/drawing/2014/main" id="{702C17DD-F6DE-4AF7-98FF-DC020D86048B}"/>
              </a:ext>
            </a:extLst>
          </p:cNvPr>
          <p:cNvSpPr>
            <a:spLocks xmlns:a="http://schemas.openxmlformats.org/drawingml/2006/main" noGrp="1"/>
          </p:cNvSpPr>
          <p:nvPr/>
        </p:nvSpPr>
        <p:spPr>
          <a:xfrm xmlns:a="http://schemas.openxmlformats.org/drawingml/2006/main">
            <a:off x="4276725" y="1866900"/>
            <a:ext cx="11811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825" b="1">
                <a:solidFill>
                  <a:srgbClr val="FFFFFF"/>
                </a:solidFill>
                <a:latin typeface="Aptos"/>
                <a:ea typeface="Aptos"/>
                <a:cs typeface="Aptos"/>
              </a:defRPr>
            </a:pPr>
            <a:r>
              <a:rPr sz="825" b="1">
                <a:solidFill>
                  <a:srgbClr val="FFFFFF"/>
                </a:solidFill>
                <a:latin typeface="Aptos"/>
                <a:ea typeface="Aptos"/>
                <a:cs typeface="Aptos"/>
              </a:rPr>
              <a:t>IF FUNDRAISING</a:t>
            </a:r>
          </a:p>
        </p:txBody>
      </p:sp>
      <p:sp>
        <p:nvSpPr>
          <p:cNvPr id="20" name="">
            <a:extLst xmlns:a="http://schemas.openxmlformats.org/drawingml/2006/main">
              <a:ext uri="{FF2B5EF4-FFF2-40B4-BE49-F238E27FC236}">
                <a16:creationId xmlns:a16="http://schemas.microsoft.com/office/drawing/2014/main" id="{5C79E204-D4F9-4D93-A1BD-268240C8B12F}"/>
              </a:ext>
            </a:extLst>
          </p:cNvPr>
          <p:cNvSpPr>
            <a:spLocks xmlns:a="http://schemas.openxmlformats.org/drawingml/2006/main" noGrp="1"/>
          </p:cNvSpPr>
          <p:nvPr/>
        </p:nvSpPr>
        <p:spPr>
          <a:xfrm xmlns:a="http://schemas.openxmlformats.org/drawingml/2006/main">
            <a:off x="4181475" y="2324100"/>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001"/>
          </a:bodyPr>
          <a:lstStyle xmlns:a="http://schemas.openxmlformats.org/drawingml/2006/main"/>
          <a:p xmlns:a="http://schemas.openxmlformats.org/drawingml/2006/main">
            <a:pPr algn="l">
              <a:lnSpc>
                <a:spcPct val="105000"/>
              </a:lnSpc>
              <a:buNone/>
              <a:defRPr sz="2700" b="1">
                <a:solidFill>
                  <a:srgbClr val="FFFFFF"/>
                </a:solidFill>
                <a:latin typeface="Aptos Display"/>
                <a:ea typeface="Aptos Display"/>
                <a:cs typeface="Aptos Display"/>
              </a:defRPr>
            </a:pPr>
            <a:r>
              <a:rPr sz="2700" b="1">
                <a:solidFill>
                  <a:srgbClr val="FFFFFF"/>
                </a:solidFill>
                <a:latin typeface="Aptos Display"/>
                <a:ea typeface="Aptos Display"/>
                <a:cs typeface="Aptos Display"/>
              </a:rPr>
              <a:t>Delaware C-corp</a:t>
            </a:r>
          </a:p>
        </p:txBody>
      </p:sp>
      <p:sp>
        <p:nvSpPr>
          <p:cNvPr id="21" name="">
            <a:extLst xmlns:a="http://schemas.openxmlformats.org/drawingml/2006/main">
              <a:ext uri="{FF2B5EF4-FFF2-40B4-BE49-F238E27FC236}">
                <a16:creationId xmlns:a16="http://schemas.microsoft.com/office/drawing/2014/main" id="{AD982CE1-BB6E-49FA-8749-10C73F0A9B2F}"/>
              </a:ext>
            </a:extLst>
          </p:cNvPr>
          <p:cNvSpPr>
            <a:spLocks xmlns:a="http://schemas.openxmlformats.org/drawingml/2006/main" noGrp="1"/>
          </p:cNvSpPr>
          <p:nvPr/>
        </p:nvSpPr>
        <p:spPr>
          <a:xfrm xmlns:a="http://schemas.openxmlformats.org/drawingml/2006/main">
            <a:off x="4181475" y="2981325"/>
            <a:ext cx="2571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647"/>
          </a:bodyPr>
          <a:lstStyle xmlns:a="http://schemas.openxmlformats.org/drawingml/2006/main"/>
          <a:p xmlns:a="http://schemas.openxmlformats.org/drawingml/2006/main">
            <a:pPr algn="l">
              <a:lnSpc>
                <a:spcPct val="105000"/>
              </a:lnSpc>
              <a:buNone/>
              <a:defRPr sz="1350" b="0">
                <a:solidFill>
                  <a:srgbClr val="DDE6FF"/>
                </a:solidFill>
                <a:latin typeface="Aptos"/>
                <a:ea typeface="Aptos"/>
                <a:cs typeface="Aptos"/>
              </a:defRPr>
            </a:pPr>
            <a:r>
              <a:rPr sz="1350" b="0">
                <a:solidFill>
                  <a:srgbClr val="DDE6FF"/>
                </a:solidFill>
                <a:latin typeface="Aptos"/>
                <a:ea typeface="Aptos"/>
                <a:cs typeface="Aptos"/>
              </a:rPr>
              <a:t>Evaluate before launch if institutional capital, options or complex ownership are expected soon.</a:t>
            </a:r>
          </a:p>
        </p:txBody>
      </p:sp>
      <p:sp>
        <p:nvSpPr>
          <p:cNvPr id="22" name="">
            <a:extLst xmlns:a="http://schemas.openxmlformats.org/drawingml/2006/main">
              <a:ext uri="{FF2B5EF4-FFF2-40B4-BE49-F238E27FC236}">
                <a16:creationId xmlns:a16="http://schemas.microsoft.com/office/drawing/2014/main" id="{CA0F41ED-16AB-446E-A170-638596CB61F8}"/>
              </a:ext>
            </a:extLst>
          </p:cNvPr>
          <p:cNvSpPr>
            <a:spLocks xmlns:a="http://schemas.openxmlformats.org/drawingml/2006/main" noGrp="1"/>
          </p:cNvSpPr>
          <p:nvPr/>
        </p:nvSpPr>
        <p:spPr>
          <a:xfrm xmlns:a="http://schemas.openxmlformats.org/drawingml/2006/main">
            <a:off x="4181475" y="4029075"/>
            <a:ext cx="25717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00" b="0">
                <a:solidFill>
                  <a:srgbClr val="FFFFFF"/>
                </a:solidFill>
                <a:latin typeface="Aptos"/>
                <a:ea typeface="Aptos"/>
                <a:cs typeface="Aptos"/>
              </a:defRPr>
            </a:pPr>
            <a:r>
              <a:rPr sz="1200" b="0">
                <a:solidFill>
                  <a:srgbClr val="FFFFFF"/>
                </a:solidFill>
                <a:latin typeface="Aptos"/>
                <a:ea typeface="Aptos"/>
                <a:cs typeface="Aptos"/>
              </a:rPr>
              <a:t>• Counsel-led formation</a:t>
            </a:r>
          </a:p>
          <a:p xmlns:a="http://schemas.openxmlformats.org/drawingml/2006/main">
            <a:pPr algn="l">
              <a:lnSpc>
                <a:spcPct val="112000"/>
              </a:lnSpc>
              <a:buNone/>
              <a:defRPr sz="1200" b="0">
                <a:solidFill>
                  <a:srgbClr val="FFFFFF"/>
                </a:solidFill>
                <a:latin typeface="Aptos"/>
                <a:ea typeface="Aptos"/>
                <a:cs typeface="Aptos"/>
              </a:defRPr>
            </a:pPr>
            <a:r>
              <a:rPr sz="1200" b="0">
                <a:solidFill>
                  <a:srgbClr val="FFFFFF"/>
                </a:solidFill>
                <a:latin typeface="Aptos"/>
                <a:ea typeface="Aptos"/>
                <a:cs typeface="Aptos"/>
              </a:rPr>
              <a:t>• Stock + IP assignments</a:t>
            </a:r>
          </a:p>
          <a:p xmlns:a="http://schemas.openxmlformats.org/drawingml/2006/main">
            <a:pPr algn="l">
              <a:lnSpc>
                <a:spcPct val="112000"/>
              </a:lnSpc>
              <a:buNone/>
              <a:defRPr sz="1200" b="0">
                <a:solidFill>
                  <a:srgbClr val="FFFFFF"/>
                </a:solidFill>
                <a:latin typeface="Aptos"/>
                <a:ea typeface="Aptos"/>
                <a:cs typeface="Aptos"/>
              </a:defRPr>
            </a:pPr>
            <a:r>
              <a:rPr sz="1200" b="0">
                <a:solidFill>
                  <a:srgbClr val="FFFFFF"/>
                </a:solidFill>
                <a:latin typeface="Aptos"/>
                <a:ea typeface="Aptos"/>
                <a:cs typeface="Aptos"/>
              </a:rPr>
              <a:t>• Cap table + option plan</a:t>
            </a:r>
          </a:p>
          <a:p xmlns:a="http://schemas.openxmlformats.org/drawingml/2006/main">
            <a:pPr algn="l">
              <a:lnSpc>
                <a:spcPct val="112000"/>
              </a:lnSpc>
              <a:buNone/>
              <a:defRPr sz="1200" b="0">
                <a:solidFill>
                  <a:srgbClr val="FFFFFF"/>
                </a:solidFill>
                <a:latin typeface="Aptos"/>
                <a:ea typeface="Aptos"/>
                <a:cs typeface="Aptos"/>
              </a:defRPr>
            </a:pPr>
            <a:r>
              <a:rPr sz="1200" b="0">
                <a:solidFill>
                  <a:srgbClr val="FFFFFF"/>
                </a:solidFill>
                <a:latin typeface="Aptos"/>
                <a:ea typeface="Aptos"/>
                <a:cs typeface="Aptos"/>
              </a:rPr>
              <a:t>• Florida foreign qualification</a:t>
            </a:r>
          </a:p>
          <a:p xmlns:a="http://schemas.openxmlformats.org/drawingml/2006/main">
            <a:pPr algn="l">
              <a:lnSpc>
                <a:spcPct val="112000"/>
              </a:lnSpc>
              <a:buNone/>
              <a:defRPr sz="1200" b="0">
                <a:solidFill>
                  <a:srgbClr val="FFFFFF"/>
                </a:solidFill>
                <a:latin typeface="Aptos"/>
                <a:ea typeface="Aptos"/>
                <a:cs typeface="Aptos"/>
              </a:defRPr>
            </a:pPr>
            <a:r>
              <a:rPr sz="1200" b="0">
                <a:solidFill>
                  <a:srgbClr val="FFFFFF"/>
                </a:solidFill>
                <a:latin typeface="Aptos"/>
                <a:ea typeface="Aptos"/>
                <a:cs typeface="Aptos"/>
              </a:rPr>
              <a:t>• Higher recurring administration</a:t>
            </a:r>
          </a:p>
        </p:txBody>
      </p:sp>
      <p:sp>
        <p:nvSpPr>
          <p:cNvPr id="23" name="">
            <a:extLst xmlns:a="http://schemas.openxmlformats.org/drawingml/2006/main">
              <a:ext uri="{FF2B5EF4-FFF2-40B4-BE49-F238E27FC236}">
                <a16:creationId xmlns:a16="http://schemas.microsoft.com/office/drawing/2014/main" id="{F4FE5353-7C27-41FB-BF99-D24F5E362978}"/>
              </a:ext>
            </a:extLst>
          </p:cNvPr>
          <p:cNvSpPr>
            <a:spLocks xmlns:a="http://schemas.openxmlformats.org/drawingml/2006/main" noGrp="1"/>
          </p:cNvSpPr>
          <p:nvPr/>
        </p:nvSpPr>
        <p:spPr>
          <a:xfrm xmlns:a="http://schemas.openxmlformats.org/drawingml/2006/main">
            <a:off x="7315200" y="1562100"/>
            <a:ext cx="4305300" cy="4152900"/>
          </a:xfrm>
          <a:prstGeom xmlns:a="http://schemas.openxmlformats.org/drawingml/2006/main" prst="roundRect">
            <a:avLst>
              <a:gd name="adj" fmla="val 5046"/>
            </a:avLst>
          </a:prstGeom>
          <a:solidFill xmlns:a="http://schemas.openxmlformats.org/drawingml/2006/main">
            <a:srgbClr val="FFFFFF"/>
          </a:solidFill>
          <a:ln xmlns:a="http://schemas.openxmlformats.org/drawingml/2006/main" w="9525">
            <a:solidFill>
              <a:srgbClr val="DFE3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4" name="">
            <a:extLst xmlns:a="http://schemas.openxmlformats.org/drawingml/2006/main">
              <a:ext uri="{FF2B5EF4-FFF2-40B4-BE49-F238E27FC236}">
                <a16:creationId xmlns:a16="http://schemas.microsoft.com/office/drawing/2014/main" id="{77E5CDCE-7BE9-4EF4-A2E4-D55DD5D63D22}"/>
              </a:ext>
            </a:extLst>
          </p:cNvPr>
          <p:cNvSpPr>
            <a:spLocks xmlns:a="http://schemas.openxmlformats.org/drawingml/2006/main" noGrp="1"/>
          </p:cNvSpPr>
          <p:nvPr/>
        </p:nvSpPr>
        <p:spPr>
          <a:xfrm xmlns:a="http://schemas.openxmlformats.org/drawingml/2006/main">
            <a:off x="7562850" y="18097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FF6F61"/>
                </a:solidFill>
                <a:latin typeface="Aptos"/>
                <a:ea typeface="Aptos"/>
                <a:cs typeface="Aptos"/>
              </a:defRPr>
            </a:pPr>
            <a:r>
              <a:rPr sz="825" b="1">
                <a:solidFill>
                  <a:srgbClr val="FF6F61"/>
                </a:solidFill>
                <a:latin typeface="Aptos"/>
                <a:ea typeface="Aptos"/>
                <a:cs typeface="Aptos"/>
              </a:rPr>
              <a:t>LAUNCH COMPLIANCE GATES</a:t>
            </a:r>
          </a:p>
        </p:txBody>
      </p:sp>
      <p:sp>
        <p:nvSpPr>
          <p:cNvPr id="25" name="">
            <a:extLst xmlns:a="http://schemas.openxmlformats.org/drawingml/2006/main">
              <a:ext uri="{FF2B5EF4-FFF2-40B4-BE49-F238E27FC236}">
                <a16:creationId xmlns:a16="http://schemas.microsoft.com/office/drawing/2014/main" id="{081BF2CF-B7E0-4211-9453-12EE6BE41C67}"/>
              </a:ext>
            </a:extLst>
          </p:cNvPr>
          <p:cNvSpPr>
            <a:spLocks xmlns:a="http://schemas.openxmlformats.org/drawingml/2006/main" noGrp="1"/>
          </p:cNvSpPr>
          <p:nvPr/>
        </p:nvSpPr>
        <p:spPr>
          <a:xfrm xmlns:a="http://schemas.openxmlformats.org/drawingml/2006/main">
            <a:off x="7562850" y="2219325"/>
            <a:ext cx="209550" cy="209550"/>
          </a:xfrm>
          <a:prstGeom xmlns:a="http://schemas.openxmlformats.org/drawingml/2006/main" prst="ellipse">
            <a:avLst/>
          </a:prstGeom>
          <a:solidFill xmlns:a="http://schemas.openxmlformats.org/drawingml/2006/main">
            <a:srgbClr val="FFF0ED"/>
          </a:solidFill>
          <a:ln xmlns:a="http://schemas.openxmlformats.org/drawingml/2006/main" w="0">
            <a:solidFill>
              <a:srgbClr val="FFF0ED"/>
            </a:solidFill>
            <a:prstDash val="solid"/>
          </a:ln>
        </p:spPr>
      </p:sp>
      <p:sp>
        <p:nvSpPr>
          <p:cNvPr id="26" name="">
            <a:extLst xmlns:a="http://schemas.openxmlformats.org/drawingml/2006/main">
              <a:ext uri="{FF2B5EF4-FFF2-40B4-BE49-F238E27FC236}">
                <a16:creationId xmlns:a16="http://schemas.microsoft.com/office/drawing/2014/main" id="{6E4AB58F-48F6-493B-8E9D-F18EA6B38D06}"/>
              </a:ext>
            </a:extLst>
          </p:cNvPr>
          <p:cNvSpPr>
            <a:spLocks xmlns:a="http://schemas.openxmlformats.org/drawingml/2006/main" noGrp="1"/>
          </p:cNvSpPr>
          <p:nvPr/>
        </p:nvSpPr>
        <p:spPr>
          <a:xfrm xmlns:a="http://schemas.openxmlformats.org/drawingml/2006/main">
            <a:off x="7610475" y="2247900"/>
            <a:ext cx="1143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238"/>
          </a:bodyPr>
          <a:lstStyle xmlns:a="http://schemas.openxmlformats.org/drawingml/2006/main"/>
          <a:p xmlns:a="http://schemas.openxmlformats.org/drawingml/2006/main">
            <a:pPr algn="ctr">
              <a:lnSpc>
                <a:spcPct val="105000"/>
              </a:lnSpc>
              <a:buNone/>
              <a:defRPr sz="750" b="1">
                <a:solidFill>
                  <a:srgbClr val="FF6F61"/>
                </a:solidFill>
                <a:latin typeface="Aptos"/>
                <a:ea typeface="Aptos"/>
                <a:cs typeface="Aptos"/>
              </a:defRPr>
            </a:pPr>
            <a:r>
              <a:rPr sz="750" b="1">
                <a:solidFill>
                  <a:srgbClr val="FF6F61"/>
                </a:solidFill>
                <a:latin typeface="Aptos"/>
                <a:ea typeface="Aptos"/>
                <a:cs typeface="Aptos"/>
              </a:rPr>
              <a:t>!</a:t>
            </a:r>
          </a:p>
        </p:txBody>
      </p:sp>
      <p:sp>
        <p:nvSpPr>
          <p:cNvPr id="27" name="">
            <a:extLst xmlns:a="http://schemas.openxmlformats.org/drawingml/2006/main">
              <a:ext uri="{FF2B5EF4-FFF2-40B4-BE49-F238E27FC236}">
                <a16:creationId xmlns:a16="http://schemas.microsoft.com/office/drawing/2014/main" id="{C904ADD9-2826-4877-9836-50294093FA13}"/>
              </a:ext>
            </a:extLst>
          </p:cNvPr>
          <p:cNvSpPr>
            <a:spLocks xmlns:a="http://schemas.openxmlformats.org/drawingml/2006/main" noGrp="1"/>
          </p:cNvSpPr>
          <p:nvPr/>
        </p:nvSpPr>
        <p:spPr>
          <a:xfrm xmlns:a="http://schemas.openxmlformats.org/drawingml/2006/main">
            <a:off x="7905750" y="2200275"/>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a:solidFill>
                  <a:srgbClr val="101827"/>
                </a:solidFill>
                <a:latin typeface="Aptos"/>
                <a:ea typeface="Aptos"/>
                <a:cs typeface="Aptos"/>
              </a:defRPr>
            </a:pPr>
            <a:r>
              <a:rPr sz="1200" b="1">
                <a:solidFill>
                  <a:srgbClr val="101827"/>
                </a:solidFill>
                <a:latin typeface="Aptos"/>
                <a:ea typeface="Aptos"/>
                <a:cs typeface="Aptos"/>
              </a:rPr>
              <a:t>Policy accuracy</a:t>
            </a:r>
          </a:p>
        </p:txBody>
      </p:sp>
      <p:sp>
        <p:nvSpPr>
          <p:cNvPr id="28" name="">
            <a:extLst xmlns:a="http://schemas.openxmlformats.org/drawingml/2006/main">
              <a:ext uri="{FF2B5EF4-FFF2-40B4-BE49-F238E27FC236}">
                <a16:creationId xmlns:a16="http://schemas.microsoft.com/office/drawing/2014/main" id="{FC66C9F5-9AC3-45AF-887C-0967C3A81E59}"/>
              </a:ext>
            </a:extLst>
          </p:cNvPr>
          <p:cNvSpPr>
            <a:spLocks xmlns:a="http://schemas.openxmlformats.org/drawingml/2006/main" noGrp="1"/>
          </p:cNvSpPr>
          <p:nvPr/>
        </p:nvSpPr>
        <p:spPr>
          <a:xfrm xmlns:a="http://schemas.openxmlformats.org/drawingml/2006/main">
            <a:off x="7905750" y="241935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0">
                <a:solidFill>
                  <a:srgbClr val="626A78"/>
                </a:solidFill>
                <a:latin typeface="Aptos"/>
                <a:ea typeface="Aptos"/>
                <a:cs typeface="Aptos"/>
              </a:defRPr>
            </a:pPr>
            <a:r>
              <a:rPr sz="900" b="0">
                <a:solidFill>
                  <a:srgbClr val="626A78"/>
                </a:solidFill>
                <a:latin typeface="Aptos"/>
                <a:ea typeface="Aptos"/>
                <a:cs typeface="Aptos"/>
              </a:rPr>
              <a:t>Location, analytics, retention and deletion match reality</a:t>
            </a:r>
          </a:p>
        </p:txBody>
      </p:sp>
      <p:sp>
        <p:nvSpPr>
          <p:cNvPr id="29" name="">
            <a:extLst xmlns:a="http://schemas.openxmlformats.org/drawingml/2006/main">
              <a:ext uri="{FF2B5EF4-FFF2-40B4-BE49-F238E27FC236}">
                <a16:creationId xmlns:a16="http://schemas.microsoft.com/office/drawing/2014/main" id="{199EC138-1AA2-49BF-91BB-1F560E317183}"/>
              </a:ext>
            </a:extLst>
          </p:cNvPr>
          <p:cNvSpPr>
            <a:spLocks xmlns:a="http://schemas.openxmlformats.org/drawingml/2006/main" noGrp="1"/>
          </p:cNvSpPr>
          <p:nvPr/>
        </p:nvSpPr>
        <p:spPr>
          <a:xfrm xmlns:a="http://schemas.openxmlformats.org/drawingml/2006/main">
            <a:off x="7562850" y="2762250"/>
            <a:ext cx="209550" cy="209550"/>
          </a:xfrm>
          <a:prstGeom xmlns:a="http://schemas.openxmlformats.org/drawingml/2006/main" prst="ellipse">
            <a:avLst/>
          </a:prstGeom>
          <a:solidFill xmlns:a="http://schemas.openxmlformats.org/drawingml/2006/main">
            <a:srgbClr val="FFF0ED"/>
          </a:solidFill>
          <a:ln xmlns:a="http://schemas.openxmlformats.org/drawingml/2006/main" w="0">
            <a:solidFill>
              <a:srgbClr val="FFF0ED"/>
            </a:solidFill>
            <a:prstDash val="solid"/>
          </a:ln>
        </p:spPr>
      </p:sp>
      <p:sp>
        <p:nvSpPr>
          <p:cNvPr id="30" name="">
            <a:extLst xmlns:a="http://schemas.openxmlformats.org/drawingml/2006/main">
              <a:ext uri="{FF2B5EF4-FFF2-40B4-BE49-F238E27FC236}">
                <a16:creationId xmlns:a16="http://schemas.microsoft.com/office/drawing/2014/main" id="{C3D3A79D-DB36-4BB0-B904-3EE8EDBA3407}"/>
              </a:ext>
            </a:extLst>
          </p:cNvPr>
          <p:cNvSpPr>
            <a:spLocks xmlns:a="http://schemas.openxmlformats.org/drawingml/2006/main" noGrp="1"/>
          </p:cNvSpPr>
          <p:nvPr/>
        </p:nvSpPr>
        <p:spPr>
          <a:xfrm xmlns:a="http://schemas.openxmlformats.org/drawingml/2006/main">
            <a:off x="7610475" y="2790825"/>
            <a:ext cx="1143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238"/>
          </a:bodyPr>
          <a:lstStyle xmlns:a="http://schemas.openxmlformats.org/drawingml/2006/main"/>
          <a:p xmlns:a="http://schemas.openxmlformats.org/drawingml/2006/main">
            <a:pPr algn="ctr">
              <a:lnSpc>
                <a:spcPct val="105000"/>
              </a:lnSpc>
              <a:buNone/>
              <a:defRPr sz="750" b="1">
                <a:solidFill>
                  <a:srgbClr val="FF6F61"/>
                </a:solidFill>
                <a:latin typeface="Aptos"/>
                <a:ea typeface="Aptos"/>
                <a:cs typeface="Aptos"/>
              </a:defRPr>
            </a:pPr>
            <a:r>
              <a:rPr sz="750" b="1">
                <a:solidFill>
                  <a:srgbClr val="FF6F61"/>
                </a:solidFill>
                <a:latin typeface="Aptos"/>
                <a:ea typeface="Aptos"/>
                <a:cs typeface="Aptos"/>
              </a:rPr>
              <a:t>!</a:t>
            </a:r>
          </a:p>
        </p:txBody>
      </p:sp>
      <p:sp>
        <p:nvSpPr>
          <p:cNvPr id="31" name="">
            <a:extLst xmlns:a="http://schemas.openxmlformats.org/drawingml/2006/main">
              <a:ext uri="{FF2B5EF4-FFF2-40B4-BE49-F238E27FC236}">
                <a16:creationId xmlns:a16="http://schemas.microsoft.com/office/drawing/2014/main" id="{B100CB52-F31C-4B35-BF89-78F45AC94F09}"/>
              </a:ext>
            </a:extLst>
          </p:cNvPr>
          <p:cNvSpPr>
            <a:spLocks xmlns:a="http://schemas.openxmlformats.org/drawingml/2006/main" noGrp="1"/>
          </p:cNvSpPr>
          <p:nvPr/>
        </p:nvSpPr>
        <p:spPr>
          <a:xfrm xmlns:a="http://schemas.openxmlformats.org/drawingml/2006/main">
            <a:off x="7905750" y="274320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a:solidFill>
                  <a:srgbClr val="101827"/>
                </a:solidFill>
                <a:latin typeface="Aptos"/>
                <a:ea typeface="Aptos"/>
                <a:cs typeface="Aptos"/>
              </a:defRPr>
            </a:pPr>
            <a:r>
              <a:rPr sz="1200" b="1">
                <a:solidFill>
                  <a:srgbClr val="101827"/>
                </a:solidFill>
                <a:latin typeface="Aptos"/>
                <a:ea typeface="Aptos"/>
                <a:cs typeface="Aptos"/>
              </a:rPr>
              <a:t>Age boundary</a:t>
            </a:r>
          </a:p>
        </p:txBody>
      </p:sp>
      <p:sp>
        <p:nvSpPr>
          <p:cNvPr id="32" name="">
            <a:extLst xmlns:a="http://schemas.openxmlformats.org/drawingml/2006/main">
              <a:ext uri="{FF2B5EF4-FFF2-40B4-BE49-F238E27FC236}">
                <a16:creationId xmlns:a16="http://schemas.microsoft.com/office/drawing/2014/main" id="{15B417AF-D6FE-470A-A29C-8A9E8BB4A2E3}"/>
              </a:ext>
            </a:extLst>
          </p:cNvPr>
          <p:cNvSpPr>
            <a:spLocks xmlns:a="http://schemas.openxmlformats.org/drawingml/2006/main" noGrp="1"/>
          </p:cNvSpPr>
          <p:nvPr/>
        </p:nvSpPr>
        <p:spPr>
          <a:xfrm xmlns:a="http://schemas.openxmlformats.org/drawingml/2006/main">
            <a:off x="7905750" y="2962275"/>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0">
                <a:solidFill>
                  <a:srgbClr val="626A78"/>
                </a:solidFill>
                <a:latin typeface="Aptos"/>
                <a:ea typeface="Aptos"/>
                <a:cs typeface="Aptos"/>
              </a:defRPr>
            </a:pPr>
            <a:r>
              <a:rPr sz="900" b="0">
                <a:solidFill>
                  <a:srgbClr val="626A78"/>
                </a:solidFill>
                <a:latin typeface="Aptos"/>
                <a:ea typeface="Aptos"/>
                <a:cs typeface="Aptos"/>
              </a:rPr>
              <a:t>13+ gate and counsel review of COPPA posture</a:t>
            </a:r>
          </a:p>
        </p:txBody>
      </p:sp>
      <p:sp>
        <p:nvSpPr>
          <p:cNvPr id="33" name="">
            <a:extLst xmlns:a="http://schemas.openxmlformats.org/drawingml/2006/main">
              <a:ext uri="{FF2B5EF4-FFF2-40B4-BE49-F238E27FC236}">
                <a16:creationId xmlns:a16="http://schemas.microsoft.com/office/drawing/2014/main" id="{F9FFD934-DC7B-45CF-B232-C50210D0886E}"/>
              </a:ext>
            </a:extLst>
          </p:cNvPr>
          <p:cNvSpPr>
            <a:spLocks xmlns:a="http://schemas.openxmlformats.org/drawingml/2006/main" noGrp="1"/>
          </p:cNvSpPr>
          <p:nvPr/>
        </p:nvSpPr>
        <p:spPr>
          <a:xfrm xmlns:a="http://schemas.openxmlformats.org/drawingml/2006/main">
            <a:off x="7562850" y="3305175"/>
            <a:ext cx="209550" cy="209550"/>
          </a:xfrm>
          <a:prstGeom xmlns:a="http://schemas.openxmlformats.org/drawingml/2006/main" prst="ellipse">
            <a:avLst/>
          </a:prstGeom>
          <a:solidFill xmlns:a="http://schemas.openxmlformats.org/drawingml/2006/main">
            <a:srgbClr val="EAF0FF"/>
          </a:solidFill>
          <a:ln xmlns:a="http://schemas.openxmlformats.org/drawingml/2006/main" w="0">
            <a:solidFill>
              <a:srgbClr val="EAF0FF"/>
            </a:solidFill>
            <a:prstDash val="solid"/>
          </a:ln>
        </p:spPr>
      </p:sp>
      <p:sp>
        <p:nvSpPr>
          <p:cNvPr id="34" name="">
            <a:extLst xmlns:a="http://schemas.openxmlformats.org/drawingml/2006/main">
              <a:ext uri="{FF2B5EF4-FFF2-40B4-BE49-F238E27FC236}">
                <a16:creationId xmlns:a16="http://schemas.microsoft.com/office/drawing/2014/main" id="{EE6052BC-5886-4500-922D-EB30509DC924}"/>
              </a:ext>
            </a:extLst>
          </p:cNvPr>
          <p:cNvSpPr>
            <a:spLocks xmlns:a="http://schemas.openxmlformats.org/drawingml/2006/main" noGrp="1"/>
          </p:cNvSpPr>
          <p:nvPr/>
        </p:nvSpPr>
        <p:spPr>
          <a:xfrm xmlns:a="http://schemas.openxmlformats.org/drawingml/2006/main">
            <a:off x="7610475" y="3333750"/>
            <a:ext cx="1143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238"/>
          </a:bodyPr>
          <a:lstStyle xmlns:a="http://schemas.openxmlformats.org/drawingml/2006/main"/>
          <a:p xmlns:a="http://schemas.openxmlformats.org/drawingml/2006/main">
            <a:pPr algn="ctr">
              <a:lnSpc>
                <a:spcPct val="105000"/>
              </a:lnSpc>
              <a:buNone/>
              <a:defRPr sz="750" b="1">
                <a:solidFill>
                  <a:srgbClr val="2563EB"/>
                </a:solidFill>
                <a:latin typeface="Aptos"/>
                <a:ea typeface="Aptos"/>
                <a:cs typeface="Aptos"/>
              </a:defRPr>
            </a:pPr>
            <a:r>
              <a:rPr sz="750" b="1">
                <a:solidFill>
                  <a:srgbClr val="2563EB"/>
                </a:solidFill>
                <a:latin typeface="Aptos"/>
                <a:ea typeface="Aptos"/>
                <a:cs typeface="Aptos"/>
              </a:rPr>
              <a:t>✓</a:t>
            </a:r>
          </a:p>
        </p:txBody>
      </p:sp>
      <p:sp>
        <p:nvSpPr>
          <p:cNvPr id="35" name="">
            <a:extLst xmlns:a="http://schemas.openxmlformats.org/drawingml/2006/main">
              <a:ext uri="{FF2B5EF4-FFF2-40B4-BE49-F238E27FC236}">
                <a16:creationId xmlns:a16="http://schemas.microsoft.com/office/drawing/2014/main" id="{3AF720D6-4632-4374-A249-5A33AC2F5B67}"/>
              </a:ext>
            </a:extLst>
          </p:cNvPr>
          <p:cNvSpPr>
            <a:spLocks xmlns:a="http://schemas.openxmlformats.org/drawingml/2006/main" noGrp="1"/>
          </p:cNvSpPr>
          <p:nvPr/>
        </p:nvSpPr>
        <p:spPr>
          <a:xfrm xmlns:a="http://schemas.openxmlformats.org/drawingml/2006/main">
            <a:off x="7905750" y="3286125"/>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a:solidFill>
                  <a:srgbClr val="101827"/>
                </a:solidFill>
                <a:latin typeface="Aptos"/>
                <a:ea typeface="Aptos"/>
                <a:cs typeface="Aptos"/>
              </a:defRPr>
            </a:pPr>
            <a:r>
              <a:rPr sz="1200" b="1">
                <a:solidFill>
                  <a:srgbClr val="101827"/>
                </a:solidFill>
                <a:latin typeface="Aptos"/>
                <a:ea typeface="Aptos"/>
                <a:cs typeface="Aptos"/>
              </a:rPr>
              <a:t>Content rights</a:t>
            </a:r>
          </a:p>
        </p:txBody>
      </p:sp>
      <p:sp>
        <p:nvSpPr>
          <p:cNvPr id="36" name="">
            <a:extLst xmlns:a="http://schemas.openxmlformats.org/drawingml/2006/main">
              <a:ext uri="{FF2B5EF4-FFF2-40B4-BE49-F238E27FC236}">
                <a16:creationId xmlns:a16="http://schemas.microsoft.com/office/drawing/2014/main" id="{554CF532-8760-4890-8C4A-BA0D94530C4D}"/>
              </a:ext>
            </a:extLst>
          </p:cNvPr>
          <p:cNvSpPr>
            <a:spLocks xmlns:a="http://schemas.openxmlformats.org/drawingml/2006/main" noGrp="1"/>
          </p:cNvSpPr>
          <p:nvPr/>
        </p:nvSpPr>
        <p:spPr>
          <a:xfrm xmlns:a="http://schemas.openxmlformats.org/drawingml/2006/main">
            <a:off x="7905750" y="35052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0">
                <a:solidFill>
                  <a:srgbClr val="626A78"/>
                </a:solidFill>
                <a:latin typeface="Aptos"/>
                <a:ea typeface="Aptos"/>
                <a:cs typeface="Aptos"/>
              </a:defRPr>
            </a:pPr>
            <a:r>
              <a:rPr sz="900" b="0">
                <a:solidFill>
                  <a:srgbClr val="626A78"/>
                </a:solidFill>
                <a:latin typeface="Aptos"/>
                <a:ea typeface="Aptos"/>
                <a:cs typeface="Aptos"/>
              </a:rPr>
              <a:t>Partner logos, photos, offers and QR placement</a:t>
            </a:r>
          </a:p>
        </p:txBody>
      </p:sp>
      <p:sp>
        <p:nvSpPr>
          <p:cNvPr id="37" name="">
            <a:extLst xmlns:a="http://schemas.openxmlformats.org/drawingml/2006/main">
              <a:ext uri="{FF2B5EF4-FFF2-40B4-BE49-F238E27FC236}">
                <a16:creationId xmlns:a16="http://schemas.microsoft.com/office/drawing/2014/main" id="{3915B2EE-701E-4234-85A8-EBE5EC4DBCF6}"/>
              </a:ext>
            </a:extLst>
          </p:cNvPr>
          <p:cNvSpPr>
            <a:spLocks xmlns:a="http://schemas.openxmlformats.org/drawingml/2006/main" noGrp="1"/>
          </p:cNvSpPr>
          <p:nvPr/>
        </p:nvSpPr>
        <p:spPr>
          <a:xfrm xmlns:a="http://schemas.openxmlformats.org/drawingml/2006/main">
            <a:off x="7562850" y="3848100"/>
            <a:ext cx="209550" cy="209550"/>
          </a:xfrm>
          <a:prstGeom xmlns:a="http://schemas.openxmlformats.org/drawingml/2006/main" prst="ellipse">
            <a:avLst/>
          </a:prstGeom>
          <a:solidFill xmlns:a="http://schemas.openxmlformats.org/drawingml/2006/main">
            <a:srgbClr val="EAF0FF"/>
          </a:solidFill>
          <a:ln xmlns:a="http://schemas.openxmlformats.org/drawingml/2006/main" w="0">
            <a:solidFill>
              <a:srgbClr val="EAF0FF"/>
            </a:solidFill>
            <a:prstDash val="solid"/>
          </a:ln>
        </p:spPr>
      </p:sp>
      <p:sp>
        <p:nvSpPr>
          <p:cNvPr id="38" name="">
            <a:extLst xmlns:a="http://schemas.openxmlformats.org/drawingml/2006/main">
              <a:ext uri="{FF2B5EF4-FFF2-40B4-BE49-F238E27FC236}">
                <a16:creationId xmlns:a16="http://schemas.microsoft.com/office/drawing/2014/main" id="{B0C74E3D-3C98-4640-A610-ABAB6213A726}"/>
              </a:ext>
            </a:extLst>
          </p:cNvPr>
          <p:cNvSpPr>
            <a:spLocks xmlns:a="http://schemas.openxmlformats.org/drawingml/2006/main" noGrp="1"/>
          </p:cNvSpPr>
          <p:nvPr/>
        </p:nvSpPr>
        <p:spPr>
          <a:xfrm xmlns:a="http://schemas.openxmlformats.org/drawingml/2006/main">
            <a:off x="7610475" y="3876675"/>
            <a:ext cx="1143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238"/>
          </a:bodyPr>
          <a:lstStyle xmlns:a="http://schemas.openxmlformats.org/drawingml/2006/main"/>
          <a:p xmlns:a="http://schemas.openxmlformats.org/drawingml/2006/main">
            <a:pPr algn="ctr">
              <a:lnSpc>
                <a:spcPct val="105000"/>
              </a:lnSpc>
              <a:buNone/>
              <a:defRPr sz="750" b="1">
                <a:solidFill>
                  <a:srgbClr val="2563EB"/>
                </a:solidFill>
                <a:latin typeface="Aptos"/>
                <a:ea typeface="Aptos"/>
                <a:cs typeface="Aptos"/>
              </a:defRPr>
            </a:pPr>
            <a:r>
              <a:rPr sz="750" b="1">
                <a:solidFill>
                  <a:srgbClr val="2563EB"/>
                </a:solidFill>
                <a:latin typeface="Aptos"/>
                <a:ea typeface="Aptos"/>
                <a:cs typeface="Aptos"/>
              </a:rPr>
              <a:t>✓</a:t>
            </a:r>
          </a:p>
        </p:txBody>
      </p:sp>
      <p:sp>
        <p:nvSpPr>
          <p:cNvPr id="39" name="">
            <a:extLst xmlns:a="http://schemas.openxmlformats.org/drawingml/2006/main">
              <a:ext uri="{FF2B5EF4-FFF2-40B4-BE49-F238E27FC236}">
                <a16:creationId xmlns:a16="http://schemas.microsoft.com/office/drawing/2014/main" id="{B1700D66-C80C-4CD9-B49E-6046AC3C1D07}"/>
              </a:ext>
            </a:extLst>
          </p:cNvPr>
          <p:cNvSpPr>
            <a:spLocks xmlns:a="http://schemas.openxmlformats.org/drawingml/2006/main" noGrp="1"/>
          </p:cNvSpPr>
          <p:nvPr/>
        </p:nvSpPr>
        <p:spPr>
          <a:xfrm xmlns:a="http://schemas.openxmlformats.org/drawingml/2006/main">
            <a:off x="7905750" y="38290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a:solidFill>
                  <a:srgbClr val="101827"/>
                </a:solidFill>
                <a:latin typeface="Aptos"/>
                <a:ea typeface="Aptos"/>
                <a:cs typeface="Aptos"/>
              </a:defRPr>
            </a:pPr>
            <a:r>
              <a:rPr sz="1200" b="1">
                <a:solidFill>
                  <a:srgbClr val="101827"/>
                </a:solidFill>
                <a:latin typeface="Aptos"/>
                <a:ea typeface="Aptos"/>
                <a:cs typeface="Aptos"/>
              </a:rPr>
              <a:t>UGC operations</a:t>
            </a:r>
          </a:p>
        </p:txBody>
      </p:sp>
      <p:sp>
        <p:nvSpPr>
          <p:cNvPr id="40" name="">
            <a:extLst xmlns:a="http://schemas.openxmlformats.org/drawingml/2006/main">
              <a:ext uri="{FF2B5EF4-FFF2-40B4-BE49-F238E27FC236}">
                <a16:creationId xmlns:a16="http://schemas.microsoft.com/office/drawing/2014/main" id="{34A70554-6317-4A5E-872F-D982AF229948}"/>
              </a:ext>
            </a:extLst>
          </p:cNvPr>
          <p:cNvSpPr>
            <a:spLocks xmlns:a="http://schemas.openxmlformats.org/drawingml/2006/main" noGrp="1"/>
          </p:cNvSpPr>
          <p:nvPr/>
        </p:nvSpPr>
        <p:spPr>
          <a:xfrm xmlns:a="http://schemas.openxmlformats.org/drawingml/2006/main">
            <a:off x="7905750" y="4048125"/>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0">
                <a:solidFill>
                  <a:srgbClr val="626A78"/>
                </a:solidFill>
                <a:latin typeface="Aptos"/>
                <a:ea typeface="Aptos"/>
                <a:cs typeface="Aptos"/>
              </a:defRPr>
            </a:pPr>
            <a:r>
              <a:rPr sz="900" b="0">
                <a:solidFill>
                  <a:srgbClr val="626A78"/>
                </a:solidFill>
                <a:latin typeface="Aptos"/>
                <a:ea typeface="Aptos"/>
                <a:cs typeface="Aptos"/>
              </a:rPr>
              <a:t>Moderation, takedowns and DMCA analysis</a:t>
            </a:r>
          </a:p>
        </p:txBody>
      </p:sp>
      <p:sp>
        <p:nvSpPr>
          <p:cNvPr id="41" name="">
            <a:extLst xmlns:a="http://schemas.openxmlformats.org/drawingml/2006/main">
              <a:ext uri="{FF2B5EF4-FFF2-40B4-BE49-F238E27FC236}">
                <a16:creationId xmlns:a16="http://schemas.microsoft.com/office/drawing/2014/main" id="{19406DC3-FEA5-473E-8F52-FFA0FBAAB38A}"/>
              </a:ext>
            </a:extLst>
          </p:cNvPr>
          <p:cNvSpPr>
            <a:spLocks xmlns:a="http://schemas.openxmlformats.org/drawingml/2006/main" noGrp="1"/>
          </p:cNvSpPr>
          <p:nvPr/>
        </p:nvSpPr>
        <p:spPr>
          <a:xfrm xmlns:a="http://schemas.openxmlformats.org/drawingml/2006/main">
            <a:off x="7562850" y="4391025"/>
            <a:ext cx="209550" cy="209550"/>
          </a:xfrm>
          <a:prstGeom xmlns:a="http://schemas.openxmlformats.org/drawingml/2006/main" prst="ellipse">
            <a:avLst/>
          </a:prstGeom>
          <a:solidFill xmlns:a="http://schemas.openxmlformats.org/drawingml/2006/main">
            <a:srgbClr val="EAF0FF"/>
          </a:solidFill>
          <a:ln xmlns:a="http://schemas.openxmlformats.org/drawingml/2006/main" w="0">
            <a:solidFill>
              <a:srgbClr val="EAF0FF"/>
            </a:solidFill>
            <a:prstDash val="solid"/>
          </a:ln>
        </p:spPr>
      </p:sp>
      <p:sp>
        <p:nvSpPr>
          <p:cNvPr id="42" name="">
            <a:extLst xmlns:a="http://schemas.openxmlformats.org/drawingml/2006/main">
              <a:ext uri="{FF2B5EF4-FFF2-40B4-BE49-F238E27FC236}">
                <a16:creationId xmlns:a16="http://schemas.microsoft.com/office/drawing/2014/main" id="{477F5A83-6354-4017-B9A0-AA890ABAAC9F}"/>
              </a:ext>
            </a:extLst>
          </p:cNvPr>
          <p:cNvSpPr>
            <a:spLocks xmlns:a="http://schemas.openxmlformats.org/drawingml/2006/main" noGrp="1"/>
          </p:cNvSpPr>
          <p:nvPr/>
        </p:nvSpPr>
        <p:spPr>
          <a:xfrm xmlns:a="http://schemas.openxmlformats.org/drawingml/2006/main">
            <a:off x="7610475" y="4419600"/>
            <a:ext cx="1143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238"/>
          </a:bodyPr>
          <a:lstStyle xmlns:a="http://schemas.openxmlformats.org/drawingml/2006/main"/>
          <a:p xmlns:a="http://schemas.openxmlformats.org/drawingml/2006/main">
            <a:pPr algn="ctr">
              <a:lnSpc>
                <a:spcPct val="105000"/>
              </a:lnSpc>
              <a:buNone/>
              <a:defRPr sz="750" b="1">
                <a:solidFill>
                  <a:srgbClr val="2563EB"/>
                </a:solidFill>
                <a:latin typeface="Aptos"/>
                <a:ea typeface="Aptos"/>
                <a:cs typeface="Aptos"/>
              </a:defRPr>
            </a:pPr>
            <a:r>
              <a:rPr sz="750" b="1">
                <a:solidFill>
                  <a:srgbClr val="2563EB"/>
                </a:solidFill>
                <a:latin typeface="Aptos"/>
                <a:ea typeface="Aptos"/>
                <a:cs typeface="Aptos"/>
              </a:rPr>
              <a:t>✓</a:t>
            </a:r>
          </a:p>
        </p:txBody>
      </p:sp>
      <p:sp>
        <p:nvSpPr>
          <p:cNvPr id="43" name="">
            <a:extLst xmlns:a="http://schemas.openxmlformats.org/drawingml/2006/main">
              <a:ext uri="{FF2B5EF4-FFF2-40B4-BE49-F238E27FC236}">
                <a16:creationId xmlns:a16="http://schemas.microsoft.com/office/drawing/2014/main" id="{EA30964C-FD3F-46B8-97E8-28632A387341}"/>
              </a:ext>
            </a:extLst>
          </p:cNvPr>
          <p:cNvSpPr>
            <a:spLocks xmlns:a="http://schemas.openxmlformats.org/drawingml/2006/main" noGrp="1"/>
          </p:cNvSpPr>
          <p:nvPr/>
        </p:nvSpPr>
        <p:spPr>
          <a:xfrm xmlns:a="http://schemas.openxmlformats.org/drawingml/2006/main">
            <a:off x="7905750" y="4371975"/>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a:solidFill>
                  <a:srgbClr val="101827"/>
                </a:solidFill>
                <a:latin typeface="Aptos"/>
                <a:ea typeface="Aptos"/>
                <a:cs typeface="Aptos"/>
              </a:defRPr>
            </a:pPr>
            <a:r>
              <a:rPr sz="1200" b="1">
                <a:solidFill>
                  <a:srgbClr val="101827"/>
                </a:solidFill>
                <a:latin typeface="Aptos"/>
                <a:ea typeface="Aptos"/>
                <a:cs typeface="Aptos"/>
              </a:rPr>
              <a:t>Accessibility</a:t>
            </a:r>
          </a:p>
        </p:txBody>
      </p:sp>
      <p:sp>
        <p:nvSpPr>
          <p:cNvPr id="44" name="">
            <a:extLst xmlns:a="http://schemas.openxmlformats.org/drawingml/2006/main">
              <a:ext uri="{FF2B5EF4-FFF2-40B4-BE49-F238E27FC236}">
                <a16:creationId xmlns:a16="http://schemas.microsoft.com/office/drawing/2014/main" id="{4C425366-DD7F-4D8B-9B50-327658391F38}"/>
              </a:ext>
            </a:extLst>
          </p:cNvPr>
          <p:cNvSpPr>
            <a:spLocks xmlns:a="http://schemas.openxmlformats.org/drawingml/2006/main" noGrp="1"/>
          </p:cNvSpPr>
          <p:nvPr/>
        </p:nvSpPr>
        <p:spPr>
          <a:xfrm xmlns:a="http://schemas.openxmlformats.org/drawingml/2006/main">
            <a:off x="7905750" y="459105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0">
                <a:solidFill>
                  <a:srgbClr val="626A78"/>
                </a:solidFill>
                <a:latin typeface="Aptos"/>
                <a:ea typeface="Aptos"/>
                <a:cs typeface="Aptos"/>
              </a:defRPr>
            </a:pPr>
            <a:r>
              <a:rPr sz="900" b="0">
                <a:solidFill>
                  <a:srgbClr val="626A78"/>
                </a:solidFill>
                <a:latin typeface="Aptos"/>
                <a:ea typeface="Aptos"/>
                <a:cs typeface="Aptos"/>
              </a:rPr>
              <a:t>Keyboard, screen reader, contrast and reduced motion</a:t>
            </a:r>
          </a:p>
        </p:txBody>
      </p:sp>
      <p:sp>
        <p:nvSpPr>
          <p:cNvPr id="45" name="">
            <a:extLst xmlns:a="http://schemas.openxmlformats.org/drawingml/2006/main">
              <a:ext uri="{FF2B5EF4-FFF2-40B4-BE49-F238E27FC236}">
                <a16:creationId xmlns:a16="http://schemas.microsoft.com/office/drawing/2014/main" id="{A9A45D95-E603-4F0F-BB6F-6A2A3F4EFABD}"/>
              </a:ext>
            </a:extLst>
          </p:cNvPr>
          <p:cNvSpPr>
            <a:spLocks xmlns:a="http://schemas.openxmlformats.org/drawingml/2006/main" noGrp="1"/>
          </p:cNvSpPr>
          <p:nvPr/>
        </p:nvSpPr>
        <p:spPr>
          <a:xfrm xmlns:a="http://schemas.openxmlformats.org/drawingml/2006/main">
            <a:off x="7562850" y="4933950"/>
            <a:ext cx="209550" cy="209550"/>
          </a:xfrm>
          <a:prstGeom xmlns:a="http://schemas.openxmlformats.org/drawingml/2006/main" prst="ellipse">
            <a:avLst/>
          </a:prstGeom>
          <a:solidFill xmlns:a="http://schemas.openxmlformats.org/drawingml/2006/main">
            <a:srgbClr val="EAF0FF"/>
          </a:solidFill>
          <a:ln xmlns:a="http://schemas.openxmlformats.org/drawingml/2006/main" w="0">
            <a:solidFill>
              <a:srgbClr val="EAF0FF"/>
            </a:solidFill>
            <a:prstDash val="solid"/>
          </a:ln>
        </p:spPr>
      </p:sp>
      <p:sp>
        <p:nvSpPr>
          <p:cNvPr id="46" name="">
            <a:extLst xmlns:a="http://schemas.openxmlformats.org/drawingml/2006/main">
              <a:ext uri="{FF2B5EF4-FFF2-40B4-BE49-F238E27FC236}">
                <a16:creationId xmlns:a16="http://schemas.microsoft.com/office/drawing/2014/main" id="{2155176D-8A65-45A8-A299-01645885ADA5}"/>
              </a:ext>
            </a:extLst>
          </p:cNvPr>
          <p:cNvSpPr>
            <a:spLocks xmlns:a="http://schemas.openxmlformats.org/drawingml/2006/main" noGrp="1"/>
          </p:cNvSpPr>
          <p:nvPr/>
        </p:nvSpPr>
        <p:spPr>
          <a:xfrm xmlns:a="http://schemas.openxmlformats.org/drawingml/2006/main">
            <a:off x="7610475" y="4962525"/>
            <a:ext cx="1143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238"/>
          </a:bodyPr>
          <a:lstStyle xmlns:a="http://schemas.openxmlformats.org/drawingml/2006/main"/>
          <a:p xmlns:a="http://schemas.openxmlformats.org/drawingml/2006/main">
            <a:pPr algn="ctr">
              <a:lnSpc>
                <a:spcPct val="105000"/>
              </a:lnSpc>
              <a:buNone/>
              <a:defRPr sz="750" b="1">
                <a:solidFill>
                  <a:srgbClr val="2563EB"/>
                </a:solidFill>
                <a:latin typeface="Aptos"/>
                <a:ea typeface="Aptos"/>
                <a:cs typeface="Aptos"/>
              </a:defRPr>
            </a:pPr>
            <a:r>
              <a:rPr sz="750" b="1">
                <a:solidFill>
                  <a:srgbClr val="2563EB"/>
                </a:solidFill>
                <a:latin typeface="Aptos"/>
                <a:ea typeface="Aptos"/>
                <a:cs typeface="Aptos"/>
              </a:rPr>
              <a:t>✓</a:t>
            </a:r>
          </a:p>
        </p:txBody>
      </p:sp>
      <p:sp>
        <p:nvSpPr>
          <p:cNvPr id="47" name="">
            <a:extLst xmlns:a="http://schemas.openxmlformats.org/drawingml/2006/main">
              <a:ext uri="{FF2B5EF4-FFF2-40B4-BE49-F238E27FC236}">
                <a16:creationId xmlns:a16="http://schemas.microsoft.com/office/drawing/2014/main" id="{B692BA64-EA4D-4111-86F8-C3AD819BE373}"/>
              </a:ext>
            </a:extLst>
          </p:cNvPr>
          <p:cNvSpPr>
            <a:spLocks xmlns:a="http://schemas.openxmlformats.org/drawingml/2006/main" noGrp="1"/>
          </p:cNvSpPr>
          <p:nvPr/>
        </p:nvSpPr>
        <p:spPr>
          <a:xfrm xmlns:a="http://schemas.openxmlformats.org/drawingml/2006/main">
            <a:off x="7905750" y="491490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a:solidFill>
                  <a:srgbClr val="101827"/>
                </a:solidFill>
                <a:latin typeface="Aptos"/>
                <a:ea typeface="Aptos"/>
                <a:cs typeface="Aptos"/>
              </a:defRPr>
            </a:pPr>
            <a:r>
              <a:rPr sz="1200" b="1">
                <a:solidFill>
                  <a:srgbClr val="101827"/>
                </a:solidFill>
                <a:latin typeface="Aptos"/>
                <a:ea typeface="Aptos"/>
                <a:cs typeface="Aptos"/>
              </a:rPr>
              <a:t>Incident readiness</a:t>
            </a:r>
          </a:p>
        </p:txBody>
      </p:sp>
      <p:sp>
        <p:nvSpPr>
          <p:cNvPr id="48" name="">
            <a:extLst xmlns:a="http://schemas.openxmlformats.org/drawingml/2006/main">
              <a:ext uri="{FF2B5EF4-FFF2-40B4-BE49-F238E27FC236}">
                <a16:creationId xmlns:a16="http://schemas.microsoft.com/office/drawing/2014/main" id="{14D71258-7094-4287-932F-50160EC22DAB}"/>
              </a:ext>
            </a:extLst>
          </p:cNvPr>
          <p:cNvSpPr>
            <a:spLocks xmlns:a="http://schemas.openxmlformats.org/drawingml/2006/main" noGrp="1"/>
          </p:cNvSpPr>
          <p:nvPr/>
        </p:nvSpPr>
        <p:spPr>
          <a:xfrm xmlns:a="http://schemas.openxmlformats.org/drawingml/2006/main">
            <a:off x="7905750" y="5133975"/>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0">
                <a:solidFill>
                  <a:srgbClr val="626A78"/>
                </a:solidFill>
                <a:latin typeface="Aptos"/>
                <a:ea typeface="Aptos"/>
                <a:cs typeface="Aptos"/>
              </a:defRPr>
            </a:pPr>
            <a:r>
              <a:rPr sz="900" b="0">
                <a:solidFill>
                  <a:srgbClr val="626A78"/>
                </a:solidFill>
                <a:latin typeface="Aptos"/>
                <a:ea typeface="Aptos"/>
                <a:cs typeface="Aptos"/>
              </a:rPr>
              <a:t>Processors, access review and breach owner</a:t>
            </a:r>
          </a:p>
        </p:txBody>
      </p:sp>
      <p:sp>
        <p:nvSpPr>
          <p:cNvPr id="49" name="">
            <a:extLst xmlns:a="http://schemas.openxmlformats.org/drawingml/2006/main">
              <a:ext uri="{FF2B5EF4-FFF2-40B4-BE49-F238E27FC236}">
                <a16:creationId xmlns:a16="http://schemas.microsoft.com/office/drawing/2014/main" id="{3F109764-186E-45FE-AF49-4E2DA1091108}"/>
              </a:ext>
            </a:extLst>
          </p:cNvPr>
          <p:cNvSpPr>
            <a:spLocks xmlns:a="http://schemas.openxmlformats.org/drawingml/2006/main" noGrp="1"/>
          </p:cNvSpPr>
          <p:nvPr/>
        </p:nvSpPr>
        <p:spPr>
          <a:xfrm xmlns:a="http://schemas.openxmlformats.org/drawingml/2006/main">
            <a:off x="552450" y="5953125"/>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75" b="0">
                <a:solidFill>
                  <a:srgbClr val="795B20"/>
                </a:solidFill>
                <a:latin typeface="Aptos"/>
                <a:ea typeface="Aptos"/>
                <a:cs typeface="Aptos"/>
              </a:defRPr>
            </a:pPr>
            <a:r>
              <a:rPr sz="975" b="0">
                <a:solidFill>
                  <a:srgbClr val="795B20"/>
                </a:solidFill>
                <a:latin typeface="Aptos"/>
                <a:ea typeface="Aptos"/>
                <a:cs typeface="Aptos"/>
              </a:rPr>
              <a:t>Operating recommendation only—not legal or tax advice. Confirm with Florida startup counsel and a CPA.</a:t>
            </a:r>
          </a:p>
        </p:txBody>
      </p:sp>
    </p:spTree>
    <p:extLst>
      <p:ext uri="{BB962C8B-B14F-4D97-AF65-F5344CB8AC3E}">
        <p14:creationId xmlns:p14="http://schemas.microsoft.com/office/powerpoint/2010/main" val="548575219"/>
      </p:ext>
    </p:extLst>
  </p:cSld>
</p:sld>
</file>

<file path=ppt/slides/slide11.xml><?xml version="1.0" encoding="utf-8"?>
<p:sld xmlns:p="http://schemas.openxmlformats.org/presentationml/2006/main">
  <p:cSld>
    <p:bg>
      <p:bgPr>
        <a:solidFill xmlns:a="http://schemas.openxmlformats.org/drawingml/2006/main">
          <a:srgbClr val="0D1321"/>
        </a:solidFill>
      </p:bgPr>
    </p:bg>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12F54AF5-7416-42DF-AA22-D9758CA9CC75}"/>
              </a:ext>
            </a:extLst>
          </p:cNvPr>
          <p:cNvSpPr>
            <a:spLocks xmlns:a="http://schemas.openxmlformats.org/drawingml/2006/main" noGrp="1"/>
          </p:cNvSpPr>
          <p:nvPr/>
        </p:nvSpPr>
        <p:spPr>
          <a:xfrm xmlns:a="http://schemas.openxmlformats.org/drawingml/2006/main">
            <a:off x="552450" y="419100"/>
            <a:ext cx="514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a:solidFill>
                  <a:srgbClr val="F2B94B"/>
                </a:solidFill>
                <a:latin typeface="Aptos"/>
                <a:ea typeface="Aptos"/>
                <a:cs typeface="Aptos"/>
              </a:defRPr>
            </a:pPr>
            <a:r>
              <a:rPr sz="900" b="1">
                <a:solidFill>
                  <a:srgbClr val="F2B94B"/>
                </a:solidFill>
                <a:latin typeface="Aptos"/>
                <a:ea typeface="Aptos"/>
                <a:cs typeface="Aptos"/>
              </a:rPr>
              <a:t>11</a:t>
            </a:r>
          </a:p>
        </p:txBody>
      </p:sp>
      <p:sp>
        <p:nvSpPr>
          <p:cNvPr id="2" name="">
            <a:extLst xmlns:a="http://schemas.openxmlformats.org/drawingml/2006/main">
              <a:ext uri="{FF2B5EF4-FFF2-40B4-BE49-F238E27FC236}">
                <a16:creationId xmlns:a16="http://schemas.microsoft.com/office/drawing/2014/main" id="{A76772CC-4044-45F8-9654-C28376584B4D}"/>
              </a:ext>
            </a:extLst>
          </p:cNvPr>
          <p:cNvSpPr>
            <a:spLocks xmlns:a="http://schemas.openxmlformats.org/drawingml/2006/main" noGrp="1"/>
          </p:cNvSpPr>
          <p:nvPr/>
        </p:nvSpPr>
        <p:spPr>
          <a:xfrm xmlns:a="http://schemas.openxmlformats.org/drawingml/2006/main">
            <a:off x="1104900" y="542925"/>
            <a:ext cx="476250" cy="0"/>
          </a:xfrm>
          <a:prstGeom xmlns:a="http://schemas.openxmlformats.org/drawingml/2006/main" prst="line">
            <a:avLst/>
          </a:prstGeom>
          <a:noFill xmlns:a="http://schemas.openxmlformats.org/drawingml/2006/main"/>
          <a:ln xmlns:a="http://schemas.openxmlformats.org/drawingml/2006/main" w="9525">
            <a:solidFill>
              <a:srgbClr val="425066"/>
            </a:solidFill>
            <a:prstDash val="solid"/>
          </a:ln>
        </p:spPr>
      </p:sp>
      <p:sp>
        <p:nvSpPr>
          <p:cNvPr id="3" name="">
            <a:extLst xmlns:a="http://schemas.openxmlformats.org/drawingml/2006/main">
              <a:ext uri="{FF2B5EF4-FFF2-40B4-BE49-F238E27FC236}">
                <a16:creationId xmlns:a16="http://schemas.microsoft.com/office/drawing/2014/main" id="{139D8A2D-4400-48EA-A445-B6A203EE5C61}"/>
              </a:ext>
            </a:extLst>
          </p:cNvPr>
          <p:cNvSpPr>
            <a:spLocks xmlns:a="http://schemas.openxmlformats.org/drawingml/2006/main" noGrp="1"/>
          </p:cNvSpPr>
          <p:nvPr/>
        </p:nvSpPr>
        <p:spPr>
          <a:xfrm xmlns:a="http://schemas.openxmlformats.org/drawingml/2006/main">
            <a:off x="1733550" y="323850"/>
            <a:ext cx="704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375" b="1">
                <a:solidFill>
                  <a:srgbClr val="FFFFFF"/>
                </a:solidFill>
                <a:latin typeface="Aptos Display"/>
                <a:ea typeface="Aptos Display"/>
                <a:cs typeface="Aptos Display"/>
              </a:defRPr>
            </a:pPr>
            <a:r>
              <a:rPr sz="3375" b="1">
                <a:solidFill>
                  <a:srgbClr val="FFFFFF"/>
                </a:solidFill>
                <a:latin typeface="Aptos Display"/>
                <a:ea typeface="Aptos Display"/>
                <a:cs typeface="Aptos Display"/>
              </a:rPr>
              <a:t>90 days to credible evidence</a:t>
            </a:r>
          </a:p>
        </p:txBody>
      </p:sp>
      <p:sp>
        <p:nvSpPr>
          <p:cNvPr id="4" name="">
            <a:extLst xmlns:a="http://schemas.openxmlformats.org/drawingml/2006/main">
              <a:ext uri="{FF2B5EF4-FFF2-40B4-BE49-F238E27FC236}">
                <a16:creationId xmlns:a16="http://schemas.microsoft.com/office/drawing/2014/main" id="{6993685D-B62F-48E2-96E5-F9E22784D945}"/>
              </a:ext>
            </a:extLst>
          </p:cNvPr>
          <p:cNvSpPr>
            <a:spLocks xmlns:a="http://schemas.openxmlformats.org/drawingml/2006/main" noGrp="1"/>
          </p:cNvSpPr>
          <p:nvPr/>
        </p:nvSpPr>
        <p:spPr>
          <a:xfrm xmlns:a="http://schemas.openxmlformats.org/drawingml/2006/main">
            <a:off x="1752600" y="866775"/>
            <a:ext cx="7715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0">
                <a:solidFill>
                  <a:srgbClr val="AEB7C6"/>
                </a:solidFill>
                <a:latin typeface="Aptos"/>
                <a:ea typeface="Aptos"/>
                <a:cs typeface="Aptos"/>
              </a:defRPr>
            </a:pPr>
            <a:r>
              <a:rPr sz="1350" b="0">
                <a:solidFill>
                  <a:srgbClr val="AEB7C6"/>
                </a:solidFill>
                <a:latin typeface="Aptos"/>
                <a:ea typeface="Aptos"/>
                <a:cs typeface="Aptos"/>
              </a:rPr>
              <a:t>Three gates convert the current alpha into a measured closed pilot.</a:t>
            </a:r>
          </a:p>
        </p:txBody>
      </p:sp>
      <p:sp>
        <p:nvSpPr>
          <p:cNvPr id="5" name="">
            <a:extLst xmlns:a="http://schemas.openxmlformats.org/drawingml/2006/main">
              <a:ext uri="{FF2B5EF4-FFF2-40B4-BE49-F238E27FC236}">
                <a16:creationId xmlns:a16="http://schemas.microsoft.com/office/drawing/2014/main" id="{BDECFEFD-BA91-4CFE-BD87-2BC823D3B7DF}"/>
              </a:ext>
            </a:extLst>
          </p:cNvPr>
          <p:cNvSpPr>
            <a:spLocks xmlns:a="http://schemas.openxmlformats.org/drawingml/2006/main" noGrp="1"/>
          </p:cNvSpPr>
          <p:nvPr/>
        </p:nvSpPr>
        <p:spPr>
          <a:xfrm xmlns:a="http://schemas.openxmlformats.org/drawingml/2006/main">
            <a:off x="11210925" y="381000"/>
            <a:ext cx="275082" cy="325755"/>
          </a:xfrm>
          <a:prstGeom xmlns:a="http://schemas.openxmlformats.org/drawingml/2006/main" prst="roundRect">
            <a:avLst>
              <a:gd name="adj" fmla="val 47368"/>
            </a:avLst>
          </a:prstGeom>
          <a:noFill xmlns:a="http://schemas.openxmlformats.org/drawingml/2006/main"/>
          <a:ln xmlns:a="http://schemas.openxmlformats.org/drawingml/2006/main" w="28956">
            <a:solidFill>
              <a:srgbClr val="FFFFFF"/>
            </a:solidFill>
            <a:prstDash val="solid"/>
          </a:ln>
        </p:spPr>
      </p:sp>
      <p:sp>
        <p:nvSpPr>
          <p:cNvPr id="6" name="">
            <a:extLst xmlns:a="http://schemas.openxmlformats.org/drawingml/2006/main">
              <a:ext uri="{FF2B5EF4-FFF2-40B4-BE49-F238E27FC236}">
                <a16:creationId xmlns:a16="http://schemas.microsoft.com/office/drawing/2014/main" id="{BC1BBB40-5473-410D-918A-71E20B53702B}"/>
              </a:ext>
            </a:extLst>
          </p:cNvPr>
          <p:cNvSpPr>
            <a:spLocks xmlns:a="http://schemas.openxmlformats.org/drawingml/2006/main" noGrp="1"/>
          </p:cNvSpPr>
          <p:nvPr/>
        </p:nvSpPr>
        <p:spPr>
          <a:xfrm xmlns:a="http://schemas.openxmlformats.org/drawingml/2006/main">
            <a:off x="11247120" y="598170"/>
            <a:ext cx="202692" cy="130302"/>
          </a:xfrm>
          <a:prstGeom xmlns:a="http://schemas.openxmlformats.org/drawingml/2006/main" prst="triangle">
            <a:avLst/>
          </a:prstGeom>
          <a:solidFill xmlns:a="http://schemas.openxmlformats.org/drawingml/2006/main">
            <a:srgbClr val="FFFFFF"/>
          </a:solidFill>
          <a:ln xmlns:a="http://schemas.openxmlformats.org/drawingml/2006/main" w="0">
            <a:solidFill>
              <a:srgbClr val="FFFFFF"/>
            </a:solidFill>
            <a:prstDash val="solid"/>
          </a:ln>
        </p:spPr>
      </p:sp>
      <p:sp>
        <p:nvSpPr>
          <p:cNvPr id="7" name="">
            <a:extLst xmlns:a="http://schemas.openxmlformats.org/drawingml/2006/main">
              <a:ext uri="{FF2B5EF4-FFF2-40B4-BE49-F238E27FC236}">
                <a16:creationId xmlns:a16="http://schemas.microsoft.com/office/drawing/2014/main" id="{7AE145D0-4026-4152-843F-1722A6E36F8F}"/>
              </a:ext>
            </a:extLst>
          </p:cNvPr>
          <p:cNvSpPr>
            <a:spLocks xmlns:a="http://schemas.openxmlformats.org/drawingml/2006/main" noGrp="1"/>
          </p:cNvSpPr>
          <p:nvPr/>
        </p:nvSpPr>
        <p:spPr>
          <a:xfrm xmlns:a="http://schemas.openxmlformats.org/drawingml/2006/main">
            <a:off x="11290554" y="424434"/>
            <a:ext cx="115824" cy="1158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627" b="1">
                <a:solidFill>
                  <a:srgbClr val="FFFFFF"/>
                </a:solidFill>
                <a:latin typeface="Aptos"/>
                <a:ea typeface="Aptos"/>
                <a:cs typeface="Aptos"/>
              </a:defRPr>
            </a:pPr>
            <a:r>
              <a:rPr sz="627" b="1">
                <a:solidFill>
                  <a:srgbClr val="FFFFFF"/>
                </a:solidFill>
                <a:latin typeface="Aptos"/>
                <a:ea typeface="Aptos"/>
                <a:cs typeface="Aptos"/>
              </a:rPr>
              <a:t>✦</a:t>
            </a:r>
          </a:p>
        </p:txBody>
      </p:sp>
      <p:sp>
        <p:nvSpPr>
          <p:cNvPr id="8" name="">
            <a:extLst xmlns:a="http://schemas.openxmlformats.org/drawingml/2006/main">
              <a:ext uri="{FF2B5EF4-FFF2-40B4-BE49-F238E27FC236}">
                <a16:creationId xmlns:a16="http://schemas.microsoft.com/office/drawing/2014/main" id="{7ED1A682-35E1-4EB4-9207-0C60B64D34C4}"/>
              </a:ext>
            </a:extLst>
          </p:cNvPr>
          <p:cNvSpPr>
            <a:spLocks xmlns:a="http://schemas.openxmlformats.org/drawingml/2006/main" noGrp="1"/>
          </p:cNvSpPr>
          <p:nvPr/>
        </p:nvSpPr>
        <p:spPr>
          <a:xfrm xmlns:a="http://schemas.openxmlformats.org/drawingml/2006/main">
            <a:off x="10144125" y="828675"/>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200" b="1">
                <a:solidFill>
                  <a:srgbClr val="FFFFFF"/>
                </a:solidFill>
                <a:latin typeface="Aptos"/>
                <a:ea typeface="Aptos"/>
                <a:cs typeface="Aptos"/>
              </a:defRPr>
            </a:pPr>
            <a:r>
              <a:rPr sz="1200" b="1">
                <a:solidFill>
                  <a:srgbClr val="FFFFFF"/>
                </a:solidFill>
                <a:latin typeface="Aptos"/>
                <a:ea typeface="Aptos"/>
                <a:cs typeface="Aptos"/>
              </a:rPr>
              <a:t>sidequests</a:t>
            </a:r>
          </a:p>
        </p:txBody>
      </p:sp>
      <p:sp>
        <p:nvSpPr>
          <p:cNvPr id="9" name="">
            <a:extLst xmlns:a="http://schemas.openxmlformats.org/drawingml/2006/main">
              <a:ext uri="{FF2B5EF4-FFF2-40B4-BE49-F238E27FC236}">
                <a16:creationId xmlns:a16="http://schemas.microsoft.com/office/drawing/2014/main" id="{8A1F57FA-271C-4D53-9EE0-93E3B8F1BC81}"/>
              </a:ext>
            </a:extLst>
          </p:cNvPr>
          <p:cNvSpPr>
            <a:spLocks xmlns:a="http://schemas.openxmlformats.org/drawingml/2006/main" noGrp="1"/>
          </p:cNvSpPr>
          <p:nvPr/>
        </p:nvSpPr>
        <p:spPr>
          <a:xfrm xmlns:a="http://schemas.openxmlformats.org/drawingml/2006/main">
            <a:off x="552450" y="6543675"/>
            <a:ext cx="4000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675" b="0">
                <a:solidFill>
                  <a:srgbClr val="647083"/>
                </a:solidFill>
                <a:latin typeface="Aptos"/>
                <a:ea typeface="Aptos"/>
                <a:cs typeface="Aptos"/>
              </a:defRPr>
            </a:pPr>
            <a:r>
              <a:rPr sz="675" b="0">
                <a:solidFill>
                  <a:srgbClr val="647083"/>
                </a:solidFill>
                <a:latin typeface="Aptos"/>
                <a:ea typeface="Aptos"/>
                <a:cs typeface="Aptos"/>
              </a:rPr>
              <a:t>Development &amp; launch readiness · 12 Aug 2026</a:t>
            </a:r>
          </a:p>
        </p:txBody>
      </p:sp>
      <p:sp>
        <p:nvSpPr>
          <p:cNvPr id="10" name="">
            <a:extLst xmlns:a="http://schemas.openxmlformats.org/drawingml/2006/main">
              <a:ext uri="{FF2B5EF4-FFF2-40B4-BE49-F238E27FC236}">
                <a16:creationId xmlns:a16="http://schemas.microsoft.com/office/drawing/2014/main" id="{70D898E0-527D-4750-B9FD-B334F84B5D77}"/>
              </a:ext>
            </a:extLst>
          </p:cNvPr>
          <p:cNvSpPr>
            <a:spLocks xmlns:a="http://schemas.openxmlformats.org/drawingml/2006/main" noGrp="1"/>
          </p:cNvSpPr>
          <p:nvPr/>
        </p:nvSpPr>
        <p:spPr>
          <a:xfrm xmlns:a="http://schemas.openxmlformats.org/drawingml/2006/main">
            <a:off x="11239500" y="6543675"/>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675" b="0">
                <a:solidFill>
                  <a:srgbClr val="647083"/>
                </a:solidFill>
                <a:latin typeface="Aptos"/>
                <a:ea typeface="Aptos"/>
                <a:cs typeface="Aptos"/>
              </a:defRPr>
            </a:pPr>
            <a:r>
              <a:rPr sz="675" b="0">
                <a:solidFill>
                  <a:srgbClr val="647083"/>
                </a:solidFill>
                <a:latin typeface="Aptos"/>
                <a:ea typeface="Aptos"/>
                <a:cs typeface="Aptos"/>
              </a:rPr>
              <a:t>11</a:t>
            </a:r>
          </a:p>
        </p:txBody>
      </p:sp>
      <p:sp>
        <p:nvSpPr>
          <p:cNvPr id="11" name="">
            <a:extLst xmlns:a="http://schemas.openxmlformats.org/drawingml/2006/main">
              <a:ext uri="{FF2B5EF4-FFF2-40B4-BE49-F238E27FC236}">
                <a16:creationId xmlns:a16="http://schemas.microsoft.com/office/drawing/2014/main" id="{C6F5802D-14E9-4AA5-A447-CEBD275F50AC}"/>
              </a:ext>
            </a:extLst>
          </p:cNvPr>
          <p:cNvSpPr>
            <a:spLocks xmlns:a="http://schemas.openxmlformats.org/drawingml/2006/main" noGrp="1"/>
          </p:cNvSpPr>
          <p:nvPr/>
        </p:nvSpPr>
        <p:spPr>
          <a:xfrm xmlns:a="http://schemas.openxmlformats.org/drawingml/2006/main">
            <a:off x="552450" y="1619250"/>
            <a:ext cx="3429000" cy="4305300"/>
          </a:xfrm>
          <a:prstGeom xmlns:a="http://schemas.openxmlformats.org/drawingml/2006/main" prst="roundRect">
            <a:avLst>
              <a:gd name="adj" fmla="val 6111"/>
            </a:avLst>
          </a:prstGeom>
          <a:solidFill xmlns:a="http://schemas.openxmlformats.org/drawingml/2006/main">
            <a:srgbClr val="151F30"/>
          </a:solidFill>
          <a:ln xmlns:a="http://schemas.openxmlformats.org/drawingml/2006/main" w="9525">
            <a:solidFill>
              <a:srgbClr val="2A374A"/>
            </a:solidFill>
            <a:prstDash val="solid"/>
          </a:ln>
        </p:spPr>
      </p:sp>
      <p:sp>
        <p:nvSpPr>
          <p:cNvPr id="12" name="">
            <a:extLst xmlns:a="http://schemas.openxmlformats.org/drawingml/2006/main">
              <a:ext uri="{FF2B5EF4-FFF2-40B4-BE49-F238E27FC236}">
                <a16:creationId xmlns:a16="http://schemas.microsoft.com/office/drawing/2014/main" id="{245FF159-FC6F-476C-BF0D-290B2FACEEEB}"/>
              </a:ext>
            </a:extLst>
          </p:cNvPr>
          <p:cNvSpPr>
            <a:spLocks xmlns:a="http://schemas.openxmlformats.org/drawingml/2006/main" noGrp="1"/>
          </p:cNvSpPr>
          <p:nvPr/>
        </p:nvSpPr>
        <p:spPr>
          <a:xfrm xmlns:a="http://schemas.openxmlformats.org/drawingml/2006/main">
            <a:off x="552450" y="1619250"/>
            <a:ext cx="66675" cy="4305300"/>
          </a:xfrm>
          <a:prstGeom xmlns:a="http://schemas.openxmlformats.org/drawingml/2006/main" prst="rect">
            <a:avLst/>
          </a:prstGeom>
          <a:solidFill xmlns:a="http://schemas.openxmlformats.org/drawingml/2006/main">
            <a:srgbClr val="FF6F61"/>
          </a:solidFill>
          <a:ln xmlns:a="http://schemas.openxmlformats.org/drawingml/2006/main" w="0">
            <a:solidFill>
              <a:srgbClr val="FF6F61"/>
            </a:solidFill>
            <a:prstDash val="solid"/>
          </a:ln>
        </p:spPr>
      </p:sp>
      <p:sp>
        <p:nvSpPr>
          <p:cNvPr id="13" name="">
            <a:extLst xmlns:a="http://schemas.openxmlformats.org/drawingml/2006/main">
              <a:ext uri="{FF2B5EF4-FFF2-40B4-BE49-F238E27FC236}">
                <a16:creationId xmlns:a16="http://schemas.microsoft.com/office/drawing/2014/main" id="{5E55A21D-B070-427E-B302-ECB2A88F1512}"/>
              </a:ext>
            </a:extLst>
          </p:cNvPr>
          <p:cNvSpPr>
            <a:spLocks xmlns:a="http://schemas.openxmlformats.org/drawingml/2006/main" noGrp="1"/>
          </p:cNvSpPr>
          <p:nvPr/>
        </p:nvSpPr>
        <p:spPr>
          <a:xfrm xmlns:a="http://schemas.openxmlformats.org/drawingml/2006/main">
            <a:off x="3124200" y="1809750"/>
            <a:ext cx="5905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3900" b="1">
                <a:solidFill>
                  <a:srgbClr val="253146"/>
                </a:solidFill>
                <a:latin typeface="Aptos Display"/>
                <a:ea typeface="Aptos Display"/>
                <a:cs typeface="Aptos Display"/>
              </a:defRPr>
            </a:pPr>
            <a:r>
              <a:rPr sz="3900" b="1">
                <a:solidFill>
                  <a:srgbClr val="253146"/>
                </a:solidFill>
                <a:latin typeface="Aptos Display"/>
                <a:ea typeface="Aptos Display"/>
                <a:cs typeface="Aptos Display"/>
              </a:rPr>
              <a:t>01</a:t>
            </a:r>
          </a:p>
        </p:txBody>
      </p:sp>
      <p:sp>
        <p:nvSpPr>
          <p:cNvPr id="14" name="">
            <a:extLst xmlns:a="http://schemas.openxmlformats.org/drawingml/2006/main">
              <a:ext uri="{FF2B5EF4-FFF2-40B4-BE49-F238E27FC236}">
                <a16:creationId xmlns:a16="http://schemas.microsoft.com/office/drawing/2014/main" id="{EEA3581F-E40D-43EA-BF7A-5A11F9AC2E96}"/>
              </a:ext>
            </a:extLst>
          </p:cNvPr>
          <p:cNvSpPr>
            <a:spLocks xmlns:a="http://schemas.openxmlformats.org/drawingml/2006/main" noGrp="1"/>
          </p:cNvSpPr>
          <p:nvPr/>
        </p:nvSpPr>
        <p:spPr>
          <a:xfrm xmlns:a="http://schemas.openxmlformats.org/drawingml/2006/main">
            <a:off x="819150" y="1895475"/>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FF6F61"/>
                </a:solidFill>
                <a:latin typeface="Aptos"/>
                <a:ea typeface="Aptos"/>
                <a:cs typeface="Aptos"/>
              </a:defRPr>
            </a:pPr>
            <a:r>
              <a:rPr sz="825" b="1">
                <a:solidFill>
                  <a:srgbClr val="FF6F61"/>
                </a:solidFill>
                <a:latin typeface="Aptos"/>
                <a:ea typeface="Aptos"/>
                <a:cs typeface="Aptos"/>
              </a:rPr>
              <a:t>DAYS 0–14</a:t>
            </a:r>
          </a:p>
        </p:txBody>
      </p:sp>
      <p:sp>
        <p:nvSpPr>
          <p:cNvPr id="15" name="">
            <a:extLst xmlns:a="http://schemas.openxmlformats.org/drawingml/2006/main">
              <a:ext uri="{FF2B5EF4-FFF2-40B4-BE49-F238E27FC236}">
                <a16:creationId xmlns:a16="http://schemas.microsoft.com/office/drawing/2014/main" id="{315B4E2B-A7AA-4950-ADE6-5EFFD0EA50C5}"/>
              </a:ext>
            </a:extLst>
          </p:cNvPr>
          <p:cNvSpPr>
            <a:spLocks xmlns:a="http://schemas.openxmlformats.org/drawingml/2006/main" noGrp="1"/>
          </p:cNvSpPr>
          <p:nvPr/>
        </p:nvSpPr>
        <p:spPr>
          <a:xfrm xmlns:a="http://schemas.openxmlformats.org/drawingml/2006/main">
            <a:off x="819150" y="2362200"/>
            <a:ext cx="2781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Make it trustworthy</a:t>
            </a:r>
          </a:p>
        </p:txBody>
      </p:sp>
      <p:sp>
        <p:nvSpPr>
          <p:cNvPr id="16" name="">
            <a:extLst xmlns:a="http://schemas.openxmlformats.org/drawingml/2006/main">
              <a:ext uri="{FF2B5EF4-FFF2-40B4-BE49-F238E27FC236}">
                <a16:creationId xmlns:a16="http://schemas.microsoft.com/office/drawing/2014/main" id="{A8E93947-9062-40AF-BE05-73EA7AB3A5B6}"/>
              </a:ext>
            </a:extLst>
          </p:cNvPr>
          <p:cNvSpPr>
            <a:spLocks xmlns:a="http://schemas.openxmlformats.org/drawingml/2006/main" noGrp="1"/>
          </p:cNvSpPr>
          <p:nvPr/>
        </p:nvSpPr>
        <p:spPr>
          <a:xfrm xmlns:a="http://schemas.openxmlformats.org/drawingml/2006/main">
            <a:off x="828675" y="3124200"/>
            <a:ext cx="180975" cy="180975"/>
          </a:xfrm>
          <a:prstGeom xmlns:a="http://schemas.openxmlformats.org/drawingml/2006/main" prst="ellipse">
            <a:avLst/>
          </a:prstGeom>
          <a:solidFill xmlns:a="http://schemas.openxmlformats.org/drawingml/2006/main">
            <a:srgbClr val="FF6F61">
              <a:alpha val="13333"/>
            </a:srgbClr>
          </a:solidFill>
          <a:ln xmlns:a="http://schemas.openxmlformats.org/drawingml/2006/main" w="0">
            <a:solidFill>
              <a:srgbClr val="FF6F61">
                <a:alpha val="13333"/>
              </a:srgbClr>
            </a:solidFill>
            <a:prstDash val="solid"/>
          </a:ln>
        </p:spPr>
      </p:sp>
      <p:sp>
        <p:nvSpPr>
          <p:cNvPr id="17" name="">
            <a:extLst xmlns:a="http://schemas.openxmlformats.org/drawingml/2006/main">
              <a:ext uri="{FF2B5EF4-FFF2-40B4-BE49-F238E27FC236}">
                <a16:creationId xmlns:a16="http://schemas.microsoft.com/office/drawing/2014/main" id="{2BBD8E4F-3D99-43C8-8ED4-4C4BF2965304}"/>
              </a:ext>
            </a:extLst>
          </p:cNvPr>
          <p:cNvSpPr>
            <a:spLocks xmlns:a="http://schemas.openxmlformats.org/drawingml/2006/main" noGrp="1"/>
          </p:cNvSpPr>
          <p:nvPr/>
        </p:nvSpPr>
        <p:spPr>
          <a:xfrm xmlns:a="http://schemas.openxmlformats.org/drawingml/2006/main">
            <a:off x="866775" y="3143250"/>
            <a:ext cx="104775" cy="104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002"/>
          </a:bodyPr>
          <a:lstStyle xmlns:a="http://schemas.openxmlformats.org/drawingml/2006/main"/>
          <a:p xmlns:a="http://schemas.openxmlformats.org/drawingml/2006/main">
            <a:pPr algn="ctr">
              <a:lnSpc>
                <a:spcPct val="105000"/>
              </a:lnSpc>
              <a:buNone/>
              <a:defRPr sz="675" b="1">
                <a:solidFill>
                  <a:srgbClr val="FF6F61"/>
                </a:solidFill>
                <a:latin typeface="Aptos"/>
                <a:ea typeface="Aptos"/>
                <a:cs typeface="Aptos"/>
              </a:defRPr>
            </a:pPr>
            <a:r>
              <a:rPr sz="675" b="1">
                <a:solidFill>
                  <a:srgbClr val="FF6F61"/>
                </a:solidFill>
                <a:latin typeface="Aptos"/>
                <a:ea typeface="Aptos"/>
                <a:cs typeface="Aptos"/>
              </a:rPr>
              <a:t>✓</a:t>
            </a:r>
          </a:p>
        </p:txBody>
      </p:sp>
      <p:sp>
        <p:nvSpPr>
          <p:cNvPr id="18" name="">
            <a:extLst xmlns:a="http://schemas.openxmlformats.org/drawingml/2006/main">
              <a:ext uri="{FF2B5EF4-FFF2-40B4-BE49-F238E27FC236}">
                <a16:creationId xmlns:a16="http://schemas.microsoft.com/office/drawing/2014/main" id="{6D50B116-6351-421C-84D6-4127B1C0C1FC}"/>
              </a:ext>
            </a:extLst>
          </p:cNvPr>
          <p:cNvSpPr>
            <a:spLocks xmlns:a="http://schemas.openxmlformats.org/drawingml/2006/main" noGrp="1"/>
          </p:cNvSpPr>
          <p:nvPr/>
        </p:nvSpPr>
        <p:spPr>
          <a:xfrm xmlns:a="http://schemas.openxmlformats.org/drawingml/2006/main">
            <a:off x="1123950" y="31051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a:solidFill>
                  <a:srgbClr val="B7C0CD"/>
                </a:solidFill>
                <a:latin typeface="Aptos"/>
                <a:ea typeface="Aptos"/>
                <a:cs typeface="Aptos"/>
              </a:defRPr>
            </a:pPr>
            <a:r>
              <a:rPr sz="1200" b="0">
                <a:solidFill>
                  <a:srgbClr val="B7C0CD"/>
                </a:solidFill>
                <a:latin typeface="Aptos"/>
                <a:ea typeface="Aptos"/>
                <a:cs typeface="Aptos"/>
              </a:rPr>
              <a:t>Restore Supabase</a:t>
            </a:r>
          </a:p>
        </p:txBody>
      </p:sp>
      <p:sp>
        <p:nvSpPr>
          <p:cNvPr id="19" name="">
            <a:extLst xmlns:a="http://schemas.openxmlformats.org/drawingml/2006/main">
              <a:ext uri="{FF2B5EF4-FFF2-40B4-BE49-F238E27FC236}">
                <a16:creationId xmlns:a16="http://schemas.microsoft.com/office/drawing/2014/main" id="{4BBC4E17-3001-4938-A067-F7C92B6E9036}"/>
              </a:ext>
            </a:extLst>
          </p:cNvPr>
          <p:cNvSpPr>
            <a:spLocks xmlns:a="http://schemas.openxmlformats.org/drawingml/2006/main" noGrp="1"/>
          </p:cNvSpPr>
          <p:nvPr/>
        </p:nvSpPr>
        <p:spPr>
          <a:xfrm xmlns:a="http://schemas.openxmlformats.org/drawingml/2006/main">
            <a:off x="828675" y="3590925"/>
            <a:ext cx="180975" cy="180975"/>
          </a:xfrm>
          <a:prstGeom xmlns:a="http://schemas.openxmlformats.org/drawingml/2006/main" prst="ellipse">
            <a:avLst/>
          </a:prstGeom>
          <a:solidFill xmlns:a="http://schemas.openxmlformats.org/drawingml/2006/main">
            <a:srgbClr val="FF6F61">
              <a:alpha val="13333"/>
            </a:srgbClr>
          </a:solidFill>
          <a:ln xmlns:a="http://schemas.openxmlformats.org/drawingml/2006/main" w="0">
            <a:solidFill>
              <a:srgbClr val="FF6F61">
                <a:alpha val="13333"/>
              </a:srgbClr>
            </a:solidFill>
            <a:prstDash val="solid"/>
          </a:ln>
        </p:spPr>
      </p:sp>
      <p:sp>
        <p:nvSpPr>
          <p:cNvPr id="20" name="">
            <a:extLst xmlns:a="http://schemas.openxmlformats.org/drawingml/2006/main">
              <a:ext uri="{FF2B5EF4-FFF2-40B4-BE49-F238E27FC236}">
                <a16:creationId xmlns:a16="http://schemas.microsoft.com/office/drawing/2014/main" id="{18F7A688-CE65-4691-BB6C-B5307B4E71BB}"/>
              </a:ext>
            </a:extLst>
          </p:cNvPr>
          <p:cNvSpPr>
            <a:spLocks xmlns:a="http://schemas.openxmlformats.org/drawingml/2006/main" noGrp="1"/>
          </p:cNvSpPr>
          <p:nvPr/>
        </p:nvSpPr>
        <p:spPr>
          <a:xfrm xmlns:a="http://schemas.openxmlformats.org/drawingml/2006/main">
            <a:off x="866775" y="3609975"/>
            <a:ext cx="104775" cy="104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002"/>
          </a:bodyPr>
          <a:lstStyle xmlns:a="http://schemas.openxmlformats.org/drawingml/2006/main"/>
          <a:p xmlns:a="http://schemas.openxmlformats.org/drawingml/2006/main">
            <a:pPr algn="ctr">
              <a:lnSpc>
                <a:spcPct val="105000"/>
              </a:lnSpc>
              <a:buNone/>
              <a:defRPr sz="675" b="1">
                <a:solidFill>
                  <a:srgbClr val="FF6F61"/>
                </a:solidFill>
                <a:latin typeface="Aptos"/>
                <a:ea typeface="Aptos"/>
                <a:cs typeface="Aptos"/>
              </a:defRPr>
            </a:pPr>
            <a:r>
              <a:rPr sz="675" b="1">
                <a:solidFill>
                  <a:srgbClr val="FF6F61"/>
                </a:solidFill>
                <a:latin typeface="Aptos"/>
                <a:ea typeface="Aptos"/>
                <a:cs typeface="Aptos"/>
              </a:rPr>
              <a:t>✓</a:t>
            </a:r>
          </a:p>
        </p:txBody>
      </p:sp>
      <p:sp>
        <p:nvSpPr>
          <p:cNvPr id="21" name="">
            <a:extLst xmlns:a="http://schemas.openxmlformats.org/drawingml/2006/main">
              <a:ext uri="{FF2B5EF4-FFF2-40B4-BE49-F238E27FC236}">
                <a16:creationId xmlns:a16="http://schemas.microsoft.com/office/drawing/2014/main" id="{3BC54F66-FFA7-42A0-BD37-819E18CF8047}"/>
              </a:ext>
            </a:extLst>
          </p:cNvPr>
          <p:cNvSpPr>
            <a:spLocks xmlns:a="http://schemas.openxmlformats.org/drawingml/2006/main" noGrp="1"/>
          </p:cNvSpPr>
          <p:nvPr/>
        </p:nvSpPr>
        <p:spPr>
          <a:xfrm xmlns:a="http://schemas.openxmlformats.org/drawingml/2006/main">
            <a:off x="1123950" y="3571875"/>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a:solidFill>
                  <a:srgbClr val="B7C0CD"/>
                </a:solidFill>
                <a:latin typeface="Aptos"/>
                <a:ea typeface="Aptos"/>
                <a:cs typeface="Aptos"/>
              </a:defRPr>
            </a:pPr>
            <a:r>
              <a:rPr sz="1200" b="0">
                <a:solidFill>
                  <a:srgbClr val="B7C0CD"/>
                </a:solidFill>
                <a:latin typeface="Aptos"/>
                <a:ea typeface="Aptos"/>
                <a:cs typeface="Aptos"/>
              </a:rPr>
              <a:t>Unify player truth</a:t>
            </a:r>
          </a:p>
        </p:txBody>
      </p:sp>
      <p:sp>
        <p:nvSpPr>
          <p:cNvPr id="22" name="">
            <a:extLst xmlns:a="http://schemas.openxmlformats.org/drawingml/2006/main">
              <a:ext uri="{FF2B5EF4-FFF2-40B4-BE49-F238E27FC236}">
                <a16:creationId xmlns:a16="http://schemas.microsoft.com/office/drawing/2014/main" id="{14265639-3320-4A7D-A215-87CC5336FD8A}"/>
              </a:ext>
            </a:extLst>
          </p:cNvPr>
          <p:cNvSpPr>
            <a:spLocks xmlns:a="http://schemas.openxmlformats.org/drawingml/2006/main" noGrp="1"/>
          </p:cNvSpPr>
          <p:nvPr/>
        </p:nvSpPr>
        <p:spPr>
          <a:xfrm xmlns:a="http://schemas.openxmlformats.org/drawingml/2006/main">
            <a:off x="828675" y="4057650"/>
            <a:ext cx="180975" cy="180975"/>
          </a:xfrm>
          <a:prstGeom xmlns:a="http://schemas.openxmlformats.org/drawingml/2006/main" prst="ellipse">
            <a:avLst/>
          </a:prstGeom>
          <a:solidFill xmlns:a="http://schemas.openxmlformats.org/drawingml/2006/main">
            <a:srgbClr val="FF6F61">
              <a:alpha val="13333"/>
            </a:srgbClr>
          </a:solidFill>
          <a:ln xmlns:a="http://schemas.openxmlformats.org/drawingml/2006/main" w="0">
            <a:solidFill>
              <a:srgbClr val="FF6F61">
                <a:alpha val="13333"/>
              </a:srgbClr>
            </a:solidFill>
            <a:prstDash val="solid"/>
          </a:ln>
        </p:spPr>
      </p:sp>
      <p:sp>
        <p:nvSpPr>
          <p:cNvPr id="23" name="">
            <a:extLst xmlns:a="http://schemas.openxmlformats.org/drawingml/2006/main">
              <a:ext uri="{FF2B5EF4-FFF2-40B4-BE49-F238E27FC236}">
                <a16:creationId xmlns:a16="http://schemas.microsoft.com/office/drawing/2014/main" id="{E4E7EF03-BDA2-49B1-A04E-5BC747E564B1}"/>
              </a:ext>
            </a:extLst>
          </p:cNvPr>
          <p:cNvSpPr>
            <a:spLocks xmlns:a="http://schemas.openxmlformats.org/drawingml/2006/main" noGrp="1"/>
          </p:cNvSpPr>
          <p:nvPr/>
        </p:nvSpPr>
        <p:spPr>
          <a:xfrm xmlns:a="http://schemas.openxmlformats.org/drawingml/2006/main">
            <a:off x="866775" y="4076700"/>
            <a:ext cx="104775" cy="104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002"/>
          </a:bodyPr>
          <a:lstStyle xmlns:a="http://schemas.openxmlformats.org/drawingml/2006/main"/>
          <a:p xmlns:a="http://schemas.openxmlformats.org/drawingml/2006/main">
            <a:pPr algn="ctr">
              <a:lnSpc>
                <a:spcPct val="105000"/>
              </a:lnSpc>
              <a:buNone/>
              <a:defRPr sz="675" b="1">
                <a:solidFill>
                  <a:srgbClr val="FF6F61"/>
                </a:solidFill>
                <a:latin typeface="Aptos"/>
                <a:ea typeface="Aptos"/>
                <a:cs typeface="Aptos"/>
              </a:defRPr>
            </a:pPr>
            <a:r>
              <a:rPr sz="675" b="1">
                <a:solidFill>
                  <a:srgbClr val="FF6F61"/>
                </a:solidFill>
                <a:latin typeface="Aptos"/>
                <a:ea typeface="Aptos"/>
                <a:cs typeface="Aptos"/>
              </a:rPr>
              <a:t>✓</a:t>
            </a:r>
          </a:p>
        </p:txBody>
      </p:sp>
      <p:sp>
        <p:nvSpPr>
          <p:cNvPr id="24" name="">
            <a:extLst xmlns:a="http://schemas.openxmlformats.org/drawingml/2006/main">
              <a:ext uri="{FF2B5EF4-FFF2-40B4-BE49-F238E27FC236}">
                <a16:creationId xmlns:a16="http://schemas.microsoft.com/office/drawing/2014/main" id="{78A2C26C-C422-4E0F-932C-1898509404A6}"/>
              </a:ext>
            </a:extLst>
          </p:cNvPr>
          <p:cNvSpPr>
            <a:spLocks xmlns:a="http://schemas.openxmlformats.org/drawingml/2006/main" noGrp="1"/>
          </p:cNvSpPr>
          <p:nvPr/>
        </p:nvSpPr>
        <p:spPr>
          <a:xfrm xmlns:a="http://schemas.openxmlformats.org/drawingml/2006/main">
            <a:off x="1123950" y="40386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a:solidFill>
                  <a:srgbClr val="B7C0CD"/>
                </a:solidFill>
                <a:latin typeface="Aptos"/>
                <a:ea typeface="Aptos"/>
                <a:cs typeface="Aptos"/>
              </a:defRPr>
            </a:pPr>
            <a:r>
              <a:rPr sz="1200" b="0">
                <a:solidFill>
                  <a:srgbClr val="B7C0CD"/>
                </a:solidFill>
                <a:latin typeface="Aptos"/>
                <a:ea typeface="Aptos"/>
                <a:cs typeface="Aptos"/>
              </a:rPr>
              <a:t>Verify migrations + RLS</a:t>
            </a:r>
          </a:p>
        </p:txBody>
      </p:sp>
      <p:sp>
        <p:nvSpPr>
          <p:cNvPr id="25" name="">
            <a:extLst xmlns:a="http://schemas.openxmlformats.org/drawingml/2006/main">
              <a:ext uri="{FF2B5EF4-FFF2-40B4-BE49-F238E27FC236}">
                <a16:creationId xmlns:a16="http://schemas.microsoft.com/office/drawing/2014/main" id="{C5162345-93DC-48FB-9F28-4D087EF48251}"/>
              </a:ext>
            </a:extLst>
          </p:cNvPr>
          <p:cNvSpPr>
            <a:spLocks xmlns:a="http://schemas.openxmlformats.org/drawingml/2006/main" noGrp="1"/>
          </p:cNvSpPr>
          <p:nvPr/>
        </p:nvSpPr>
        <p:spPr>
          <a:xfrm xmlns:a="http://schemas.openxmlformats.org/drawingml/2006/main">
            <a:off x="828675" y="4524375"/>
            <a:ext cx="180975" cy="180975"/>
          </a:xfrm>
          <a:prstGeom xmlns:a="http://schemas.openxmlformats.org/drawingml/2006/main" prst="ellipse">
            <a:avLst/>
          </a:prstGeom>
          <a:solidFill xmlns:a="http://schemas.openxmlformats.org/drawingml/2006/main">
            <a:srgbClr val="FF6F61">
              <a:alpha val="13333"/>
            </a:srgbClr>
          </a:solidFill>
          <a:ln xmlns:a="http://schemas.openxmlformats.org/drawingml/2006/main" w="0">
            <a:solidFill>
              <a:srgbClr val="FF6F61">
                <a:alpha val="13333"/>
              </a:srgbClr>
            </a:solidFill>
            <a:prstDash val="solid"/>
          </a:ln>
        </p:spPr>
      </p:sp>
      <p:sp>
        <p:nvSpPr>
          <p:cNvPr id="26" name="">
            <a:extLst xmlns:a="http://schemas.openxmlformats.org/drawingml/2006/main">
              <a:ext uri="{FF2B5EF4-FFF2-40B4-BE49-F238E27FC236}">
                <a16:creationId xmlns:a16="http://schemas.microsoft.com/office/drawing/2014/main" id="{5923F98C-6641-425D-BBDF-4BDBD00847E3}"/>
              </a:ext>
            </a:extLst>
          </p:cNvPr>
          <p:cNvSpPr>
            <a:spLocks xmlns:a="http://schemas.openxmlformats.org/drawingml/2006/main" noGrp="1"/>
          </p:cNvSpPr>
          <p:nvPr/>
        </p:nvSpPr>
        <p:spPr>
          <a:xfrm xmlns:a="http://schemas.openxmlformats.org/drawingml/2006/main">
            <a:off x="866775" y="4543425"/>
            <a:ext cx="104775" cy="104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002"/>
          </a:bodyPr>
          <a:lstStyle xmlns:a="http://schemas.openxmlformats.org/drawingml/2006/main"/>
          <a:p xmlns:a="http://schemas.openxmlformats.org/drawingml/2006/main">
            <a:pPr algn="ctr">
              <a:lnSpc>
                <a:spcPct val="105000"/>
              </a:lnSpc>
              <a:buNone/>
              <a:defRPr sz="675" b="1">
                <a:solidFill>
                  <a:srgbClr val="FF6F61"/>
                </a:solidFill>
                <a:latin typeface="Aptos"/>
                <a:ea typeface="Aptos"/>
                <a:cs typeface="Aptos"/>
              </a:defRPr>
            </a:pPr>
            <a:r>
              <a:rPr sz="675" b="1">
                <a:solidFill>
                  <a:srgbClr val="FF6F61"/>
                </a:solidFill>
                <a:latin typeface="Aptos"/>
                <a:ea typeface="Aptos"/>
                <a:cs typeface="Aptos"/>
              </a:rPr>
              <a:t>✓</a:t>
            </a:r>
          </a:p>
        </p:txBody>
      </p:sp>
      <p:sp>
        <p:nvSpPr>
          <p:cNvPr id="27" name="">
            <a:extLst xmlns:a="http://schemas.openxmlformats.org/drawingml/2006/main">
              <a:ext uri="{FF2B5EF4-FFF2-40B4-BE49-F238E27FC236}">
                <a16:creationId xmlns:a16="http://schemas.microsoft.com/office/drawing/2014/main" id="{A592512B-C01B-4F99-BF83-0DD4E3A6E175}"/>
              </a:ext>
            </a:extLst>
          </p:cNvPr>
          <p:cNvSpPr>
            <a:spLocks xmlns:a="http://schemas.openxmlformats.org/drawingml/2006/main" noGrp="1"/>
          </p:cNvSpPr>
          <p:nvPr/>
        </p:nvSpPr>
        <p:spPr>
          <a:xfrm xmlns:a="http://schemas.openxmlformats.org/drawingml/2006/main">
            <a:off x="1123950" y="4505325"/>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a:solidFill>
                  <a:srgbClr val="B7C0CD"/>
                </a:solidFill>
                <a:latin typeface="Aptos"/>
                <a:ea typeface="Aptos"/>
                <a:cs typeface="Aptos"/>
              </a:defRPr>
            </a:pPr>
            <a:r>
              <a:rPr sz="1200" b="0">
                <a:solidFill>
                  <a:srgbClr val="B7C0CD"/>
                </a:solidFill>
                <a:latin typeface="Aptos"/>
                <a:ea typeface="Aptos"/>
                <a:cs typeface="Aptos"/>
              </a:rPr>
              <a:t>Fix progression consistency</a:t>
            </a:r>
          </a:p>
        </p:txBody>
      </p:sp>
      <p:sp>
        <p:nvSpPr>
          <p:cNvPr id="28" name="">
            <a:extLst xmlns:a="http://schemas.openxmlformats.org/drawingml/2006/main">
              <a:ext uri="{FF2B5EF4-FFF2-40B4-BE49-F238E27FC236}">
                <a16:creationId xmlns:a16="http://schemas.microsoft.com/office/drawing/2014/main" id="{87F4FFDD-A85F-4210-856B-5172E53D8B70}"/>
              </a:ext>
            </a:extLst>
          </p:cNvPr>
          <p:cNvSpPr>
            <a:spLocks xmlns:a="http://schemas.openxmlformats.org/drawingml/2006/main" noGrp="1"/>
          </p:cNvSpPr>
          <p:nvPr/>
        </p:nvSpPr>
        <p:spPr>
          <a:xfrm xmlns:a="http://schemas.openxmlformats.org/drawingml/2006/main">
            <a:off x="781050" y="5257800"/>
            <a:ext cx="2971800" cy="476250"/>
          </a:xfrm>
          <a:prstGeom xmlns:a="http://schemas.openxmlformats.org/drawingml/2006/main" prst="roundRect">
            <a:avLst>
              <a:gd name="adj" fmla="val 24000"/>
            </a:avLst>
          </a:prstGeom>
          <a:solidFill xmlns:a="http://schemas.openxmlformats.org/drawingml/2006/main">
            <a:srgbClr val="0D1422"/>
          </a:solidFill>
          <a:ln xmlns:a="http://schemas.openxmlformats.org/drawingml/2006/main" w="9525">
            <a:solidFill>
              <a:srgbClr val="2A374A"/>
            </a:solidFill>
            <a:prstDash val="solid"/>
          </a:ln>
        </p:spPr>
      </p:sp>
      <p:sp>
        <p:nvSpPr>
          <p:cNvPr id="29" name="">
            <a:extLst xmlns:a="http://schemas.openxmlformats.org/drawingml/2006/main">
              <a:ext uri="{FF2B5EF4-FFF2-40B4-BE49-F238E27FC236}">
                <a16:creationId xmlns:a16="http://schemas.microsoft.com/office/drawing/2014/main" id="{4DF2A932-2B6D-4CE2-8BAB-1D1D77B4CD80}"/>
              </a:ext>
            </a:extLst>
          </p:cNvPr>
          <p:cNvSpPr>
            <a:spLocks xmlns:a="http://schemas.openxmlformats.org/drawingml/2006/main" noGrp="1"/>
          </p:cNvSpPr>
          <p:nvPr/>
        </p:nvSpPr>
        <p:spPr>
          <a:xfrm xmlns:a="http://schemas.openxmlformats.org/drawingml/2006/main">
            <a:off x="923925" y="5400675"/>
            <a:ext cx="2686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FF6F61"/>
                </a:solidFill>
                <a:latin typeface="Aptos"/>
                <a:ea typeface="Aptos"/>
                <a:cs typeface="Aptos"/>
              </a:defRPr>
            </a:pPr>
            <a:r>
              <a:rPr sz="825" b="1">
                <a:solidFill>
                  <a:srgbClr val="FF6F61"/>
                </a:solidFill>
                <a:latin typeface="Aptos"/>
                <a:ea typeface="Aptos"/>
                <a:cs typeface="Aptos"/>
              </a:rPr>
              <a:t>GATE: complete + redeem + correct visible balance</a:t>
            </a:r>
          </a:p>
        </p:txBody>
      </p:sp>
      <p:sp>
        <p:nvSpPr>
          <p:cNvPr id="30" name="">
            <a:extLst xmlns:a="http://schemas.openxmlformats.org/drawingml/2006/main">
              <a:ext uri="{FF2B5EF4-FFF2-40B4-BE49-F238E27FC236}">
                <a16:creationId xmlns:a16="http://schemas.microsoft.com/office/drawing/2014/main" id="{F53AA2DF-E17A-46FB-B075-E12E3B2FCE72}"/>
              </a:ext>
            </a:extLst>
          </p:cNvPr>
          <p:cNvSpPr>
            <a:spLocks xmlns:a="http://schemas.openxmlformats.org/drawingml/2006/main" noGrp="1"/>
          </p:cNvSpPr>
          <p:nvPr/>
        </p:nvSpPr>
        <p:spPr>
          <a:xfrm xmlns:a="http://schemas.openxmlformats.org/drawingml/2006/main">
            <a:off x="4229100" y="1619250"/>
            <a:ext cx="3429000" cy="4305300"/>
          </a:xfrm>
          <a:prstGeom xmlns:a="http://schemas.openxmlformats.org/drawingml/2006/main" prst="roundRect">
            <a:avLst>
              <a:gd name="adj" fmla="val 6111"/>
            </a:avLst>
          </a:prstGeom>
          <a:solidFill xmlns:a="http://schemas.openxmlformats.org/drawingml/2006/main">
            <a:srgbClr val="151F30"/>
          </a:solidFill>
          <a:ln xmlns:a="http://schemas.openxmlformats.org/drawingml/2006/main" w="9525">
            <a:solidFill>
              <a:srgbClr val="2A374A"/>
            </a:solidFill>
            <a:prstDash val="solid"/>
          </a:ln>
        </p:spPr>
      </p:sp>
      <p:sp>
        <p:nvSpPr>
          <p:cNvPr id="31" name="">
            <a:extLst xmlns:a="http://schemas.openxmlformats.org/drawingml/2006/main">
              <a:ext uri="{FF2B5EF4-FFF2-40B4-BE49-F238E27FC236}">
                <a16:creationId xmlns:a16="http://schemas.microsoft.com/office/drawing/2014/main" id="{8642B359-258B-4C34-8F75-DB7B069778A3}"/>
              </a:ext>
            </a:extLst>
          </p:cNvPr>
          <p:cNvSpPr>
            <a:spLocks xmlns:a="http://schemas.openxmlformats.org/drawingml/2006/main" noGrp="1"/>
          </p:cNvSpPr>
          <p:nvPr/>
        </p:nvSpPr>
        <p:spPr>
          <a:xfrm xmlns:a="http://schemas.openxmlformats.org/drawingml/2006/main">
            <a:off x="4229100" y="1619250"/>
            <a:ext cx="66675" cy="4305300"/>
          </a:xfrm>
          <a:prstGeom xmlns:a="http://schemas.openxmlformats.org/drawingml/2006/main" prst="rect">
            <a:avLst/>
          </a:prstGeom>
          <a:solidFill xmlns:a="http://schemas.openxmlformats.org/drawingml/2006/main">
            <a:srgbClr val="F2B94B"/>
          </a:solidFill>
          <a:ln xmlns:a="http://schemas.openxmlformats.org/drawingml/2006/main" w="0">
            <a:solidFill>
              <a:srgbClr val="F2B94B"/>
            </a:solidFill>
            <a:prstDash val="solid"/>
          </a:ln>
        </p:spPr>
      </p:sp>
      <p:sp>
        <p:nvSpPr>
          <p:cNvPr id="32" name="">
            <a:extLst xmlns:a="http://schemas.openxmlformats.org/drawingml/2006/main">
              <a:ext uri="{FF2B5EF4-FFF2-40B4-BE49-F238E27FC236}">
                <a16:creationId xmlns:a16="http://schemas.microsoft.com/office/drawing/2014/main" id="{B044CFE1-587E-41E3-801B-F2524BE79962}"/>
              </a:ext>
            </a:extLst>
          </p:cNvPr>
          <p:cNvSpPr>
            <a:spLocks xmlns:a="http://schemas.openxmlformats.org/drawingml/2006/main" noGrp="1"/>
          </p:cNvSpPr>
          <p:nvPr/>
        </p:nvSpPr>
        <p:spPr>
          <a:xfrm xmlns:a="http://schemas.openxmlformats.org/drawingml/2006/main">
            <a:off x="6800850" y="1809750"/>
            <a:ext cx="5905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3900" b="1">
                <a:solidFill>
                  <a:srgbClr val="253146"/>
                </a:solidFill>
                <a:latin typeface="Aptos Display"/>
                <a:ea typeface="Aptos Display"/>
                <a:cs typeface="Aptos Display"/>
              </a:defRPr>
            </a:pPr>
            <a:r>
              <a:rPr sz="3900" b="1">
                <a:solidFill>
                  <a:srgbClr val="253146"/>
                </a:solidFill>
                <a:latin typeface="Aptos Display"/>
                <a:ea typeface="Aptos Display"/>
                <a:cs typeface="Aptos Display"/>
              </a:rPr>
              <a:t>02</a:t>
            </a:r>
          </a:p>
        </p:txBody>
      </p:sp>
      <p:sp>
        <p:nvSpPr>
          <p:cNvPr id="33" name="">
            <a:extLst xmlns:a="http://schemas.openxmlformats.org/drawingml/2006/main">
              <a:ext uri="{FF2B5EF4-FFF2-40B4-BE49-F238E27FC236}">
                <a16:creationId xmlns:a16="http://schemas.microsoft.com/office/drawing/2014/main" id="{7001F9CD-C799-4F1A-8CDC-DFF4FD905AA6}"/>
              </a:ext>
            </a:extLst>
          </p:cNvPr>
          <p:cNvSpPr>
            <a:spLocks xmlns:a="http://schemas.openxmlformats.org/drawingml/2006/main" noGrp="1"/>
          </p:cNvSpPr>
          <p:nvPr/>
        </p:nvSpPr>
        <p:spPr>
          <a:xfrm xmlns:a="http://schemas.openxmlformats.org/drawingml/2006/main">
            <a:off x="4495800" y="1895475"/>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F2B94B"/>
                </a:solidFill>
                <a:latin typeface="Aptos"/>
                <a:ea typeface="Aptos"/>
                <a:cs typeface="Aptos"/>
              </a:defRPr>
            </a:pPr>
            <a:r>
              <a:rPr sz="825" b="1">
                <a:solidFill>
                  <a:srgbClr val="F2B94B"/>
                </a:solidFill>
                <a:latin typeface="Aptos"/>
                <a:ea typeface="Aptos"/>
                <a:cs typeface="Aptos"/>
              </a:rPr>
              <a:t>DAYS 15–45</a:t>
            </a:r>
          </a:p>
        </p:txBody>
      </p:sp>
      <p:sp>
        <p:nvSpPr>
          <p:cNvPr id="34" name="">
            <a:extLst xmlns:a="http://schemas.openxmlformats.org/drawingml/2006/main">
              <a:ext uri="{FF2B5EF4-FFF2-40B4-BE49-F238E27FC236}">
                <a16:creationId xmlns:a16="http://schemas.microsoft.com/office/drawing/2014/main" id="{49AD3A11-A938-460A-B5AE-8B97C665D90D}"/>
              </a:ext>
            </a:extLst>
          </p:cNvPr>
          <p:cNvSpPr>
            <a:spLocks xmlns:a="http://schemas.openxmlformats.org/drawingml/2006/main" noGrp="1"/>
          </p:cNvSpPr>
          <p:nvPr/>
        </p:nvSpPr>
        <p:spPr>
          <a:xfrm xmlns:a="http://schemas.openxmlformats.org/drawingml/2006/main">
            <a:off x="4495800" y="2362200"/>
            <a:ext cx="2781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Operationalize</a:t>
            </a:r>
          </a:p>
        </p:txBody>
      </p:sp>
      <p:sp>
        <p:nvSpPr>
          <p:cNvPr id="35" name="">
            <a:extLst xmlns:a="http://schemas.openxmlformats.org/drawingml/2006/main">
              <a:ext uri="{FF2B5EF4-FFF2-40B4-BE49-F238E27FC236}">
                <a16:creationId xmlns:a16="http://schemas.microsoft.com/office/drawing/2014/main" id="{BF72F09D-B1A6-4AD0-8DD2-2A0951911750}"/>
              </a:ext>
            </a:extLst>
          </p:cNvPr>
          <p:cNvSpPr>
            <a:spLocks xmlns:a="http://schemas.openxmlformats.org/drawingml/2006/main" noGrp="1"/>
          </p:cNvSpPr>
          <p:nvPr/>
        </p:nvSpPr>
        <p:spPr>
          <a:xfrm xmlns:a="http://schemas.openxmlformats.org/drawingml/2006/main">
            <a:off x="4505325" y="3124200"/>
            <a:ext cx="180975" cy="180975"/>
          </a:xfrm>
          <a:prstGeom xmlns:a="http://schemas.openxmlformats.org/drawingml/2006/main" prst="ellipse">
            <a:avLst/>
          </a:prstGeom>
          <a:solidFill xmlns:a="http://schemas.openxmlformats.org/drawingml/2006/main">
            <a:srgbClr val="F2B94B">
              <a:alpha val="13333"/>
            </a:srgbClr>
          </a:solidFill>
          <a:ln xmlns:a="http://schemas.openxmlformats.org/drawingml/2006/main" w="0">
            <a:solidFill>
              <a:srgbClr val="F2B94B">
                <a:alpha val="13333"/>
              </a:srgbClr>
            </a:solidFill>
            <a:prstDash val="solid"/>
          </a:ln>
        </p:spPr>
      </p:sp>
      <p:sp>
        <p:nvSpPr>
          <p:cNvPr id="36" name="">
            <a:extLst xmlns:a="http://schemas.openxmlformats.org/drawingml/2006/main">
              <a:ext uri="{FF2B5EF4-FFF2-40B4-BE49-F238E27FC236}">
                <a16:creationId xmlns:a16="http://schemas.microsoft.com/office/drawing/2014/main" id="{07917C35-2C66-40CB-B004-FA94BD76C54C}"/>
              </a:ext>
            </a:extLst>
          </p:cNvPr>
          <p:cNvSpPr>
            <a:spLocks xmlns:a="http://schemas.openxmlformats.org/drawingml/2006/main" noGrp="1"/>
          </p:cNvSpPr>
          <p:nvPr/>
        </p:nvSpPr>
        <p:spPr>
          <a:xfrm xmlns:a="http://schemas.openxmlformats.org/drawingml/2006/main">
            <a:off x="4543425" y="3143250"/>
            <a:ext cx="104775" cy="104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002"/>
          </a:bodyPr>
          <a:lstStyle xmlns:a="http://schemas.openxmlformats.org/drawingml/2006/main"/>
          <a:p xmlns:a="http://schemas.openxmlformats.org/drawingml/2006/main">
            <a:pPr algn="ctr">
              <a:lnSpc>
                <a:spcPct val="105000"/>
              </a:lnSpc>
              <a:buNone/>
              <a:defRPr sz="675" b="1">
                <a:solidFill>
                  <a:srgbClr val="F2B94B"/>
                </a:solidFill>
                <a:latin typeface="Aptos"/>
                <a:ea typeface="Aptos"/>
                <a:cs typeface="Aptos"/>
              </a:defRPr>
            </a:pPr>
            <a:r>
              <a:rPr sz="675" b="1">
                <a:solidFill>
                  <a:srgbClr val="F2B94B"/>
                </a:solidFill>
                <a:latin typeface="Aptos"/>
                <a:ea typeface="Aptos"/>
                <a:cs typeface="Aptos"/>
              </a:rPr>
              <a:t>✓</a:t>
            </a:r>
          </a:p>
        </p:txBody>
      </p:sp>
      <p:sp>
        <p:nvSpPr>
          <p:cNvPr id="37" name="">
            <a:extLst xmlns:a="http://schemas.openxmlformats.org/drawingml/2006/main">
              <a:ext uri="{FF2B5EF4-FFF2-40B4-BE49-F238E27FC236}">
                <a16:creationId xmlns:a16="http://schemas.microsoft.com/office/drawing/2014/main" id="{18696E3B-DD17-42D6-9468-6503F19634AC}"/>
              </a:ext>
            </a:extLst>
          </p:cNvPr>
          <p:cNvSpPr>
            <a:spLocks xmlns:a="http://schemas.openxmlformats.org/drawingml/2006/main" noGrp="1"/>
          </p:cNvSpPr>
          <p:nvPr/>
        </p:nvSpPr>
        <p:spPr>
          <a:xfrm xmlns:a="http://schemas.openxmlformats.org/drawingml/2006/main">
            <a:off x="4800600" y="31051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a:solidFill>
                  <a:srgbClr val="B7C0CD"/>
                </a:solidFill>
                <a:latin typeface="Aptos"/>
                <a:ea typeface="Aptos"/>
                <a:cs typeface="Aptos"/>
              </a:defRPr>
            </a:pPr>
            <a:r>
              <a:rPr sz="1200" b="0">
                <a:solidFill>
                  <a:srgbClr val="B7C0CD"/>
                </a:solidFill>
                <a:latin typeface="Aptos"/>
                <a:ea typeface="Aptos"/>
                <a:cs typeface="Aptos"/>
              </a:rPr>
              <a:t>Mount Progress + Rewards</a:t>
            </a:r>
          </a:p>
        </p:txBody>
      </p:sp>
      <p:sp>
        <p:nvSpPr>
          <p:cNvPr id="38" name="">
            <a:extLst xmlns:a="http://schemas.openxmlformats.org/drawingml/2006/main">
              <a:ext uri="{FF2B5EF4-FFF2-40B4-BE49-F238E27FC236}">
                <a16:creationId xmlns:a16="http://schemas.microsoft.com/office/drawing/2014/main" id="{7531357F-289A-4E3B-8C2E-B98F255C5202}"/>
              </a:ext>
            </a:extLst>
          </p:cNvPr>
          <p:cNvSpPr>
            <a:spLocks xmlns:a="http://schemas.openxmlformats.org/drawingml/2006/main" noGrp="1"/>
          </p:cNvSpPr>
          <p:nvPr/>
        </p:nvSpPr>
        <p:spPr>
          <a:xfrm xmlns:a="http://schemas.openxmlformats.org/drawingml/2006/main">
            <a:off x="4505325" y="3590925"/>
            <a:ext cx="180975" cy="180975"/>
          </a:xfrm>
          <a:prstGeom xmlns:a="http://schemas.openxmlformats.org/drawingml/2006/main" prst="ellipse">
            <a:avLst/>
          </a:prstGeom>
          <a:solidFill xmlns:a="http://schemas.openxmlformats.org/drawingml/2006/main">
            <a:srgbClr val="F2B94B">
              <a:alpha val="13333"/>
            </a:srgbClr>
          </a:solidFill>
          <a:ln xmlns:a="http://schemas.openxmlformats.org/drawingml/2006/main" w="0">
            <a:solidFill>
              <a:srgbClr val="F2B94B">
                <a:alpha val="13333"/>
              </a:srgbClr>
            </a:solidFill>
            <a:prstDash val="solid"/>
          </a:ln>
        </p:spPr>
      </p:sp>
      <p:sp>
        <p:nvSpPr>
          <p:cNvPr id="39" name="">
            <a:extLst xmlns:a="http://schemas.openxmlformats.org/drawingml/2006/main">
              <a:ext uri="{FF2B5EF4-FFF2-40B4-BE49-F238E27FC236}">
                <a16:creationId xmlns:a16="http://schemas.microsoft.com/office/drawing/2014/main" id="{742F877F-1327-4F73-B07C-2A93ECD34225}"/>
              </a:ext>
            </a:extLst>
          </p:cNvPr>
          <p:cNvSpPr>
            <a:spLocks xmlns:a="http://schemas.openxmlformats.org/drawingml/2006/main" noGrp="1"/>
          </p:cNvSpPr>
          <p:nvPr/>
        </p:nvSpPr>
        <p:spPr>
          <a:xfrm xmlns:a="http://schemas.openxmlformats.org/drawingml/2006/main">
            <a:off x="4543425" y="3609975"/>
            <a:ext cx="104775" cy="104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002"/>
          </a:bodyPr>
          <a:lstStyle xmlns:a="http://schemas.openxmlformats.org/drawingml/2006/main"/>
          <a:p xmlns:a="http://schemas.openxmlformats.org/drawingml/2006/main">
            <a:pPr algn="ctr">
              <a:lnSpc>
                <a:spcPct val="105000"/>
              </a:lnSpc>
              <a:buNone/>
              <a:defRPr sz="675" b="1">
                <a:solidFill>
                  <a:srgbClr val="F2B94B"/>
                </a:solidFill>
                <a:latin typeface="Aptos"/>
                <a:ea typeface="Aptos"/>
                <a:cs typeface="Aptos"/>
              </a:defRPr>
            </a:pPr>
            <a:r>
              <a:rPr sz="675" b="1">
                <a:solidFill>
                  <a:srgbClr val="F2B94B"/>
                </a:solidFill>
                <a:latin typeface="Aptos"/>
                <a:ea typeface="Aptos"/>
                <a:cs typeface="Aptos"/>
              </a:rPr>
              <a:t>✓</a:t>
            </a:r>
          </a:p>
        </p:txBody>
      </p:sp>
      <p:sp>
        <p:nvSpPr>
          <p:cNvPr id="40" name="">
            <a:extLst xmlns:a="http://schemas.openxmlformats.org/drawingml/2006/main">
              <a:ext uri="{FF2B5EF4-FFF2-40B4-BE49-F238E27FC236}">
                <a16:creationId xmlns:a16="http://schemas.microsoft.com/office/drawing/2014/main" id="{C9BCC386-DB89-4CAA-AD2B-8C1AFEAE5F85}"/>
              </a:ext>
            </a:extLst>
          </p:cNvPr>
          <p:cNvSpPr>
            <a:spLocks xmlns:a="http://schemas.openxmlformats.org/drawingml/2006/main" noGrp="1"/>
          </p:cNvSpPr>
          <p:nvPr/>
        </p:nvSpPr>
        <p:spPr>
          <a:xfrm xmlns:a="http://schemas.openxmlformats.org/drawingml/2006/main">
            <a:off x="4800600" y="3571875"/>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a:solidFill>
                  <a:srgbClr val="B7C0CD"/>
                </a:solidFill>
                <a:latin typeface="Aptos"/>
                <a:ea typeface="Aptos"/>
                <a:cs typeface="Aptos"/>
              </a:defRPr>
            </a:pPr>
            <a:r>
              <a:rPr sz="1200" b="0">
                <a:solidFill>
                  <a:srgbClr val="B7C0CD"/>
                </a:solidFill>
                <a:latin typeface="Aptos"/>
                <a:ea typeface="Aptos"/>
                <a:cs typeface="Aptos"/>
              </a:rPr>
              <a:t>Connect CRM + analytics</a:t>
            </a:r>
          </a:p>
        </p:txBody>
      </p:sp>
      <p:sp>
        <p:nvSpPr>
          <p:cNvPr id="41" name="">
            <a:extLst xmlns:a="http://schemas.openxmlformats.org/drawingml/2006/main">
              <a:ext uri="{FF2B5EF4-FFF2-40B4-BE49-F238E27FC236}">
                <a16:creationId xmlns:a16="http://schemas.microsoft.com/office/drawing/2014/main" id="{4EC536DF-13D4-4A93-81B1-888D246534BC}"/>
              </a:ext>
            </a:extLst>
          </p:cNvPr>
          <p:cNvSpPr>
            <a:spLocks xmlns:a="http://schemas.openxmlformats.org/drawingml/2006/main" noGrp="1"/>
          </p:cNvSpPr>
          <p:nvPr/>
        </p:nvSpPr>
        <p:spPr>
          <a:xfrm xmlns:a="http://schemas.openxmlformats.org/drawingml/2006/main">
            <a:off x="4505325" y="4057650"/>
            <a:ext cx="180975" cy="180975"/>
          </a:xfrm>
          <a:prstGeom xmlns:a="http://schemas.openxmlformats.org/drawingml/2006/main" prst="ellipse">
            <a:avLst/>
          </a:prstGeom>
          <a:solidFill xmlns:a="http://schemas.openxmlformats.org/drawingml/2006/main">
            <a:srgbClr val="F2B94B">
              <a:alpha val="13333"/>
            </a:srgbClr>
          </a:solidFill>
          <a:ln xmlns:a="http://schemas.openxmlformats.org/drawingml/2006/main" w="0">
            <a:solidFill>
              <a:srgbClr val="F2B94B">
                <a:alpha val="13333"/>
              </a:srgbClr>
            </a:solidFill>
            <a:prstDash val="solid"/>
          </a:ln>
        </p:spPr>
      </p:sp>
      <p:sp>
        <p:nvSpPr>
          <p:cNvPr id="42" name="">
            <a:extLst xmlns:a="http://schemas.openxmlformats.org/drawingml/2006/main">
              <a:ext uri="{FF2B5EF4-FFF2-40B4-BE49-F238E27FC236}">
                <a16:creationId xmlns:a16="http://schemas.microsoft.com/office/drawing/2014/main" id="{FA288651-296A-48BE-93A5-5E84CA4F015F}"/>
              </a:ext>
            </a:extLst>
          </p:cNvPr>
          <p:cNvSpPr>
            <a:spLocks xmlns:a="http://schemas.openxmlformats.org/drawingml/2006/main" noGrp="1"/>
          </p:cNvSpPr>
          <p:nvPr/>
        </p:nvSpPr>
        <p:spPr>
          <a:xfrm xmlns:a="http://schemas.openxmlformats.org/drawingml/2006/main">
            <a:off x="4543425" y="4076700"/>
            <a:ext cx="104775" cy="104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002"/>
          </a:bodyPr>
          <a:lstStyle xmlns:a="http://schemas.openxmlformats.org/drawingml/2006/main"/>
          <a:p xmlns:a="http://schemas.openxmlformats.org/drawingml/2006/main">
            <a:pPr algn="ctr">
              <a:lnSpc>
                <a:spcPct val="105000"/>
              </a:lnSpc>
              <a:buNone/>
              <a:defRPr sz="675" b="1">
                <a:solidFill>
                  <a:srgbClr val="F2B94B"/>
                </a:solidFill>
                <a:latin typeface="Aptos"/>
                <a:ea typeface="Aptos"/>
                <a:cs typeface="Aptos"/>
              </a:defRPr>
            </a:pPr>
            <a:r>
              <a:rPr sz="675" b="1">
                <a:solidFill>
                  <a:srgbClr val="F2B94B"/>
                </a:solidFill>
                <a:latin typeface="Aptos"/>
                <a:ea typeface="Aptos"/>
                <a:cs typeface="Aptos"/>
              </a:rPr>
              <a:t>✓</a:t>
            </a:r>
          </a:p>
        </p:txBody>
      </p:sp>
      <p:sp>
        <p:nvSpPr>
          <p:cNvPr id="43" name="">
            <a:extLst xmlns:a="http://schemas.openxmlformats.org/drawingml/2006/main">
              <a:ext uri="{FF2B5EF4-FFF2-40B4-BE49-F238E27FC236}">
                <a16:creationId xmlns:a16="http://schemas.microsoft.com/office/drawing/2014/main" id="{418A353B-C181-4291-9122-32C547882B32}"/>
              </a:ext>
            </a:extLst>
          </p:cNvPr>
          <p:cNvSpPr>
            <a:spLocks xmlns:a="http://schemas.openxmlformats.org/drawingml/2006/main" noGrp="1"/>
          </p:cNvSpPr>
          <p:nvPr/>
        </p:nvSpPr>
        <p:spPr>
          <a:xfrm xmlns:a="http://schemas.openxmlformats.org/drawingml/2006/main">
            <a:off x="4800600" y="40386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a:solidFill>
                  <a:srgbClr val="B7C0CD"/>
                </a:solidFill>
                <a:latin typeface="Aptos"/>
                <a:ea typeface="Aptos"/>
                <a:cs typeface="Aptos"/>
              </a:defRPr>
            </a:pPr>
            <a:r>
              <a:rPr sz="1200" b="0">
                <a:solidFill>
                  <a:srgbClr val="B7C0CD"/>
                </a:solidFill>
                <a:latin typeface="Aptos"/>
                <a:ea typeface="Aptos"/>
                <a:cs typeface="Aptos"/>
              </a:rPr>
              <a:t>Contract 8–12 venues</a:t>
            </a:r>
          </a:p>
        </p:txBody>
      </p:sp>
      <p:sp>
        <p:nvSpPr>
          <p:cNvPr id="44" name="">
            <a:extLst xmlns:a="http://schemas.openxmlformats.org/drawingml/2006/main">
              <a:ext uri="{FF2B5EF4-FFF2-40B4-BE49-F238E27FC236}">
                <a16:creationId xmlns:a16="http://schemas.microsoft.com/office/drawing/2014/main" id="{11E099F6-1772-4D42-99B5-5EB58C260469}"/>
              </a:ext>
            </a:extLst>
          </p:cNvPr>
          <p:cNvSpPr>
            <a:spLocks xmlns:a="http://schemas.openxmlformats.org/drawingml/2006/main" noGrp="1"/>
          </p:cNvSpPr>
          <p:nvPr/>
        </p:nvSpPr>
        <p:spPr>
          <a:xfrm xmlns:a="http://schemas.openxmlformats.org/drawingml/2006/main">
            <a:off x="4505325" y="4524375"/>
            <a:ext cx="180975" cy="180975"/>
          </a:xfrm>
          <a:prstGeom xmlns:a="http://schemas.openxmlformats.org/drawingml/2006/main" prst="ellipse">
            <a:avLst/>
          </a:prstGeom>
          <a:solidFill xmlns:a="http://schemas.openxmlformats.org/drawingml/2006/main">
            <a:srgbClr val="F2B94B">
              <a:alpha val="13333"/>
            </a:srgbClr>
          </a:solidFill>
          <a:ln xmlns:a="http://schemas.openxmlformats.org/drawingml/2006/main" w="0">
            <a:solidFill>
              <a:srgbClr val="F2B94B">
                <a:alpha val="13333"/>
              </a:srgbClr>
            </a:solidFill>
            <a:prstDash val="solid"/>
          </a:ln>
        </p:spPr>
      </p:sp>
      <p:sp>
        <p:nvSpPr>
          <p:cNvPr id="45" name="">
            <a:extLst xmlns:a="http://schemas.openxmlformats.org/drawingml/2006/main">
              <a:ext uri="{FF2B5EF4-FFF2-40B4-BE49-F238E27FC236}">
                <a16:creationId xmlns:a16="http://schemas.microsoft.com/office/drawing/2014/main" id="{21AA0BC7-A5C3-4D83-937A-F49925D37B48}"/>
              </a:ext>
            </a:extLst>
          </p:cNvPr>
          <p:cNvSpPr>
            <a:spLocks xmlns:a="http://schemas.openxmlformats.org/drawingml/2006/main" noGrp="1"/>
          </p:cNvSpPr>
          <p:nvPr/>
        </p:nvSpPr>
        <p:spPr>
          <a:xfrm xmlns:a="http://schemas.openxmlformats.org/drawingml/2006/main">
            <a:off x="4543425" y="4543425"/>
            <a:ext cx="104775" cy="104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002"/>
          </a:bodyPr>
          <a:lstStyle xmlns:a="http://schemas.openxmlformats.org/drawingml/2006/main"/>
          <a:p xmlns:a="http://schemas.openxmlformats.org/drawingml/2006/main">
            <a:pPr algn="ctr">
              <a:lnSpc>
                <a:spcPct val="105000"/>
              </a:lnSpc>
              <a:buNone/>
              <a:defRPr sz="675" b="1">
                <a:solidFill>
                  <a:srgbClr val="F2B94B"/>
                </a:solidFill>
                <a:latin typeface="Aptos"/>
                <a:ea typeface="Aptos"/>
                <a:cs typeface="Aptos"/>
              </a:defRPr>
            </a:pPr>
            <a:r>
              <a:rPr sz="675" b="1">
                <a:solidFill>
                  <a:srgbClr val="F2B94B"/>
                </a:solidFill>
                <a:latin typeface="Aptos"/>
                <a:ea typeface="Aptos"/>
                <a:cs typeface="Aptos"/>
              </a:rPr>
              <a:t>✓</a:t>
            </a:r>
          </a:p>
        </p:txBody>
      </p:sp>
      <p:sp>
        <p:nvSpPr>
          <p:cNvPr id="46" name="">
            <a:extLst xmlns:a="http://schemas.openxmlformats.org/drawingml/2006/main">
              <a:ext uri="{FF2B5EF4-FFF2-40B4-BE49-F238E27FC236}">
                <a16:creationId xmlns:a16="http://schemas.microsoft.com/office/drawing/2014/main" id="{E4AF90F9-9746-4C94-9756-15707AE8E4A8}"/>
              </a:ext>
            </a:extLst>
          </p:cNvPr>
          <p:cNvSpPr>
            <a:spLocks xmlns:a="http://schemas.openxmlformats.org/drawingml/2006/main" noGrp="1"/>
          </p:cNvSpPr>
          <p:nvPr/>
        </p:nvSpPr>
        <p:spPr>
          <a:xfrm xmlns:a="http://schemas.openxmlformats.org/drawingml/2006/main">
            <a:off x="4800600" y="4505325"/>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a:solidFill>
                  <a:srgbClr val="B7C0CD"/>
                </a:solidFill>
                <a:latin typeface="Aptos"/>
                <a:ea typeface="Aptos"/>
                <a:cs typeface="Aptos"/>
              </a:defRPr>
            </a:pPr>
            <a:r>
              <a:rPr sz="1200" b="0">
                <a:solidFill>
                  <a:srgbClr val="B7C0CD"/>
                </a:solidFill>
                <a:latin typeface="Aptos"/>
                <a:ea typeface="Aptos"/>
                <a:cs typeface="Aptos"/>
              </a:rPr>
              <a:t>Entity + insurance + counsel</a:t>
            </a:r>
          </a:p>
        </p:txBody>
      </p:sp>
      <p:sp>
        <p:nvSpPr>
          <p:cNvPr id="47" name="">
            <a:extLst xmlns:a="http://schemas.openxmlformats.org/drawingml/2006/main">
              <a:ext uri="{FF2B5EF4-FFF2-40B4-BE49-F238E27FC236}">
                <a16:creationId xmlns:a16="http://schemas.microsoft.com/office/drawing/2014/main" id="{04DBA129-23DA-4677-AAB5-14AE35F4E306}"/>
              </a:ext>
            </a:extLst>
          </p:cNvPr>
          <p:cNvSpPr>
            <a:spLocks xmlns:a="http://schemas.openxmlformats.org/drawingml/2006/main" noGrp="1"/>
          </p:cNvSpPr>
          <p:nvPr/>
        </p:nvSpPr>
        <p:spPr>
          <a:xfrm xmlns:a="http://schemas.openxmlformats.org/drawingml/2006/main">
            <a:off x="4457700" y="5257800"/>
            <a:ext cx="2971800" cy="476250"/>
          </a:xfrm>
          <a:prstGeom xmlns:a="http://schemas.openxmlformats.org/drawingml/2006/main" prst="roundRect">
            <a:avLst>
              <a:gd name="adj" fmla="val 24000"/>
            </a:avLst>
          </a:prstGeom>
          <a:solidFill xmlns:a="http://schemas.openxmlformats.org/drawingml/2006/main">
            <a:srgbClr val="0D1422"/>
          </a:solidFill>
          <a:ln xmlns:a="http://schemas.openxmlformats.org/drawingml/2006/main" w="9525">
            <a:solidFill>
              <a:srgbClr val="2A374A"/>
            </a:solidFill>
            <a:prstDash val="solid"/>
          </a:ln>
        </p:spPr>
      </p:sp>
      <p:sp>
        <p:nvSpPr>
          <p:cNvPr id="48" name="">
            <a:extLst xmlns:a="http://schemas.openxmlformats.org/drawingml/2006/main">
              <a:ext uri="{FF2B5EF4-FFF2-40B4-BE49-F238E27FC236}">
                <a16:creationId xmlns:a16="http://schemas.microsoft.com/office/drawing/2014/main" id="{10F89B4C-FA91-4E74-AB8D-6C8C1C153EAE}"/>
              </a:ext>
            </a:extLst>
          </p:cNvPr>
          <p:cNvSpPr>
            <a:spLocks xmlns:a="http://schemas.openxmlformats.org/drawingml/2006/main" noGrp="1"/>
          </p:cNvSpPr>
          <p:nvPr/>
        </p:nvSpPr>
        <p:spPr>
          <a:xfrm xmlns:a="http://schemas.openxmlformats.org/drawingml/2006/main">
            <a:off x="4600575" y="5400675"/>
            <a:ext cx="2686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F2B94B"/>
                </a:solidFill>
                <a:latin typeface="Aptos"/>
                <a:ea typeface="Aptos"/>
                <a:cs typeface="Aptos"/>
              </a:defRPr>
            </a:pPr>
            <a:r>
              <a:rPr sz="825" b="1">
                <a:solidFill>
                  <a:srgbClr val="F2B94B"/>
                </a:solidFill>
                <a:latin typeface="Aptos"/>
                <a:ea typeface="Aptos"/>
                <a:cs typeface="Aptos"/>
              </a:rPr>
              <a:t>GATE: 100% partner / quest / QR checklist</a:t>
            </a:r>
          </a:p>
        </p:txBody>
      </p:sp>
      <p:sp>
        <p:nvSpPr>
          <p:cNvPr id="49" name="">
            <a:extLst xmlns:a="http://schemas.openxmlformats.org/drawingml/2006/main">
              <a:ext uri="{FF2B5EF4-FFF2-40B4-BE49-F238E27FC236}">
                <a16:creationId xmlns:a16="http://schemas.microsoft.com/office/drawing/2014/main" id="{4E56E8BA-8EAE-4F1F-BDA5-E91D02855FB8}"/>
              </a:ext>
            </a:extLst>
          </p:cNvPr>
          <p:cNvSpPr>
            <a:spLocks xmlns:a="http://schemas.openxmlformats.org/drawingml/2006/main" noGrp="1"/>
          </p:cNvSpPr>
          <p:nvPr/>
        </p:nvSpPr>
        <p:spPr>
          <a:xfrm xmlns:a="http://schemas.openxmlformats.org/drawingml/2006/main">
            <a:off x="7905750" y="1619250"/>
            <a:ext cx="3429000" cy="4305300"/>
          </a:xfrm>
          <a:prstGeom xmlns:a="http://schemas.openxmlformats.org/drawingml/2006/main" prst="roundRect">
            <a:avLst>
              <a:gd name="adj" fmla="val 6111"/>
            </a:avLst>
          </a:prstGeom>
          <a:solidFill xmlns:a="http://schemas.openxmlformats.org/drawingml/2006/main">
            <a:srgbClr val="151F30"/>
          </a:solidFill>
          <a:ln xmlns:a="http://schemas.openxmlformats.org/drawingml/2006/main" w="9525">
            <a:solidFill>
              <a:srgbClr val="2A374A"/>
            </a:solidFill>
            <a:prstDash val="solid"/>
          </a:ln>
        </p:spPr>
      </p:sp>
      <p:sp>
        <p:nvSpPr>
          <p:cNvPr id="50" name="">
            <a:extLst xmlns:a="http://schemas.openxmlformats.org/drawingml/2006/main">
              <a:ext uri="{FF2B5EF4-FFF2-40B4-BE49-F238E27FC236}">
                <a16:creationId xmlns:a16="http://schemas.microsoft.com/office/drawing/2014/main" id="{D621FE3D-FFAA-43C3-9DD4-12592DF5AEE1}"/>
              </a:ext>
            </a:extLst>
          </p:cNvPr>
          <p:cNvSpPr>
            <a:spLocks xmlns:a="http://schemas.openxmlformats.org/drawingml/2006/main" noGrp="1"/>
          </p:cNvSpPr>
          <p:nvPr/>
        </p:nvSpPr>
        <p:spPr>
          <a:xfrm xmlns:a="http://schemas.openxmlformats.org/drawingml/2006/main">
            <a:off x="7905750" y="1619250"/>
            <a:ext cx="66675" cy="4305300"/>
          </a:xfrm>
          <a:prstGeom xmlns:a="http://schemas.openxmlformats.org/drawingml/2006/main" prst="rect">
            <a:avLst/>
          </a:prstGeom>
          <a:solidFill xmlns:a="http://schemas.openxmlformats.org/drawingml/2006/main">
            <a:srgbClr val="2E7D5A"/>
          </a:solidFill>
          <a:ln xmlns:a="http://schemas.openxmlformats.org/drawingml/2006/main" w="0">
            <a:solidFill>
              <a:srgbClr val="2E7D5A"/>
            </a:solidFill>
            <a:prstDash val="solid"/>
          </a:ln>
        </p:spPr>
      </p:sp>
      <p:sp>
        <p:nvSpPr>
          <p:cNvPr id="51" name="">
            <a:extLst xmlns:a="http://schemas.openxmlformats.org/drawingml/2006/main">
              <a:ext uri="{FF2B5EF4-FFF2-40B4-BE49-F238E27FC236}">
                <a16:creationId xmlns:a16="http://schemas.microsoft.com/office/drawing/2014/main" id="{82F7FAE5-B4D4-4EE6-AAD9-B80F2BE185DB}"/>
              </a:ext>
            </a:extLst>
          </p:cNvPr>
          <p:cNvSpPr>
            <a:spLocks xmlns:a="http://schemas.openxmlformats.org/drawingml/2006/main" noGrp="1"/>
          </p:cNvSpPr>
          <p:nvPr/>
        </p:nvSpPr>
        <p:spPr>
          <a:xfrm xmlns:a="http://schemas.openxmlformats.org/drawingml/2006/main">
            <a:off x="10477500" y="1809750"/>
            <a:ext cx="5905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3900" b="1">
                <a:solidFill>
                  <a:srgbClr val="253146"/>
                </a:solidFill>
                <a:latin typeface="Aptos Display"/>
                <a:ea typeface="Aptos Display"/>
                <a:cs typeface="Aptos Display"/>
              </a:defRPr>
            </a:pPr>
            <a:r>
              <a:rPr sz="3900" b="1">
                <a:solidFill>
                  <a:srgbClr val="253146"/>
                </a:solidFill>
                <a:latin typeface="Aptos Display"/>
                <a:ea typeface="Aptos Display"/>
                <a:cs typeface="Aptos Display"/>
              </a:rPr>
              <a:t>03</a:t>
            </a:r>
          </a:p>
        </p:txBody>
      </p:sp>
      <p:sp>
        <p:nvSpPr>
          <p:cNvPr id="52" name="">
            <a:extLst xmlns:a="http://schemas.openxmlformats.org/drawingml/2006/main">
              <a:ext uri="{FF2B5EF4-FFF2-40B4-BE49-F238E27FC236}">
                <a16:creationId xmlns:a16="http://schemas.microsoft.com/office/drawing/2014/main" id="{4CC5FA3C-CC4D-411C-970A-8BB66786CE27}"/>
              </a:ext>
            </a:extLst>
          </p:cNvPr>
          <p:cNvSpPr>
            <a:spLocks xmlns:a="http://schemas.openxmlformats.org/drawingml/2006/main" noGrp="1"/>
          </p:cNvSpPr>
          <p:nvPr/>
        </p:nvSpPr>
        <p:spPr>
          <a:xfrm xmlns:a="http://schemas.openxmlformats.org/drawingml/2006/main">
            <a:off x="8172450" y="1895475"/>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2E7D5A"/>
                </a:solidFill>
                <a:latin typeface="Aptos"/>
                <a:ea typeface="Aptos"/>
                <a:cs typeface="Aptos"/>
              </a:defRPr>
            </a:pPr>
            <a:r>
              <a:rPr sz="825" b="1">
                <a:solidFill>
                  <a:srgbClr val="2E7D5A"/>
                </a:solidFill>
                <a:latin typeface="Aptos"/>
                <a:ea typeface="Aptos"/>
                <a:cs typeface="Aptos"/>
              </a:rPr>
              <a:t>DAYS 46–90</a:t>
            </a:r>
          </a:p>
        </p:txBody>
      </p:sp>
      <p:sp>
        <p:nvSpPr>
          <p:cNvPr id="53" name="">
            <a:extLst xmlns:a="http://schemas.openxmlformats.org/drawingml/2006/main">
              <a:ext uri="{FF2B5EF4-FFF2-40B4-BE49-F238E27FC236}">
                <a16:creationId xmlns:a16="http://schemas.microsoft.com/office/drawing/2014/main" id="{C2D30FFE-43D8-4504-AE03-6F5CE9A7D263}"/>
              </a:ext>
            </a:extLst>
          </p:cNvPr>
          <p:cNvSpPr>
            <a:spLocks xmlns:a="http://schemas.openxmlformats.org/drawingml/2006/main" noGrp="1"/>
          </p:cNvSpPr>
          <p:nvPr/>
        </p:nvSpPr>
        <p:spPr>
          <a:xfrm xmlns:a="http://schemas.openxmlformats.org/drawingml/2006/main">
            <a:off x="8172450" y="2362200"/>
            <a:ext cx="2781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Run and learn</a:t>
            </a:r>
          </a:p>
        </p:txBody>
      </p:sp>
      <p:sp>
        <p:nvSpPr>
          <p:cNvPr id="54" name="">
            <a:extLst xmlns:a="http://schemas.openxmlformats.org/drawingml/2006/main">
              <a:ext uri="{FF2B5EF4-FFF2-40B4-BE49-F238E27FC236}">
                <a16:creationId xmlns:a16="http://schemas.microsoft.com/office/drawing/2014/main" id="{B357B9E7-00D0-4690-9682-DF78D3519C14}"/>
              </a:ext>
            </a:extLst>
          </p:cNvPr>
          <p:cNvSpPr>
            <a:spLocks xmlns:a="http://schemas.openxmlformats.org/drawingml/2006/main" noGrp="1"/>
          </p:cNvSpPr>
          <p:nvPr/>
        </p:nvSpPr>
        <p:spPr>
          <a:xfrm xmlns:a="http://schemas.openxmlformats.org/drawingml/2006/main">
            <a:off x="8181975" y="3124200"/>
            <a:ext cx="180975" cy="180975"/>
          </a:xfrm>
          <a:prstGeom xmlns:a="http://schemas.openxmlformats.org/drawingml/2006/main" prst="ellipse">
            <a:avLst/>
          </a:prstGeom>
          <a:solidFill xmlns:a="http://schemas.openxmlformats.org/drawingml/2006/main">
            <a:srgbClr val="2E7D5A">
              <a:alpha val="13333"/>
            </a:srgbClr>
          </a:solidFill>
          <a:ln xmlns:a="http://schemas.openxmlformats.org/drawingml/2006/main" w="0">
            <a:solidFill>
              <a:srgbClr val="2E7D5A">
                <a:alpha val="13333"/>
              </a:srgbClr>
            </a:solidFill>
            <a:prstDash val="solid"/>
          </a:ln>
        </p:spPr>
      </p:sp>
      <p:sp>
        <p:nvSpPr>
          <p:cNvPr id="55" name="">
            <a:extLst xmlns:a="http://schemas.openxmlformats.org/drawingml/2006/main">
              <a:ext uri="{FF2B5EF4-FFF2-40B4-BE49-F238E27FC236}">
                <a16:creationId xmlns:a16="http://schemas.microsoft.com/office/drawing/2014/main" id="{0E1E27AB-E4E8-4184-AB82-58A8EEF0265E}"/>
              </a:ext>
            </a:extLst>
          </p:cNvPr>
          <p:cNvSpPr>
            <a:spLocks xmlns:a="http://schemas.openxmlformats.org/drawingml/2006/main" noGrp="1"/>
          </p:cNvSpPr>
          <p:nvPr/>
        </p:nvSpPr>
        <p:spPr>
          <a:xfrm xmlns:a="http://schemas.openxmlformats.org/drawingml/2006/main">
            <a:off x="8220075" y="3143250"/>
            <a:ext cx="104775" cy="104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002"/>
          </a:bodyPr>
          <a:lstStyle xmlns:a="http://schemas.openxmlformats.org/drawingml/2006/main"/>
          <a:p xmlns:a="http://schemas.openxmlformats.org/drawingml/2006/main">
            <a:pPr algn="ctr">
              <a:lnSpc>
                <a:spcPct val="105000"/>
              </a:lnSpc>
              <a:buNone/>
              <a:defRPr sz="675" b="1">
                <a:solidFill>
                  <a:srgbClr val="2E7D5A"/>
                </a:solidFill>
                <a:latin typeface="Aptos"/>
                <a:ea typeface="Aptos"/>
                <a:cs typeface="Aptos"/>
              </a:defRPr>
            </a:pPr>
            <a:r>
              <a:rPr sz="675" b="1">
                <a:solidFill>
                  <a:srgbClr val="2E7D5A"/>
                </a:solidFill>
                <a:latin typeface="Aptos"/>
                <a:ea typeface="Aptos"/>
                <a:cs typeface="Aptos"/>
              </a:rPr>
              <a:t>✓</a:t>
            </a:r>
          </a:p>
        </p:txBody>
      </p:sp>
      <p:sp>
        <p:nvSpPr>
          <p:cNvPr id="56" name="">
            <a:extLst xmlns:a="http://schemas.openxmlformats.org/drawingml/2006/main">
              <a:ext uri="{FF2B5EF4-FFF2-40B4-BE49-F238E27FC236}">
                <a16:creationId xmlns:a16="http://schemas.microsoft.com/office/drawing/2014/main" id="{7DB84B31-31A4-4E43-880D-EB3D3C32C855}"/>
              </a:ext>
            </a:extLst>
          </p:cNvPr>
          <p:cNvSpPr>
            <a:spLocks xmlns:a="http://schemas.openxmlformats.org/drawingml/2006/main" noGrp="1"/>
          </p:cNvSpPr>
          <p:nvPr/>
        </p:nvSpPr>
        <p:spPr>
          <a:xfrm xmlns:a="http://schemas.openxmlformats.org/drawingml/2006/main">
            <a:off x="8477250" y="31051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a:solidFill>
                  <a:srgbClr val="B7C0CD"/>
                </a:solidFill>
                <a:latin typeface="Aptos"/>
                <a:ea typeface="Aptos"/>
                <a:cs typeface="Aptos"/>
              </a:defRPr>
            </a:pPr>
            <a:r>
              <a:rPr sz="1200" b="0">
                <a:solidFill>
                  <a:srgbClr val="B7C0CD"/>
                </a:solidFill>
                <a:latin typeface="Aptos"/>
                <a:ea typeface="Aptos"/>
                <a:cs typeface="Aptos"/>
              </a:rPr>
              <a:t>Recruit 25–50 explorers</a:t>
            </a:r>
          </a:p>
        </p:txBody>
      </p:sp>
      <p:sp>
        <p:nvSpPr>
          <p:cNvPr id="57" name="">
            <a:extLst xmlns:a="http://schemas.openxmlformats.org/drawingml/2006/main">
              <a:ext uri="{FF2B5EF4-FFF2-40B4-BE49-F238E27FC236}">
                <a16:creationId xmlns:a16="http://schemas.microsoft.com/office/drawing/2014/main" id="{B11A1DA0-B061-4B95-AFA1-6702891BC611}"/>
              </a:ext>
            </a:extLst>
          </p:cNvPr>
          <p:cNvSpPr>
            <a:spLocks xmlns:a="http://schemas.openxmlformats.org/drawingml/2006/main" noGrp="1"/>
          </p:cNvSpPr>
          <p:nvPr/>
        </p:nvSpPr>
        <p:spPr>
          <a:xfrm xmlns:a="http://schemas.openxmlformats.org/drawingml/2006/main">
            <a:off x="8181975" y="3590925"/>
            <a:ext cx="180975" cy="180975"/>
          </a:xfrm>
          <a:prstGeom xmlns:a="http://schemas.openxmlformats.org/drawingml/2006/main" prst="ellipse">
            <a:avLst/>
          </a:prstGeom>
          <a:solidFill xmlns:a="http://schemas.openxmlformats.org/drawingml/2006/main">
            <a:srgbClr val="2E7D5A">
              <a:alpha val="13333"/>
            </a:srgbClr>
          </a:solidFill>
          <a:ln xmlns:a="http://schemas.openxmlformats.org/drawingml/2006/main" w="0">
            <a:solidFill>
              <a:srgbClr val="2E7D5A">
                <a:alpha val="13333"/>
              </a:srgbClr>
            </a:solidFill>
            <a:prstDash val="solid"/>
          </a:ln>
        </p:spPr>
      </p:sp>
      <p:sp>
        <p:nvSpPr>
          <p:cNvPr id="58" name="">
            <a:extLst xmlns:a="http://schemas.openxmlformats.org/drawingml/2006/main">
              <a:ext uri="{FF2B5EF4-FFF2-40B4-BE49-F238E27FC236}">
                <a16:creationId xmlns:a16="http://schemas.microsoft.com/office/drawing/2014/main" id="{EDBFA65D-A502-4D59-A212-1690A82BAE08}"/>
              </a:ext>
            </a:extLst>
          </p:cNvPr>
          <p:cNvSpPr>
            <a:spLocks xmlns:a="http://schemas.openxmlformats.org/drawingml/2006/main" noGrp="1"/>
          </p:cNvSpPr>
          <p:nvPr/>
        </p:nvSpPr>
        <p:spPr>
          <a:xfrm xmlns:a="http://schemas.openxmlformats.org/drawingml/2006/main">
            <a:off x="8220075" y="3609975"/>
            <a:ext cx="104775" cy="104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002"/>
          </a:bodyPr>
          <a:lstStyle xmlns:a="http://schemas.openxmlformats.org/drawingml/2006/main"/>
          <a:p xmlns:a="http://schemas.openxmlformats.org/drawingml/2006/main">
            <a:pPr algn="ctr">
              <a:lnSpc>
                <a:spcPct val="105000"/>
              </a:lnSpc>
              <a:buNone/>
              <a:defRPr sz="675" b="1">
                <a:solidFill>
                  <a:srgbClr val="2E7D5A"/>
                </a:solidFill>
                <a:latin typeface="Aptos"/>
                <a:ea typeface="Aptos"/>
                <a:cs typeface="Aptos"/>
              </a:defRPr>
            </a:pPr>
            <a:r>
              <a:rPr sz="675" b="1">
                <a:solidFill>
                  <a:srgbClr val="2E7D5A"/>
                </a:solidFill>
                <a:latin typeface="Aptos"/>
                <a:ea typeface="Aptos"/>
                <a:cs typeface="Aptos"/>
              </a:rPr>
              <a:t>✓</a:t>
            </a:r>
          </a:p>
        </p:txBody>
      </p:sp>
      <p:sp>
        <p:nvSpPr>
          <p:cNvPr id="59" name="">
            <a:extLst xmlns:a="http://schemas.openxmlformats.org/drawingml/2006/main">
              <a:ext uri="{FF2B5EF4-FFF2-40B4-BE49-F238E27FC236}">
                <a16:creationId xmlns:a16="http://schemas.microsoft.com/office/drawing/2014/main" id="{EBF6C3D6-B93E-4597-937A-836981A51DC0}"/>
              </a:ext>
            </a:extLst>
          </p:cNvPr>
          <p:cNvSpPr>
            <a:spLocks xmlns:a="http://schemas.openxmlformats.org/drawingml/2006/main" noGrp="1"/>
          </p:cNvSpPr>
          <p:nvPr/>
        </p:nvSpPr>
        <p:spPr>
          <a:xfrm xmlns:a="http://schemas.openxmlformats.org/drawingml/2006/main">
            <a:off x="8477250" y="3571875"/>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a:solidFill>
                  <a:srgbClr val="B7C0CD"/>
                </a:solidFill>
                <a:latin typeface="Aptos"/>
                <a:ea typeface="Aptos"/>
                <a:cs typeface="Aptos"/>
              </a:defRPr>
            </a:pPr>
            <a:r>
              <a:rPr sz="1200" b="0">
                <a:solidFill>
                  <a:srgbClr val="B7C0CD"/>
                </a:solidFill>
                <a:latin typeface="Aptos"/>
                <a:ea typeface="Aptos"/>
                <a:cs typeface="Aptos"/>
              </a:rPr>
              <a:t>Weekly field QA</a:t>
            </a:r>
          </a:p>
        </p:txBody>
      </p:sp>
      <p:sp>
        <p:nvSpPr>
          <p:cNvPr id="60" name="">
            <a:extLst xmlns:a="http://schemas.openxmlformats.org/drawingml/2006/main">
              <a:ext uri="{FF2B5EF4-FFF2-40B4-BE49-F238E27FC236}">
                <a16:creationId xmlns:a16="http://schemas.microsoft.com/office/drawing/2014/main" id="{47955299-280E-4B37-8B81-240B2B534B3B}"/>
              </a:ext>
            </a:extLst>
          </p:cNvPr>
          <p:cNvSpPr>
            <a:spLocks xmlns:a="http://schemas.openxmlformats.org/drawingml/2006/main" noGrp="1"/>
          </p:cNvSpPr>
          <p:nvPr/>
        </p:nvSpPr>
        <p:spPr>
          <a:xfrm xmlns:a="http://schemas.openxmlformats.org/drawingml/2006/main">
            <a:off x="8181975" y="4057650"/>
            <a:ext cx="180975" cy="180975"/>
          </a:xfrm>
          <a:prstGeom xmlns:a="http://schemas.openxmlformats.org/drawingml/2006/main" prst="ellipse">
            <a:avLst/>
          </a:prstGeom>
          <a:solidFill xmlns:a="http://schemas.openxmlformats.org/drawingml/2006/main">
            <a:srgbClr val="2E7D5A">
              <a:alpha val="13333"/>
            </a:srgbClr>
          </a:solidFill>
          <a:ln xmlns:a="http://schemas.openxmlformats.org/drawingml/2006/main" w="0">
            <a:solidFill>
              <a:srgbClr val="2E7D5A">
                <a:alpha val="13333"/>
              </a:srgbClr>
            </a:solidFill>
            <a:prstDash val="solid"/>
          </a:ln>
        </p:spPr>
      </p:sp>
      <p:sp>
        <p:nvSpPr>
          <p:cNvPr id="61" name="">
            <a:extLst xmlns:a="http://schemas.openxmlformats.org/drawingml/2006/main">
              <a:ext uri="{FF2B5EF4-FFF2-40B4-BE49-F238E27FC236}">
                <a16:creationId xmlns:a16="http://schemas.microsoft.com/office/drawing/2014/main" id="{389EA9A4-D92F-44C5-A124-833A22CEFB67}"/>
              </a:ext>
            </a:extLst>
          </p:cNvPr>
          <p:cNvSpPr>
            <a:spLocks xmlns:a="http://schemas.openxmlformats.org/drawingml/2006/main" noGrp="1"/>
          </p:cNvSpPr>
          <p:nvPr/>
        </p:nvSpPr>
        <p:spPr>
          <a:xfrm xmlns:a="http://schemas.openxmlformats.org/drawingml/2006/main">
            <a:off x="8220075" y="4076700"/>
            <a:ext cx="104775" cy="104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002"/>
          </a:bodyPr>
          <a:lstStyle xmlns:a="http://schemas.openxmlformats.org/drawingml/2006/main"/>
          <a:p xmlns:a="http://schemas.openxmlformats.org/drawingml/2006/main">
            <a:pPr algn="ctr">
              <a:lnSpc>
                <a:spcPct val="105000"/>
              </a:lnSpc>
              <a:buNone/>
              <a:defRPr sz="675" b="1">
                <a:solidFill>
                  <a:srgbClr val="2E7D5A"/>
                </a:solidFill>
                <a:latin typeface="Aptos"/>
                <a:ea typeface="Aptos"/>
                <a:cs typeface="Aptos"/>
              </a:defRPr>
            </a:pPr>
            <a:r>
              <a:rPr sz="675" b="1">
                <a:solidFill>
                  <a:srgbClr val="2E7D5A"/>
                </a:solidFill>
                <a:latin typeface="Aptos"/>
                <a:ea typeface="Aptos"/>
                <a:cs typeface="Aptos"/>
              </a:rPr>
              <a:t>✓</a:t>
            </a:r>
          </a:p>
        </p:txBody>
      </p:sp>
      <p:sp>
        <p:nvSpPr>
          <p:cNvPr id="62" name="">
            <a:extLst xmlns:a="http://schemas.openxmlformats.org/drawingml/2006/main">
              <a:ext uri="{FF2B5EF4-FFF2-40B4-BE49-F238E27FC236}">
                <a16:creationId xmlns:a16="http://schemas.microsoft.com/office/drawing/2014/main" id="{1333E9B9-A1FB-499C-AFAB-455536330BDF}"/>
              </a:ext>
            </a:extLst>
          </p:cNvPr>
          <p:cNvSpPr>
            <a:spLocks xmlns:a="http://schemas.openxmlformats.org/drawingml/2006/main" noGrp="1"/>
          </p:cNvSpPr>
          <p:nvPr/>
        </p:nvSpPr>
        <p:spPr>
          <a:xfrm xmlns:a="http://schemas.openxmlformats.org/drawingml/2006/main">
            <a:off x="8477250" y="40386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a:solidFill>
                  <a:srgbClr val="B7C0CD"/>
                </a:solidFill>
                <a:latin typeface="Aptos"/>
                <a:ea typeface="Aptos"/>
                <a:cs typeface="Aptos"/>
              </a:defRPr>
            </a:pPr>
            <a:r>
              <a:rPr sz="1200" b="0">
                <a:solidFill>
                  <a:srgbClr val="B7C0CD"/>
                </a:solidFill>
                <a:latin typeface="Aptos"/>
                <a:ea typeface="Aptos"/>
                <a:cs typeface="Aptos"/>
              </a:rPr>
              <a:t>Measure repeat + redemption</a:t>
            </a:r>
          </a:p>
        </p:txBody>
      </p:sp>
      <p:sp>
        <p:nvSpPr>
          <p:cNvPr id="63" name="">
            <a:extLst xmlns:a="http://schemas.openxmlformats.org/drawingml/2006/main">
              <a:ext uri="{FF2B5EF4-FFF2-40B4-BE49-F238E27FC236}">
                <a16:creationId xmlns:a16="http://schemas.microsoft.com/office/drawing/2014/main" id="{590CF574-9743-4F35-8F75-38B008B9A55A}"/>
              </a:ext>
            </a:extLst>
          </p:cNvPr>
          <p:cNvSpPr>
            <a:spLocks xmlns:a="http://schemas.openxmlformats.org/drawingml/2006/main" noGrp="1"/>
          </p:cNvSpPr>
          <p:nvPr/>
        </p:nvSpPr>
        <p:spPr>
          <a:xfrm xmlns:a="http://schemas.openxmlformats.org/drawingml/2006/main">
            <a:off x="8181975" y="4524375"/>
            <a:ext cx="180975" cy="180975"/>
          </a:xfrm>
          <a:prstGeom xmlns:a="http://schemas.openxmlformats.org/drawingml/2006/main" prst="ellipse">
            <a:avLst/>
          </a:prstGeom>
          <a:solidFill xmlns:a="http://schemas.openxmlformats.org/drawingml/2006/main">
            <a:srgbClr val="2E7D5A">
              <a:alpha val="13333"/>
            </a:srgbClr>
          </a:solidFill>
          <a:ln xmlns:a="http://schemas.openxmlformats.org/drawingml/2006/main" w="0">
            <a:solidFill>
              <a:srgbClr val="2E7D5A">
                <a:alpha val="13333"/>
              </a:srgbClr>
            </a:solidFill>
            <a:prstDash val="solid"/>
          </a:ln>
        </p:spPr>
      </p:sp>
      <p:sp>
        <p:nvSpPr>
          <p:cNvPr id="64" name="">
            <a:extLst xmlns:a="http://schemas.openxmlformats.org/drawingml/2006/main">
              <a:ext uri="{FF2B5EF4-FFF2-40B4-BE49-F238E27FC236}">
                <a16:creationId xmlns:a16="http://schemas.microsoft.com/office/drawing/2014/main" id="{EE64CA10-8EF1-4551-AEB5-28400447E9E4}"/>
              </a:ext>
            </a:extLst>
          </p:cNvPr>
          <p:cNvSpPr>
            <a:spLocks xmlns:a="http://schemas.openxmlformats.org/drawingml/2006/main" noGrp="1"/>
          </p:cNvSpPr>
          <p:nvPr/>
        </p:nvSpPr>
        <p:spPr>
          <a:xfrm xmlns:a="http://schemas.openxmlformats.org/drawingml/2006/main">
            <a:off x="8220075" y="4543425"/>
            <a:ext cx="104775" cy="104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002"/>
          </a:bodyPr>
          <a:lstStyle xmlns:a="http://schemas.openxmlformats.org/drawingml/2006/main"/>
          <a:p xmlns:a="http://schemas.openxmlformats.org/drawingml/2006/main">
            <a:pPr algn="ctr">
              <a:lnSpc>
                <a:spcPct val="105000"/>
              </a:lnSpc>
              <a:buNone/>
              <a:defRPr sz="675" b="1">
                <a:solidFill>
                  <a:srgbClr val="2E7D5A"/>
                </a:solidFill>
                <a:latin typeface="Aptos"/>
                <a:ea typeface="Aptos"/>
                <a:cs typeface="Aptos"/>
              </a:defRPr>
            </a:pPr>
            <a:r>
              <a:rPr sz="675" b="1">
                <a:solidFill>
                  <a:srgbClr val="2E7D5A"/>
                </a:solidFill>
                <a:latin typeface="Aptos"/>
                <a:ea typeface="Aptos"/>
                <a:cs typeface="Aptos"/>
              </a:rPr>
              <a:t>✓</a:t>
            </a:r>
          </a:p>
        </p:txBody>
      </p:sp>
      <p:sp>
        <p:nvSpPr>
          <p:cNvPr id="65" name="">
            <a:extLst xmlns:a="http://schemas.openxmlformats.org/drawingml/2006/main">
              <a:ext uri="{FF2B5EF4-FFF2-40B4-BE49-F238E27FC236}">
                <a16:creationId xmlns:a16="http://schemas.microsoft.com/office/drawing/2014/main" id="{F0551950-2514-4B38-B8D3-9C327D5FFF50}"/>
              </a:ext>
            </a:extLst>
          </p:cNvPr>
          <p:cNvSpPr>
            <a:spLocks xmlns:a="http://schemas.openxmlformats.org/drawingml/2006/main" noGrp="1"/>
          </p:cNvSpPr>
          <p:nvPr/>
        </p:nvSpPr>
        <p:spPr>
          <a:xfrm xmlns:a="http://schemas.openxmlformats.org/drawingml/2006/main">
            <a:off x="8477250" y="4505325"/>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a:solidFill>
                  <a:srgbClr val="B7C0CD"/>
                </a:solidFill>
                <a:latin typeface="Aptos"/>
                <a:ea typeface="Aptos"/>
                <a:cs typeface="Aptos"/>
              </a:defRPr>
            </a:pPr>
            <a:r>
              <a:rPr sz="1200" b="0">
                <a:solidFill>
                  <a:srgbClr val="B7C0CD"/>
                </a:solidFill>
                <a:latin typeface="Aptos"/>
                <a:ea typeface="Aptos"/>
                <a:cs typeface="Aptos"/>
              </a:rPr>
              <a:t>Ask partners to renew / pay</a:t>
            </a:r>
          </a:p>
        </p:txBody>
      </p:sp>
      <p:sp>
        <p:nvSpPr>
          <p:cNvPr id="66" name="">
            <a:extLst xmlns:a="http://schemas.openxmlformats.org/drawingml/2006/main">
              <a:ext uri="{FF2B5EF4-FFF2-40B4-BE49-F238E27FC236}">
                <a16:creationId xmlns:a16="http://schemas.microsoft.com/office/drawing/2014/main" id="{3D04575B-9409-4FDF-BAEC-9309D4F29A68}"/>
              </a:ext>
            </a:extLst>
          </p:cNvPr>
          <p:cNvSpPr>
            <a:spLocks xmlns:a="http://schemas.openxmlformats.org/drawingml/2006/main" noGrp="1"/>
          </p:cNvSpPr>
          <p:nvPr/>
        </p:nvSpPr>
        <p:spPr>
          <a:xfrm xmlns:a="http://schemas.openxmlformats.org/drawingml/2006/main">
            <a:off x="8134350" y="5257800"/>
            <a:ext cx="2971800" cy="476250"/>
          </a:xfrm>
          <a:prstGeom xmlns:a="http://schemas.openxmlformats.org/drawingml/2006/main" prst="roundRect">
            <a:avLst>
              <a:gd name="adj" fmla="val 24000"/>
            </a:avLst>
          </a:prstGeom>
          <a:solidFill xmlns:a="http://schemas.openxmlformats.org/drawingml/2006/main">
            <a:srgbClr val="0D1422"/>
          </a:solidFill>
          <a:ln xmlns:a="http://schemas.openxmlformats.org/drawingml/2006/main" w="9525">
            <a:solidFill>
              <a:srgbClr val="2A374A"/>
            </a:solidFill>
            <a:prstDash val="solid"/>
          </a:ln>
        </p:spPr>
      </p:sp>
      <p:sp>
        <p:nvSpPr>
          <p:cNvPr id="67" name="">
            <a:extLst xmlns:a="http://schemas.openxmlformats.org/drawingml/2006/main">
              <a:ext uri="{FF2B5EF4-FFF2-40B4-BE49-F238E27FC236}">
                <a16:creationId xmlns:a16="http://schemas.microsoft.com/office/drawing/2014/main" id="{63B1609A-D156-4B6F-9CF2-37F8532AD39D}"/>
              </a:ext>
            </a:extLst>
          </p:cNvPr>
          <p:cNvSpPr>
            <a:spLocks xmlns:a="http://schemas.openxmlformats.org/drawingml/2006/main" noGrp="1"/>
          </p:cNvSpPr>
          <p:nvPr/>
        </p:nvSpPr>
        <p:spPr>
          <a:xfrm xmlns:a="http://schemas.openxmlformats.org/drawingml/2006/main">
            <a:off x="8277225" y="5400675"/>
            <a:ext cx="2686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2E7D5A"/>
                </a:solidFill>
                <a:latin typeface="Aptos"/>
                <a:ea typeface="Aptos"/>
                <a:cs typeface="Aptos"/>
              </a:defRPr>
            </a:pPr>
            <a:r>
              <a:rPr sz="825" b="1">
                <a:solidFill>
                  <a:srgbClr val="2E7D5A"/>
                </a:solidFill>
                <a:latin typeface="Aptos"/>
                <a:ea typeface="Aptos"/>
                <a:cs typeface="Aptos"/>
              </a:rPr>
              <a:t>GATE: repeat behavior + partner value</a:t>
            </a:r>
          </a:p>
        </p:txBody>
      </p:sp>
    </p:spTree>
    <p:extLst>
      <p:ext uri="{BB962C8B-B14F-4D97-AF65-F5344CB8AC3E}">
        <p14:creationId xmlns:p14="http://schemas.microsoft.com/office/powerpoint/2010/main" val="1409119031"/>
      </p:ext>
    </p:extLst>
  </p:cSld>
</p:sld>
</file>

<file path=ppt/slides/slide12.xml><?xml version="1.0" encoding="utf-8"?>
<p:sld xmlns:p="http://schemas.openxmlformats.org/presentationml/2006/main">
  <p:cSld>
    <p:bg>
      <p:bgPr>
        <a:solidFill xmlns:a="http://schemas.openxmlformats.org/drawingml/2006/main">
          <a:srgbClr val="F2B94B"/>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B136311-2D00-4CBD-944A-6920CB39BB78}"/>
              </a:ext>
            </a:extLst>
          </p:cNvPr>
          <p:cNvSpPr>
            <a:spLocks xmlns:a="http://schemas.openxmlformats.org/drawingml/2006/main" noGrp="1"/>
          </p:cNvSpPr>
          <p:nvPr/>
        </p:nvSpPr>
        <p:spPr>
          <a:xfrm xmlns:a="http://schemas.openxmlformats.org/drawingml/2006/main">
            <a:off x="590550" y="533400"/>
            <a:ext cx="398145" cy="471488"/>
          </a:xfrm>
          <a:prstGeom xmlns:a="http://schemas.openxmlformats.org/drawingml/2006/main" prst="roundRect">
            <a:avLst>
              <a:gd name="adj" fmla="val 47368"/>
            </a:avLst>
          </a:prstGeom>
          <a:noFill xmlns:a="http://schemas.openxmlformats.org/drawingml/2006/main"/>
          <a:ln xmlns:a="http://schemas.openxmlformats.org/drawingml/2006/main" w="41910">
            <a:solidFill>
              <a:srgbClr val="0D1321"/>
            </a:solidFill>
            <a:prstDash val="solid"/>
          </a:ln>
        </p:spPr>
      </p:sp>
      <p:sp>
        <p:nvSpPr>
          <p:cNvPr id="2" name="">
            <a:extLst xmlns:a="http://schemas.openxmlformats.org/drawingml/2006/main">
              <a:ext uri="{FF2B5EF4-FFF2-40B4-BE49-F238E27FC236}">
                <a16:creationId xmlns:a16="http://schemas.microsoft.com/office/drawing/2014/main" id="{868B6FE1-AA52-4186-A947-06E499EFC650}"/>
              </a:ext>
            </a:extLst>
          </p:cNvPr>
          <p:cNvSpPr>
            <a:spLocks xmlns:a="http://schemas.openxmlformats.org/drawingml/2006/main" noGrp="1"/>
          </p:cNvSpPr>
          <p:nvPr/>
        </p:nvSpPr>
        <p:spPr>
          <a:xfrm xmlns:a="http://schemas.openxmlformats.org/drawingml/2006/main">
            <a:off x="642938" y="847725"/>
            <a:ext cx="293370" cy="188595"/>
          </a:xfrm>
          <a:prstGeom xmlns:a="http://schemas.openxmlformats.org/drawingml/2006/main" prst="triangle">
            <a:avLst/>
          </a:prstGeom>
          <a:solidFill xmlns:a="http://schemas.openxmlformats.org/drawingml/2006/main">
            <a:srgbClr val="0D1321"/>
          </a:solidFill>
          <a:ln xmlns:a="http://schemas.openxmlformats.org/drawingml/2006/main" w="0">
            <a:solidFill>
              <a:srgbClr val="0D1321"/>
            </a:solidFill>
            <a:prstDash val="solid"/>
          </a:ln>
        </p:spPr>
      </p:sp>
      <p:sp>
        <p:nvSpPr>
          <p:cNvPr id="3" name="">
            <a:extLst xmlns:a="http://schemas.openxmlformats.org/drawingml/2006/main">
              <a:ext uri="{FF2B5EF4-FFF2-40B4-BE49-F238E27FC236}">
                <a16:creationId xmlns:a16="http://schemas.microsoft.com/office/drawing/2014/main" id="{46CA75D6-E447-49AC-9A3F-353E3CC734F7}"/>
              </a:ext>
            </a:extLst>
          </p:cNvPr>
          <p:cNvSpPr>
            <a:spLocks xmlns:a="http://schemas.openxmlformats.org/drawingml/2006/main" noGrp="1"/>
          </p:cNvSpPr>
          <p:nvPr/>
        </p:nvSpPr>
        <p:spPr>
          <a:xfrm xmlns:a="http://schemas.openxmlformats.org/drawingml/2006/main">
            <a:off x="705803" y="596265"/>
            <a:ext cx="167640" cy="167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908" b="1">
                <a:solidFill>
                  <a:srgbClr val="0D1321"/>
                </a:solidFill>
                <a:latin typeface="Aptos"/>
                <a:ea typeface="Aptos"/>
                <a:cs typeface="Aptos"/>
              </a:defRPr>
            </a:pPr>
            <a:r>
              <a:rPr sz="908" b="1">
                <a:solidFill>
                  <a:srgbClr val="0D1321"/>
                </a:solidFill>
                <a:latin typeface="Aptos"/>
                <a:ea typeface="Aptos"/>
                <a:cs typeface="Aptos"/>
              </a:rPr>
              <a:t>✦</a:t>
            </a:r>
          </a:p>
        </p:txBody>
      </p:sp>
      <p:sp>
        <p:nvSpPr>
          <p:cNvPr id="4" name="">
            <a:extLst xmlns:a="http://schemas.openxmlformats.org/drawingml/2006/main">
              <a:ext uri="{FF2B5EF4-FFF2-40B4-BE49-F238E27FC236}">
                <a16:creationId xmlns:a16="http://schemas.microsoft.com/office/drawing/2014/main" id="{55879A07-756F-4810-B6EC-F508580B8351}"/>
              </a:ext>
            </a:extLst>
          </p:cNvPr>
          <p:cNvSpPr>
            <a:spLocks xmlns:a="http://schemas.openxmlformats.org/drawingml/2006/main" noGrp="1"/>
          </p:cNvSpPr>
          <p:nvPr/>
        </p:nvSpPr>
        <p:spPr>
          <a:xfrm xmlns:a="http://schemas.openxmlformats.org/drawingml/2006/main">
            <a:off x="1143000" y="6477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0D1321"/>
                </a:solidFill>
                <a:latin typeface="Aptos Display"/>
                <a:ea typeface="Aptos Display"/>
                <a:cs typeface="Aptos Display"/>
              </a:defRPr>
            </a:pPr>
            <a:r>
              <a:rPr sz="1650" b="1">
                <a:solidFill>
                  <a:srgbClr val="0D1321"/>
                </a:solidFill>
                <a:latin typeface="Aptos Display"/>
                <a:ea typeface="Aptos Display"/>
                <a:cs typeface="Aptos Display"/>
              </a:rPr>
              <a:t>sidequests</a:t>
            </a:r>
          </a:p>
        </p:txBody>
      </p:sp>
      <p:sp>
        <p:nvSpPr>
          <p:cNvPr id="5" name="">
            <a:extLst xmlns:a="http://schemas.openxmlformats.org/drawingml/2006/main">
              <a:ext uri="{FF2B5EF4-FFF2-40B4-BE49-F238E27FC236}">
                <a16:creationId xmlns:a16="http://schemas.microsoft.com/office/drawing/2014/main" id="{674BC494-3C5A-4DF5-B9D5-4EB4B1660B17}"/>
              </a:ext>
            </a:extLst>
          </p:cNvPr>
          <p:cNvSpPr>
            <a:spLocks xmlns:a="http://schemas.openxmlformats.org/drawingml/2006/main" noGrp="1"/>
          </p:cNvSpPr>
          <p:nvPr/>
        </p:nvSpPr>
        <p:spPr>
          <a:xfrm xmlns:a="http://schemas.openxmlformats.org/drawingml/2006/main">
            <a:off x="590550" y="144780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a:solidFill>
                  <a:srgbClr val="6D511A"/>
                </a:solidFill>
                <a:latin typeface="Aptos"/>
                <a:ea typeface="Aptos"/>
                <a:cs typeface="Aptos"/>
              </a:defRPr>
            </a:pPr>
            <a:r>
              <a:rPr sz="900" b="1">
                <a:solidFill>
                  <a:srgbClr val="6D511A"/>
                </a:solidFill>
                <a:latin typeface="Aptos"/>
                <a:ea typeface="Aptos"/>
                <a:cs typeface="Aptos"/>
              </a:rPr>
              <a:t>THE NEXT MILESTONE</a:t>
            </a:r>
          </a:p>
        </p:txBody>
      </p:sp>
      <p:sp>
        <p:nvSpPr>
          <p:cNvPr id="6" name="">
            <a:extLst xmlns:a="http://schemas.openxmlformats.org/drawingml/2006/main">
              <a:ext uri="{FF2B5EF4-FFF2-40B4-BE49-F238E27FC236}">
                <a16:creationId xmlns:a16="http://schemas.microsoft.com/office/drawing/2014/main" id="{9DE4F0C8-13FA-4CD1-9456-74D9C8873158}"/>
              </a:ext>
            </a:extLst>
          </p:cNvPr>
          <p:cNvSpPr>
            <a:spLocks xmlns:a="http://schemas.openxmlformats.org/drawingml/2006/main" noGrp="1"/>
          </p:cNvSpPr>
          <p:nvPr/>
        </p:nvSpPr>
        <p:spPr>
          <a:xfrm xmlns:a="http://schemas.openxmlformats.org/drawingml/2006/main">
            <a:off x="590550" y="1924050"/>
            <a:ext cx="885825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321"/>
          </a:bodyPr>
          <a:lstStyle xmlns:a="http://schemas.openxmlformats.org/drawingml/2006/main"/>
          <a:p xmlns:a="http://schemas.openxmlformats.org/drawingml/2006/main">
            <a:pPr algn="l">
              <a:lnSpc>
                <a:spcPct val="98000"/>
              </a:lnSpc>
              <a:buNone/>
              <a:defRPr sz="4800" b="1">
                <a:solidFill>
                  <a:srgbClr val="0D1321"/>
                </a:solidFill>
                <a:latin typeface="Aptos Display"/>
                <a:ea typeface="Aptos Display"/>
                <a:cs typeface="Aptos Display"/>
              </a:defRPr>
            </a:pPr>
            <a:r>
              <a:rPr sz="4800" b="1">
                <a:solidFill>
                  <a:srgbClr val="0D1321"/>
                </a:solidFill>
                <a:latin typeface="Aptos Display"/>
                <a:ea typeface="Aptos Display"/>
                <a:cs typeface="Aptos Display"/>
              </a:rPr>
              <a:t>One real-world loop.</a:t>
            </a:r>
          </a:p>
          <a:p xmlns:a="http://schemas.openxmlformats.org/drawingml/2006/main">
            <a:pPr algn="l">
              <a:lnSpc>
                <a:spcPct val="98000"/>
              </a:lnSpc>
              <a:buNone/>
              <a:defRPr sz="4800" b="1">
                <a:solidFill>
                  <a:srgbClr val="0D1321"/>
                </a:solidFill>
                <a:latin typeface="Aptos Display"/>
                <a:ea typeface="Aptos Display"/>
                <a:cs typeface="Aptos Display"/>
              </a:defRPr>
            </a:pPr>
            <a:r>
              <a:rPr sz="4800" b="1">
                <a:solidFill>
                  <a:srgbClr val="0D1321"/>
                </a:solidFill>
                <a:latin typeface="Aptos Display"/>
                <a:ea typeface="Aptos Display"/>
                <a:cs typeface="Aptos Display"/>
              </a:rPr>
              <a:t>One source of truth.</a:t>
            </a:r>
          </a:p>
          <a:p xmlns:a="http://schemas.openxmlformats.org/drawingml/2006/main">
            <a:pPr algn="l">
              <a:lnSpc>
                <a:spcPct val="98000"/>
              </a:lnSpc>
              <a:buNone/>
              <a:defRPr sz="4800" b="1">
                <a:solidFill>
                  <a:srgbClr val="0D1321"/>
                </a:solidFill>
                <a:latin typeface="Aptos Display"/>
                <a:ea typeface="Aptos Display"/>
                <a:cs typeface="Aptos Display"/>
              </a:defRPr>
            </a:pPr>
            <a:r>
              <a:rPr sz="4800" b="1">
                <a:solidFill>
                  <a:srgbClr val="0D1321"/>
                </a:solidFill>
                <a:latin typeface="Aptos Display"/>
                <a:ea typeface="Aptos Display"/>
                <a:cs typeface="Aptos Display"/>
              </a:rPr>
              <a:t>One measurable outcome.</a:t>
            </a:r>
          </a:p>
        </p:txBody>
      </p:sp>
      <p:sp>
        <p:nvSpPr>
          <p:cNvPr id="7" name="">
            <a:extLst xmlns:a="http://schemas.openxmlformats.org/drawingml/2006/main">
              <a:ext uri="{FF2B5EF4-FFF2-40B4-BE49-F238E27FC236}">
                <a16:creationId xmlns:a16="http://schemas.microsoft.com/office/drawing/2014/main" id="{79B8B0BD-9FF5-48BF-9315-7DDF2A50AEFD}"/>
              </a:ext>
            </a:extLst>
          </p:cNvPr>
          <p:cNvSpPr>
            <a:spLocks xmlns:a="http://schemas.openxmlformats.org/drawingml/2006/main" noGrp="1"/>
          </p:cNvSpPr>
          <p:nvPr/>
        </p:nvSpPr>
        <p:spPr>
          <a:xfrm xmlns:a="http://schemas.openxmlformats.org/drawingml/2006/main">
            <a:off x="590550" y="4552950"/>
            <a:ext cx="6667500" cy="1143000"/>
          </a:xfrm>
          <a:prstGeom xmlns:a="http://schemas.openxmlformats.org/drawingml/2006/main" prst="roundRect">
            <a:avLst>
              <a:gd name="adj" fmla="val 15000"/>
            </a:avLst>
          </a:prstGeom>
          <a:solidFill xmlns:a="http://schemas.openxmlformats.org/drawingml/2006/main">
            <a:srgbClr val="E3A92F"/>
          </a:solidFill>
          <a:ln xmlns:a="http://schemas.openxmlformats.org/drawingml/2006/main" w="0">
            <a:solidFill>
              <a:srgbClr val="E3A92F"/>
            </a:solidFill>
            <a:prstDash val="solid"/>
          </a:ln>
        </p:spPr>
      </p:sp>
      <p:sp>
        <p:nvSpPr>
          <p:cNvPr id="8" name="">
            <a:extLst xmlns:a="http://schemas.openxmlformats.org/drawingml/2006/main">
              <a:ext uri="{FF2B5EF4-FFF2-40B4-BE49-F238E27FC236}">
                <a16:creationId xmlns:a16="http://schemas.microsoft.com/office/drawing/2014/main" id="{964F7716-7EAC-46F1-A5DC-1978D92A46EF}"/>
              </a:ext>
            </a:extLst>
          </p:cNvPr>
          <p:cNvSpPr>
            <a:spLocks xmlns:a="http://schemas.openxmlformats.org/drawingml/2006/main" noGrp="1"/>
          </p:cNvSpPr>
          <p:nvPr/>
        </p:nvSpPr>
        <p:spPr>
          <a:xfrm xmlns:a="http://schemas.openxmlformats.org/drawingml/2006/main">
            <a:off x="819150" y="476250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6B4A08"/>
                </a:solidFill>
                <a:latin typeface="Aptos"/>
                <a:ea typeface="Aptos"/>
                <a:cs typeface="Aptos"/>
              </a:defRPr>
            </a:pPr>
            <a:r>
              <a:rPr sz="825" b="1">
                <a:solidFill>
                  <a:srgbClr val="6B4A08"/>
                </a:solidFill>
                <a:latin typeface="Aptos"/>
                <a:ea typeface="Aptos"/>
                <a:cs typeface="Aptos"/>
              </a:rPr>
              <a:t>PILOT-READY DEFINITION</a:t>
            </a:r>
          </a:p>
        </p:txBody>
      </p:sp>
      <p:sp>
        <p:nvSpPr>
          <p:cNvPr id="9" name="">
            <a:extLst xmlns:a="http://schemas.openxmlformats.org/drawingml/2006/main">
              <a:ext uri="{FF2B5EF4-FFF2-40B4-BE49-F238E27FC236}">
                <a16:creationId xmlns:a16="http://schemas.microsoft.com/office/drawing/2014/main" id="{7FEDC892-83CB-4634-B1D8-6EF138349225}"/>
              </a:ext>
            </a:extLst>
          </p:cNvPr>
          <p:cNvSpPr>
            <a:spLocks xmlns:a="http://schemas.openxmlformats.org/drawingml/2006/main" noGrp="1"/>
          </p:cNvSpPr>
          <p:nvPr/>
        </p:nvSpPr>
        <p:spPr>
          <a:xfrm xmlns:a="http://schemas.openxmlformats.org/drawingml/2006/main">
            <a:off x="819150" y="5114925"/>
            <a:ext cx="609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238"/>
          </a:bodyPr>
          <a:lstStyle xmlns:a="http://schemas.openxmlformats.org/drawingml/2006/main"/>
          <a:p xmlns:a="http://schemas.openxmlformats.org/drawingml/2006/main">
            <a:pPr algn="l">
              <a:lnSpc>
                <a:spcPct val="105000"/>
              </a:lnSpc>
              <a:buNone/>
              <a:defRPr sz="1500" b="1">
                <a:solidFill>
                  <a:srgbClr val="0D1321"/>
                </a:solidFill>
                <a:latin typeface="Aptos"/>
                <a:ea typeface="Aptos"/>
                <a:cs typeface="Aptos"/>
              </a:defRPr>
            </a:pPr>
            <a:r>
              <a:rPr sz="1500" b="1">
                <a:solidFill>
                  <a:srgbClr val="0D1321"/>
                </a:solidFill>
                <a:latin typeface="Aptos"/>
                <a:ea typeface="Aptos"/>
                <a:cs typeface="Aptos"/>
              </a:rPr>
              <a:t>A real explorer discovers, scans, completes, progresses, redeems and returns—and every step can be observed.</a:t>
            </a:r>
          </a:p>
        </p:txBody>
      </p:sp>
      <p:sp>
        <p:nvSpPr>
          <p:cNvPr id="10" name="">
            <a:extLst xmlns:a="http://schemas.openxmlformats.org/drawingml/2006/main">
              <a:ext uri="{FF2B5EF4-FFF2-40B4-BE49-F238E27FC236}">
                <a16:creationId xmlns:a16="http://schemas.microsoft.com/office/drawing/2014/main" id="{345B665D-50F3-4EBA-A2FB-A514DB0696FD}"/>
              </a:ext>
            </a:extLst>
          </p:cNvPr>
          <p:cNvSpPr>
            <a:spLocks xmlns:a="http://schemas.openxmlformats.org/drawingml/2006/main" noGrp="1"/>
          </p:cNvSpPr>
          <p:nvPr/>
        </p:nvSpPr>
        <p:spPr>
          <a:xfrm xmlns:a="http://schemas.openxmlformats.org/drawingml/2006/main">
            <a:off x="8420100" y="1009650"/>
            <a:ext cx="3181350" cy="4686300"/>
          </a:xfrm>
          <a:prstGeom xmlns:a="http://schemas.openxmlformats.org/drawingml/2006/main" prst="roundRect">
            <a:avLst>
              <a:gd name="adj" fmla="val 8383"/>
            </a:avLst>
          </a:prstGeom>
          <a:solidFill xmlns:a="http://schemas.openxmlformats.org/drawingml/2006/main">
            <a:srgbClr val="0D1321"/>
          </a:solidFill>
          <a:ln xmlns:a="http://schemas.openxmlformats.org/drawingml/2006/main" w="0">
            <a:solidFill>
              <a:srgbClr val="0D1321"/>
            </a:solidFill>
            <a:prstDash val="solid"/>
          </a:ln>
        </p:spPr>
      </p:sp>
      <p:sp>
        <p:nvSpPr>
          <p:cNvPr id="11" name="">
            <a:extLst xmlns:a="http://schemas.openxmlformats.org/drawingml/2006/main">
              <a:ext uri="{FF2B5EF4-FFF2-40B4-BE49-F238E27FC236}">
                <a16:creationId xmlns:a16="http://schemas.microsoft.com/office/drawing/2014/main" id="{86E8F6A0-168D-4CB4-80B0-F678623D76D6}"/>
              </a:ext>
            </a:extLst>
          </p:cNvPr>
          <p:cNvSpPr>
            <a:spLocks xmlns:a="http://schemas.openxmlformats.org/drawingml/2006/main" noGrp="1"/>
          </p:cNvSpPr>
          <p:nvPr/>
        </p:nvSpPr>
        <p:spPr>
          <a:xfrm xmlns:a="http://schemas.openxmlformats.org/drawingml/2006/main">
            <a:off x="8724900" y="1371600"/>
            <a:ext cx="161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F2B94B"/>
                </a:solidFill>
                <a:latin typeface="Aptos"/>
                <a:ea typeface="Aptos"/>
                <a:cs typeface="Aptos"/>
              </a:defRPr>
            </a:pPr>
            <a:r>
              <a:rPr sz="825" b="1">
                <a:solidFill>
                  <a:srgbClr val="F2B94B"/>
                </a:solidFill>
                <a:latin typeface="Aptos"/>
                <a:ea typeface="Aptos"/>
                <a:cs typeface="Aptos"/>
              </a:rPr>
              <a:t>DECISION GATE</a:t>
            </a:r>
          </a:p>
        </p:txBody>
      </p:sp>
      <p:sp>
        <p:nvSpPr>
          <p:cNvPr id="12" name="">
            <a:extLst xmlns:a="http://schemas.openxmlformats.org/drawingml/2006/main">
              <a:ext uri="{FF2B5EF4-FFF2-40B4-BE49-F238E27FC236}">
                <a16:creationId xmlns:a16="http://schemas.microsoft.com/office/drawing/2014/main" id="{6535999A-55B5-448D-865E-07CC2BFD9D78}"/>
              </a:ext>
            </a:extLst>
          </p:cNvPr>
          <p:cNvSpPr>
            <a:spLocks xmlns:a="http://schemas.openxmlformats.org/drawingml/2006/main" noGrp="1"/>
          </p:cNvSpPr>
          <p:nvPr/>
        </p:nvSpPr>
        <p:spPr>
          <a:xfrm xmlns:a="http://schemas.openxmlformats.org/drawingml/2006/main">
            <a:off x="8724900" y="182880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7868"/>
          </a:bodyPr>
          <a:lstStyle xmlns:a="http://schemas.openxmlformats.org/drawingml/2006/main"/>
          <a:p xmlns:a="http://schemas.openxmlformats.org/drawingml/2006/main">
            <a:pPr algn="l">
              <a:lnSpc>
                <a:spcPct val="105000"/>
              </a:lnSpc>
              <a:buNone/>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Expand only when the pilot proves:</a:t>
            </a:r>
          </a:p>
        </p:txBody>
      </p:sp>
      <p:sp>
        <p:nvSpPr>
          <p:cNvPr id="13" name="">
            <a:extLst xmlns:a="http://schemas.openxmlformats.org/drawingml/2006/main">
              <a:ext uri="{FF2B5EF4-FFF2-40B4-BE49-F238E27FC236}">
                <a16:creationId xmlns:a16="http://schemas.microsoft.com/office/drawing/2014/main" id="{6FF3C886-3965-4E29-B5D3-54EDDDF94A05}"/>
              </a:ext>
            </a:extLst>
          </p:cNvPr>
          <p:cNvSpPr>
            <a:spLocks xmlns:a="http://schemas.openxmlformats.org/drawingml/2006/main" noGrp="1"/>
          </p:cNvSpPr>
          <p:nvPr/>
        </p:nvSpPr>
        <p:spPr>
          <a:xfrm xmlns:a="http://schemas.openxmlformats.org/drawingml/2006/main">
            <a:off x="8724900" y="2800350"/>
            <a:ext cx="2381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a:solidFill>
                  <a:srgbClr val="C8D0DC"/>
                </a:solidFill>
                <a:latin typeface="Aptos"/>
                <a:ea typeface="Aptos"/>
                <a:cs typeface="Aptos"/>
              </a:defRPr>
            </a:pPr>
            <a:r>
              <a:rPr sz="1425" b="1">
                <a:solidFill>
                  <a:srgbClr val="C8D0DC"/>
                </a:solidFill>
                <a:latin typeface="Aptos"/>
                <a:ea typeface="Aptos"/>
                <a:cs typeface="Aptos"/>
              </a:rPr>
              <a:t>01  Reliable progression</a:t>
            </a:r>
          </a:p>
          <a:p xmlns:a="http://schemas.openxmlformats.org/drawingml/2006/main">
            <a:r>
              <a:t/>
            </a:r>
          </a:p>
          <a:p xmlns:a="http://schemas.openxmlformats.org/drawingml/2006/main">
            <a:pPr algn="l">
              <a:lnSpc>
                <a:spcPct val="105000"/>
              </a:lnSpc>
              <a:buNone/>
              <a:defRPr sz="1425" b="1">
                <a:solidFill>
                  <a:srgbClr val="C8D0DC"/>
                </a:solidFill>
                <a:latin typeface="Aptos"/>
                <a:ea typeface="Aptos"/>
                <a:cs typeface="Aptos"/>
              </a:defRPr>
            </a:pPr>
            <a:r>
              <a:rPr sz="1425" b="1">
                <a:solidFill>
                  <a:srgbClr val="C8D0DC"/>
                </a:solidFill>
                <a:latin typeface="Aptos"/>
                <a:ea typeface="Aptos"/>
                <a:cs typeface="Aptos"/>
              </a:rPr>
              <a:t>02  Repeat behavior</a:t>
            </a:r>
          </a:p>
          <a:p xmlns:a="http://schemas.openxmlformats.org/drawingml/2006/main">
            <a:r>
              <a:t/>
            </a:r>
          </a:p>
          <a:p xmlns:a="http://schemas.openxmlformats.org/drawingml/2006/main">
            <a:pPr algn="l">
              <a:lnSpc>
                <a:spcPct val="105000"/>
              </a:lnSpc>
              <a:buNone/>
              <a:defRPr sz="1425" b="1">
                <a:solidFill>
                  <a:srgbClr val="C8D0DC"/>
                </a:solidFill>
                <a:latin typeface="Aptos"/>
                <a:ea typeface="Aptos"/>
                <a:cs typeface="Aptos"/>
              </a:defRPr>
            </a:pPr>
            <a:r>
              <a:rPr sz="1425" b="1">
                <a:solidFill>
                  <a:srgbClr val="C8D0DC"/>
                </a:solidFill>
                <a:latin typeface="Aptos"/>
                <a:ea typeface="Aptos"/>
                <a:cs typeface="Aptos"/>
              </a:rPr>
              <a:t>03  Partner-reported value</a:t>
            </a:r>
          </a:p>
          <a:p xmlns:a="http://schemas.openxmlformats.org/drawingml/2006/main">
            <a:r>
              <a:t/>
            </a:r>
          </a:p>
          <a:p xmlns:a="http://schemas.openxmlformats.org/drawingml/2006/main">
            <a:pPr algn="l">
              <a:lnSpc>
                <a:spcPct val="105000"/>
              </a:lnSpc>
              <a:buNone/>
              <a:defRPr sz="1425" b="1">
                <a:solidFill>
                  <a:srgbClr val="C8D0DC"/>
                </a:solidFill>
                <a:latin typeface="Aptos"/>
                <a:ea typeface="Aptos"/>
                <a:cs typeface="Aptos"/>
              </a:defRPr>
            </a:pPr>
            <a:r>
              <a:rPr sz="1425" b="1">
                <a:solidFill>
                  <a:srgbClr val="C8D0DC"/>
                </a:solidFill>
                <a:latin typeface="Aptos"/>
                <a:ea typeface="Aptos"/>
                <a:cs typeface="Aptos"/>
              </a:rPr>
              <a:t>04  Willingness to renew or pay</a:t>
            </a:r>
          </a:p>
        </p:txBody>
      </p:sp>
      <p:sp>
        <p:nvSpPr>
          <p:cNvPr id="14" name="">
            <a:extLst xmlns:a="http://schemas.openxmlformats.org/drawingml/2006/main">
              <a:ext uri="{FF2B5EF4-FFF2-40B4-BE49-F238E27FC236}">
                <a16:creationId xmlns:a16="http://schemas.microsoft.com/office/drawing/2014/main" id="{6420DAC9-B874-4E4C-BB5F-D247B6EA3317}"/>
              </a:ext>
            </a:extLst>
          </p:cNvPr>
          <p:cNvSpPr>
            <a:spLocks xmlns:a="http://schemas.openxmlformats.org/drawingml/2006/main" noGrp="1"/>
          </p:cNvSpPr>
          <p:nvPr/>
        </p:nvSpPr>
        <p:spPr>
          <a:xfrm xmlns:a="http://schemas.openxmlformats.org/drawingml/2006/main">
            <a:off x="8724900" y="499110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0">
                <a:solidFill>
                  <a:srgbClr val="8E99AA"/>
                </a:solidFill>
                <a:latin typeface="Aptos"/>
                <a:ea typeface="Aptos"/>
                <a:cs typeface="Aptos"/>
              </a:defRPr>
            </a:pPr>
            <a:r>
              <a:rPr sz="1050" b="0">
                <a:solidFill>
                  <a:srgbClr val="8E99AA"/>
                </a:solidFill>
                <a:latin typeface="Aptos"/>
                <a:ea typeface="Aptos"/>
                <a:cs typeface="Aptos"/>
              </a:rPr>
              <a:t>Then the 62-row pipeline and city expansion plan become leverage—not surface area.</a:t>
            </a:r>
          </a:p>
        </p:txBody>
      </p:sp>
      <p:sp>
        <p:nvSpPr>
          <p:cNvPr id="15" name="">
            <a:extLst xmlns:a="http://schemas.openxmlformats.org/drawingml/2006/main">
              <a:ext uri="{FF2B5EF4-FFF2-40B4-BE49-F238E27FC236}">
                <a16:creationId xmlns:a16="http://schemas.microsoft.com/office/drawing/2014/main" id="{4E423259-41B7-4EF5-B661-EF2E56EF1EFD}"/>
              </a:ext>
            </a:extLst>
          </p:cNvPr>
          <p:cNvSpPr>
            <a:spLocks xmlns:a="http://schemas.openxmlformats.org/drawingml/2006/main" noGrp="1"/>
          </p:cNvSpPr>
          <p:nvPr/>
        </p:nvSpPr>
        <p:spPr>
          <a:xfrm xmlns:a="http://schemas.openxmlformats.org/drawingml/2006/main">
            <a:off x="590550" y="6400800"/>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0">
                <a:solidFill>
                  <a:srgbClr val="795A15"/>
                </a:solidFill>
                <a:latin typeface="Aptos"/>
                <a:ea typeface="Aptos"/>
                <a:cs typeface="Aptos"/>
              </a:defRPr>
            </a:pPr>
            <a:r>
              <a:rPr sz="750" b="0">
                <a:solidFill>
                  <a:srgbClr val="795A15"/>
                </a:solidFill>
                <a:latin typeface="Aptos"/>
                <a:ea typeface="Aptos"/>
                <a:cs typeface="Aptos"/>
              </a:rPr>
              <a:t>Development &amp; launch readiness · 12 Aug 2026</a:t>
            </a:r>
          </a:p>
        </p:txBody>
      </p:sp>
    </p:spTree>
    <p:extLst>
      <p:ext uri="{BB962C8B-B14F-4D97-AF65-F5344CB8AC3E}">
        <p14:creationId xmlns:p14="http://schemas.microsoft.com/office/powerpoint/2010/main" val="2058656787"/>
      </p:ext>
    </p:extLst>
  </p:cSld>
</p:sld>
</file>

<file path=ppt/theme/theme1.xml><?xml version="1.0" encoding="utf-8"?>
<a:theme xmlns:a="http://schemas.openxmlformats.org/drawingml/2006/main" name="ChatGPT">
  <a:themeElements>
    <a:clrScheme name="Sidequests Readiness">
      <a:dk1>
        <a:srgbClr val="0D1321"/>
      </a:dk1>
      <a:lt1>
        <a:srgbClr val="FFFFFF"/>
      </a:lt1>
      <a:dk2>
        <a:srgbClr val="101827"/>
      </a:dk2>
      <a:lt2>
        <a:srgbClr val="F2E8D5"/>
      </a:lt2>
      <a:accent1>
        <a:srgbClr val="2563EB"/>
      </a:accent1>
      <a:accent2>
        <a:srgbClr val="2E7D5A"/>
      </a:accent2>
      <a:accent3>
        <a:srgbClr val="F2B94B"/>
      </a:accent3>
      <a:accent4>
        <a:srgbClr val="FF6F61"/>
      </a:accent4>
      <a:accent5>
        <a:srgbClr val="7059D9"/>
      </a:accent5>
      <a:accent6>
        <a:srgbClr val="2B9B8E"/>
      </a:accent6>
      <a:hlink>
        <a:srgbClr val="2563EB"/>
      </a:hlink>
      <a:folHlink>
        <a:srgbClr val="7059D9"/>
      </a:folHlink>
    </a:clrScheme>
    <a:fontScheme name="Office">
      <a:majorFont>
        <a:latin typeface="Calibri Light"/>
        <a:ea typeface="Calibri Light"/>
        <a:cs typeface="Calibri Light"/>
      </a:majorFont>
      <a:minorFont>
        <a:latin typeface="Calibri"/>
        <a:ea typeface="Calibri"/>
        <a:cs typeface="Calibri"/>
      </a:minorFont>
    </a:fontScheme>
    <a:fmtScheme name="Sidequests Readines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2026-08-12T05:06:38.1740000Z</dcterms:created>
  <dcterms:modified xsi:type="dcterms:W3CDTF">2026-08-12T05:06:38.1740000Z</dcterms:modified>
</coreProperties>
</file>